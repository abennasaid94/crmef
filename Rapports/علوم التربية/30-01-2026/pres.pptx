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6" r:id="rId3"/>
    <p:sldId id="267" r:id="rId4"/>
    <p:sldId id="268" r:id="rId5"/>
    <p:sldId id="269" r:id="rId6"/>
    <p:sldId id="270" r:id="rId7"/>
    <p:sldId id="313" r:id="rId8"/>
    <p:sldId id="314" r:id="rId9"/>
    <p:sldId id="294" r:id="rId10"/>
    <p:sldId id="295" r:id="rId11"/>
    <p:sldId id="296" r:id="rId12"/>
    <p:sldId id="297" r:id="rId13"/>
    <p:sldId id="298" r:id="rId14"/>
    <p:sldId id="299" r:id="rId15"/>
    <p:sldId id="300" r:id="rId16"/>
    <p:sldId id="301" r:id="rId17"/>
    <p:sldId id="312" r:id="rId18"/>
  </p:sldIdLst>
  <p:sldSz cx="18288000" cy="10287000"/>
  <p:notesSz cx="6858000" cy="9144000"/>
  <p:embeddedFontLst>
    <p:embeddedFont>
      <p:font typeface="29LT Riwaya" panose="020B0604020202020204" charset="-78"/>
      <p:regular r:id="rId19"/>
    </p:embeddedFont>
    <p:embeddedFont>
      <p:font typeface="29LT Riwaya Bold" panose="020B0604020202020204" charset="-78"/>
      <p:regular r:id="rId20"/>
    </p:embeddedFont>
    <p:embeddedFont>
      <p:font typeface="Neirizi"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5" d="100"/>
          <a:sy n="35" d="100"/>
        </p:scale>
        <p:origin x="102" y="7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666" b="-38666"/>
            </a:stretch>
          </a:blipFill>
        </p:spPr>
      </p:sp>
      <p:sp>
        <p:nvSpPr>
          <p:cNvPr id="3" name="Freeform 3"/>
          <p:cNvSpPr/>
          <p:nvPr/>
        </p:nvSpPr>
        <p:spPr>
          <a:xfrm>
            <a:off x="14466350" y="6431770"/>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4" name="TextBox 4"/>
          <p:cNvSpPr txBox="1"/>
          <p:nvPr/>
        </p:nvSpPr>
        <p:spPr>
          <a:xfrm>
            <a:off x="4117654" y="3101886"/>
            <a:ext cx="10052692" cy="2491740"/>
          </a:xfrm>
          <a:prstGeom prst="rect">
            <a:avLst/>
          </a:prstGeom>
        </p:spPr>
        <p:txBody>
          <a:bodyPr lIns="0" tIns="0" rIns="0" bIns="0" rtlCol="0" anchor="t">
            <a:spAutoFit/>
          </a:bodyPr>
          <a:lstStyle/>
          <a:p>
            <a:pPr algn="ctr" rtl="1">
              <a:lnSpc>
                <a:spcPts val="20160"/>
              </a:lnSpc>
            </a:pPr>
            <a:r>
              <a:rPr lang="ar-EG" sz="14400">
                <a:solidFill>
                  <a:srgbClr val="020101"/>
                </a:solidFill>
                <a:latin typeface="Neirizi"/>
                <a:ea typeface="Neirizi"/>
                <a:cs typeface="Neirizi"/>
                <a:sym typeface="Neirizi"/>
                <a:rtl/>
              </a:rPr>
              <a:t>علم نفس المراهق </a:t>
            </a:r>
          </a:p>
        </p:txBody>
      </p:sp>
      <p:sp>
        <p:nvSpPr>
          <p:cNvPr id="5" name="Freeform 5"/>
          <p:cNvSpPr/>
          <p:nvPr/>
        </p:nvSpPr>
        <p:spPr>
          <a:xfrm rot="-10800000">
            <a:off x="-2137486" y="-2884054"/>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6" name="Freeform 6"/>
          <p:cNvSpPr/>
          <p:nvPr/>
        </p:nvSpPr>
        <p:spPr>
          <a:xfrm rot="-10800000" flipH="1" flipV="1">
            <a:off x="11673246" y="-4828555"/>
            <a:ext cx="8312586" cy="6736658"/>
          </a:xfrm>
          <a:custGeom>
            <a:avLst/>
            <a:gdLst/>
            <a:ahLst/>
            <a:cxnLst/>
            <a:rect l="l" t="t" r="r" b="b"/>
            <a:pathLst>
              <a:path w="8312586" h="6736658">
                <a:moveTo>
                  <a:pt x="8312586" y="6736658"/>
                </a:moveTo>
                <a:lnTo>
                  <a:pt x="0" y="6736658"/>
                </a:lnTo>
                <a:lnTo>
                  <a:pt x="0" y="0"/>
                </a:lnTo>
                <a:lnTo>
                  <a:pt x="8312586" y="0"/>
                </a:lnTo>
                <a:lnTo>
                  <a:pt x="8312586" y="6736658"/>
                </a:lnTo>
                <a:close/>
              </a:path>
            </a:pathLst>
          </a:custGeom>
          <a:blipFill>
            <a:blip r:embed="rId4"/>
            <a:stretch>
              <a:fillRect/>
            </a:stretch>
          </a:blipFill>
        </p:spPr>
      </p:sp>
      <p:sp>
        <p:nvSpPr>
          <p:cNvPr id="7" name="Freeform 7"/>
          <p:cNvSpPr/>
          <p:nvPr/>
        </p:nvSpPr>
        <p:spPr>
          <a:xfrm>
            <a:off x="16236698" y="1028700"/>
            <a:ext cx="5146086" cy="7347571"/>
          </a:xfrm>
          <a:custGeom>
            <a:avLst/>
            <a:gdLst/>
            <a:ahLst/>
            <a:cxnLst/>
            <a:rect l="l" t="t" r="r" b="b"/>
            <a:pathLst>
              <a:path w="5146086" h="7347571">
                <a:moveTo>
                  <a:pt x="0" y="0"/>
                </a:moveTo>
                <a:lnTo>
                  <a:pt x="5146087" y="0"/>
                </a:lnTo>
                <a:lnTo>
                  <a:pt x="5146087" y="7347571"/>
                </a:lnTo>
                <a:lnTo>
                  <a:pt x="0" y="7347571"/>
                </a:lnTo>
                <a:lnTo>
                  <a:pt x="0" y="0"/>
                </a:lnTo>
                <a:close/>
              </a:path>
            </a:pathLst>
          </a:custGeom>
          <a:blipFill>
            <a:blip r:embed="rId5"/>
            <a:stretch>
              <a:fillRect/>
            </a:stretch>
          </a:blipFill>
        </p:spPr>
      </p:sp>
      <p:sp>
        <p:nvSpPr>
          <p:cNvPr id="8" name="Freeform 8"/>
          <p:cNvSpPr/>
          <p:nvPr/>
        </p:nvSpPr>
        <p:spPr>
          <a:xfrm rot="-10800000">
            <a:off x="-1641693" y="8376271"/>
            <a:ext cx="8312586" cy="6736658"/>
          </a:xfrm>
          <a:custGeom>
            <a:avLst/>
            <a:gdLst/>
            <a:ahLst/>
            <a:cxnLst/>
            <a:rect l="l" t="t" r="r" b="b"/>
            <a:pathLst>
              <a:path w="8312586" h="6736658">
                <a:moveTo>
                  <a:pt x="0" y="0"/>
                </a:moveTo>
                <a:lnTo>
                  <a:pt x="8312586" y="0"/>
                </a:lnTo>
                <a:lnTo>
                  <a:pt x="8312586" y="6736658"/>
                </a:lnTo>
                <a:lnTo>
                  <a:pt x="0" y="6736658"/>
                </a:lnTo>
                <a:lnTo>
                  <a:pt x="0" y="0"/>
                </a:lnTo>
                <a:close/>
              </a:path>
            </a:pathLst>
          </a:custGeom>
          <a:blipFill>
            <a:blip r:embed="rId4"/>
            <a:stretch>
              <a:fillRect/>
            </a:stretch>
          </a:blipFill>
        </p:spPr>
      </p:sp>
      <p:sp>
        <p:nvSpPr>
          <p:cNvPr id="9" name="Freeform 9"/>
          <p:cNvSpPr/>
          <p:nvPr/>
        </p:nvSpPr>
        <p:spPr>
          <a:xfrm rot="-10800000">
            <a:off x="-3094785" y="1908103"/>
            <a:ext cx="5146086" cy="7347571"/>
          </a:xfrm>
          <a:custGeom>
            <a:avLst/>
            <a:gdLst/>
            <a:ahLst/>
            <a:cxnLst/>
            <a:rect l="l" t="t" r="r" b="b"/>
            <a:pathLst>
              <a:path w="5146086" h="7347571">
                <a:moveTo>
                  <a:pt x="0" y="0"/>
                </a:moveTo>
                <a:lnTo>
                  <a:pt x="5146087" y="0"/>
                </a:lnTo>
                <a:lnTo>
                  <a:pt x="5146087" y="7347571"/>
                </a:lnTo>
                <a:lnTo>
                  <a:pt x="0" y="7347571"/>
                </a:lnTo>
                <a:lnTo>
                  <a:pt x="0" y="0"/>
                </a:lnTo>
                <a:close/>
              </a:path>
            </a:pathLst>
          </a:custGeom>
          <a:blipFill>
            <a:blip r:embed="rId5"/>
            <a:stretch>
              <a:fillRect/>
            </a:stretch>
          </a:blipFill>
        </p:spPr>
      </p:sp>
      <p:sp>
        <p:nvSpPr>
          <p:cNvPr id="10" name="Freeform 10"/>
          <p:cNvSpPr/>
          <p:nvPr/>
        </p:nvSpPr>
        <p:spPr>
          <a:xfrm>
            <a:off x="5419276" y="0"/>
            <a:ext cx="7449447" cy="2844766"/>
          </a:xfrm>
          <a:custGeom>
            <a:avLst/>
            <a:gdLst/>
            <a:ahLst/>
            <a:cxnLst/>
            <a:rect l="l" t="t" r="r" b="b"/>
            <a:pathLst>
              <a:path w="7449447" h="2844766">
                <a:moveTo>
                  <a:pt x="0" y="0"/>
                </a:moveTo>
                <a:lnTo>
                  <a:pt x="7449448" y="0"/>
                </a:lnTo>
                <a:lnTo>
                  <a:pt x="7449448" y="2844766"/>
                </a:lnTo>
                <a:lnTo>
                  <a:pt x="0" y="2844766"/>
                </a:lnTo>
                <a:lnTo>
                  <a:pt x="0" y="0"/>
                </a:lnTo>
                <a:close/>
              </a:path>
            </a:pathLst>
          </a:custGeom>
          <a:blipFill>
            <a:blip r:embed="rId6"/>
            <a:stretch>
              <a:fillRect t="-6934" b="-6740"/>
            </a:stretch>
          </a:blipFill>
        </p:spPr>
      </p:sp>
      <p:sp>
        <p:nvSpPr>
          <p:cNvPr id="11" name="TextBox 11"/>
          <p:cNvSpPr txBox="1"/>
          <p:nvPr/>
        </p:nvSpPr>
        <p:spPr>
          <a:xfrm>
            <a:off x="4142904" y="6060351"/>
            <a:ext cx="3020497" cy="863601"/>
          </a:xfrm>
          <a:prstGeom prst="rect">
            <a:avLst/>
          </a:prstGeom>
        </p:spPr>
        <p:txBody>
          <a:bodyPr lIns="0" tIns="0" rIns="0" bIns="0" rtlCol="0" anchor="t">
            <a:spAutoFit/>
          </a:bodyPr>
          <a:lstStyle/>
          <a:p>
            <a:pPr marL="0" lvl="0" indent="0" algn="ctr" rtl="1">
              <a:lnSpc>
                <a:spcPts val="6999"/>
              </a:lnSpc>
              <a:spcBef>
                <a:spcPct val="0"/>
              </a:spcBef>
            </a:pPr>
            <a:r>
              <a:rPr lang="ar-EG" sz="4999" u="none" strike="noStrike">
                <a:solidFill>
                  <a:srgbClr val="020101"/>
                </a:solidFill>
                <a:latin typeface="Neirizi"/>
                <a:ea typeface="Neirizi"/>
                <a:cs typeface="Neirizi"/>
                <a:sym typeface="Neirizi"/>
                <a:rtl/>
              </a:rPr>
              <a:t>من إعداد : </a:t>
            </a:r>
          </a:p>
        </p:txBody>
      </p:sp>
      <p:sp>
        <p:nvSpPr>
          <p:cNvPr id="12" name="TextBox 12"/>
          <p:cNvSpPr txBox="1"/>
          <p:nvPr/>
        </p:nvSpPr>
        <p:spPr>
          <a:xfrm>
            <a:off x="3705466" y="6930650"/>
            <a:ext cx="3427622" cy="1899285"/>
          </a:xfrm>
          <a:prstGeom prst="rect">
            <a:avLst/>
          </a:prstGeom>
        </p:spPr>
        <p:txBody>
          <a:bodyPr lIns="0" tIns="0" rIns="0" bIns="0" rtlCol="0" anchor="t">
            <a:spAutoFit/>
          </a:bodyPr>
          <a:lstStyle/>
          <a:p>
            <a:pPr marL="0" lvl="0" indent="0" algn="just" rtl="1">
              <a:lnSpc>
                <a:spcPts val="5040"/>
              </a:lnSpc>
              <a:spcBef>
                <a:spcPct val="0"/>
              </a:spcBef>
            </a:pPr>
            <a:r>
              <a:rPr lang="ar-EG" sz="3600">
                <a:solidFill>
                  <a:srgbClr val="020101"/>
                </a:solidFill>
                <a:latin typeface="Neirizi"/>
                <a:ea typeface="Neirizi"/>
                <a:cs typeface="Neirizi"/>
                <a:sym typeface="Neirizi"/>
                <a:rtl/>
              </a:rPr>
              <a:t>زك</a:t>
            </a:r>
            <a:r>
              <a:rPr lang="ar-EG" sz="3600" u="none" strike="noStrike">
                <a:solidFill>
                  <a:srgbClr val="020101"/>
                </a:solidFill>
                <a:latin typeface="Neirizi"/>
                <a:ea typeface="Neirizi"/>
                <a:cs typeface="Neirizi"/>
                <a:sym typeface="Neirizi"/>
                <a:rtl/>
              </a:rPr>
              <a:t>رياء حنيني </a:t>
            </a:r>
          </a:p>
          <a:p>
            <a:pPr marL="0" lvl="0" indent="0" algn="just" rtl="1">
              <a:lnSpc>
                <a:spcPts val="5040"/>
              </a:lnSpc>
              <a:spcBef>
                <a:spcPct val="0"/>
              </a:spcBef>
            </a:pPr>
            <a:r>
              <a:rPr lang="ar-EG" sz="3600" u="none" strike="noStrike">
                <a:solidFill>
                  <a:srgbClr val="020101"/>
                </a:solidFill>
                <a:latin typeface="Neirizi"/>
                <a:ea typeface="Neirizi"/>
                <a:cs typeface="Neirizi"/>
                <a:sym typeface="Neirizi"/>
                <a:rtl/>
              </a:rPr>
              <a:t>سعيد  أبنا </a:t>
            </a:r>
          </a:p>
          <a:p>
            <a:pPr marL="0" lvl="0" indent="0" algn="just" rtl="1">
              <a:lnSpc>
                <a:spcPts val="5040"/>
              </a:lnSpc>
              <a:spcBef>
                <a:spcPct val="0"/>
              </a:spcBef>
            </a:pPr>
            <a:r>
              <a:rPr lang="ar-EG" sz="3600" u="none" strike="noStrike">
                <a:solidFill>
                  <a:srgbClr val="020101"/>
                </a:solidFill>
                <a:latin typeface="Neirizi"/>
                <a:ea typeface="Neirizi"/>
                <a:cs typeface="Neirizi"/>
                <a:sym typeface="Neirizi"/>
                <a:rtl/>
              </a:rPr>
              <a:t>محمد أمين حربوني</a:t>
            </a:r>
          </a:p>
        </p:txBody>
      </p:sp>
      <p:sp>
        <p:nvSpPr>
          <p:cNvPr id="13" name="TextBox 13"/>
          <p:cNvSpPr txBox="1"/>
          <p:nvPr/>
        </p:nvSpPr>
        <p:spPr>
          <a:xfrm>
            <a:off x="7430189" y="9262110"/>
            <a:ext cx="3427622" cy="712470"/>
          </a:xfrm>
          <a:prstGeom prst="rect">
            <a:avLst/>
          </a:prstGeom>
        </p:spPr>
        <p:txBody>
          <a:bodyPr lIns="0" tIns="0" rIns="0" bIns="0" rtlCol="0" anchor="t">
            <a:spAutoFit/>
          </a:bodyPr>
          <a:lstStyle/>
          <a:p>
            <a:pPr marL="0" lvl="0" indent="0" algn="ctr">
              <a:lnSpc>
                <a:spcPts val="5880"/>
              </a:lnSpc>
              <a:spcBef>
                <a:spcPct val="0"/>
              </a:spcBef>
            </a:pPr>
            <a:r>
              <a:rPr lang="en-US" sz="4200">
                <a:solidFill>
                  <a:srgbClr val="020101"/>
                </a:solidFill>
                <a:latin typeface="Neirizi"/>
                <a:ea typeface="Neirizi"/>
                <a:cs typeface="Neirizi"/>
                <a:sym typeface="Neirizi"/>
              </a:rPr>
              <a:t>2025-2026</a:t>
            </a:r>
          </a:p>
        </p:txBody>
      </p:sp>
      <p:sp>
        <p:nvSpPr>
          <p:cNvPr id="14" name="TextBox 14"/>
          <p:cNvSpPr txBox="1"/>
          <p:nvPr/>
        </p:nvSpPr>
        <p:spPr>
          <a:xfrm>
            <a:off x="12516218" y="6143249"/>
            <a:ext cx="3427622" cy="863601"/>
          </a:xfrm>
          <a:prstGeom prst="rect">
            <a:avLst/>
          </a:prstGeom>
        </p:spPr>
        <p:txBody>
          <a:bodyPr lIns="0" tIns="0" rIns="0" bIns="0" rtlCol="0" anchor="t">
            <a:spAutoFit/>
          </a:bodyPr>
          <a:lstStyle/>
          <a:p>
            <a:pPr marL="0" lvl="0" indent="0" algn="ctr" rtl="1">
              <a:lnSpc>
                <a:spcPts val="6999"/>
              </a:lnSpc>
              <a:spcBef>
                <a:spcPct val="0"/>
              </a:spcBef>
            </a:pPr>
            <a:r>
              <a:rPr lang="ar-EG" sz="4999">
                <a:solidFill>
                  <a:srgbClr val="020101"/>
                </a:solidFill>
                <a:latin typeface="Neirizi"/>
                <a:ea typeface="Neirizi"/>
                <a:cs typeface="Neirizi"/>
                <a:sym typeface="Neirizi"/>
                <a:rtl/>
              </a:rPr>
              <a:t>تحت</a:t>
            </a:r>
            <a:r>
              <a:rPr lang="ar-EG" sz="4999" u="none" strike="noStrike">
                <a:solidFill>
                  <a:srgbClr val="020101"/>
                </a:solidFill>
                <a:latin typeface="Neirizi"/>
                <a:ea typeface="Neirizi"/>
                <a:cs typeface="Neirizi"/>
                <a:sym typeface="Neirizi"/>
                <a:rtl/>
              </a:rPr>
              <a:t> إشراف : </a:t>
            </a:r>
          </a:p>
        </p:txBody>
      </p:sp>
      <p:sp>
        <p:nvSpPr>
          <p:cNvPr id="15" name="TextBox 15"/>
          <p:cNvSpPr txBox="1"/>
          <p:nvPr/>
        </p:nvSpPr>
        <p:spPr>
          <a:xfrm>
            <a:off x="11787546" y="6930650"/>
            <a:ext cx="3427622" cy="712470"/>
          </a:xfrm>
          <a:prstGeom prst="rect">
            <a:avLst/>
          </a:prstGeom>
        </p:spPr>
        <p:txBody>
          <a:bodyPr lIns="0" tIns="0" rIns="0" bIns="0" rtlCol="0" anchor="t">
            <a:spAutoFit/>
          </a:bodyPr>
          <a:lstStyle/>
          <a:p>
            <a:pPr marL="0" lvl="0" indent="0" algn="ctr" rtl="1">
              <a:lnSpc>
                <a:spcPts val="5880"/>
              </a:lnSpc>
              <a:spcBef>
                <a:spcPct val="0"/>
              </a:spcBef>
            </a:pPr>
            <a:r>
              <a:rPr lang="ar-EG" sz="4200" u="none" strike="noStrike">
                <a:solidFill>
                  <a:srgbClr val="020101"/>
                </a:solidFill>
                <a:latin typeface="Neirizi"/>
                <a:ea typeface="Neirizi"/>
                <a:cs typeface="Neirizi"/>
                <a:sym typeface="Neirizi"/>
                <a:rtl/>
              </a:rPr>
              <a:t>د. بيشو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666" b="-38666"/>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666" b="-38666"/>
            </a:stretch>
          </a:blipFill>
        </p:spPr>
      </p:sp>
      <p:sp>
        <p:nvSpPr>
          <p:cNvPr id="3" name="Freeform 3"/>
          <p:cNvSpPr/>
          <p:nvPr/>
        </p:nvSpPr>
        <p:spPr>
          <a:xfrm>
            <a:off x="16202826" y="6532190"/>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4" name="Freeform 4"/>
          <p:cNvSpPr/>
          <p:nvPr/>
        </p:nvSpPr>
        <p:spPr>
          <a:xfrm rot="-10800000">
            <a:off x="-3533749" y="1908103"/>
            <a:ext cx="5146086" cy="7347571"/>
          </a:xfrm>
          <a:custGeom>
            <a:avLst/>
            <a:gdLst/>
            <a:ahLst/>
            <a:cxnLst/>
            <a:rect l="l" t="t" r="r" b="b"/>
            <a:pathLst>
              <a:path w="5146086" h="7347571">
                <a:moveTo>
                  <a:pt x="0" y="0"/>
                </a:moveTo>
                <a:lnTo>
                  <a:pt x="5146086" y="0"/>
                </a:lnTo>
                <a:lnTo>
                  <a:pt x="5146086" y="7347571"/>
                </a:lnTo>
                <a:lnTo>
                  <a:pt x="0" y="7347571"/>
                </a:lnTo>
                <a:lnTo>
                  <a:pt x="0" y="0"/>
                </a:lnTo>
                <a:close/>
              </a:path>
            </a:pathLst>
          </a:custGeom>
          <a:blipFill>
            <a:blip r:embed="rId4"/>
            <a:stretch>
              <a:fillRect/>
            </a:stretch>
          </a:blipFill>
        </p:spPr>
      </p:sp>
      <p:sp>
        <p:nvSpPr>
          <p:cNvPr id="5" name="Freeform 5"/>
          <p:cNvSpPr/>
          <p:nvPr/>
        </p:nvSpPr>
        <p:spPr>
          <a:xfrm rot="-10800000">
            <a:off x="-2137486" y="-2884054"/>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6" name="Freeform 6"/>
          <p:cNvSpPr/>
          <p:nvPr/>
        </p:nvSpPr>
        <p:spPr>
          <a:xfrm rot="-10800000" flipH="1" flipV="1">
            <a:off x="11673246" y="-4828555"/>
            <a:ext cx="8312586" cy="6736658"/>
          </a:xfrm>
          <a:custGeom>
            <a:avLst/>
            <a:gdLst/>
            <a:ahLst/>
            <a:cxnLst/>
            <a:rect l="l" t="t" r="r" b="b"/>
            <a:pathLst>
              <a:path w="8312586" h="6736658">
                <a:moveTo>
                  <a:pt x="8312586" y="6736658"/>
                </a:moveTo>
                <a:lnTo>
                  <a:pt x="0" y="6736658"/>
                </a:lnTo>
                <a:lnTo>
                  <a:pt x="0" y="0"/>
                </a:lnTo>
                <a:lnTo>
                  <a:pt x="8312586" y="0"/>
                </a:lnTo>
                <a:lnTo>
                  <a:pt x="8312586" y="6736658"/>
                </a:lnTo>
                <a:close/>
              </a:path>
            </a:pathLst>
          </a:custGeom>
          <a:blipFill>
            <a:blip r:embed="rId5"/>
            <a:stretch>
              <a:fillRect/>
            </a:stretch>
          </a:blipFill>
        </p:spPr>
      </p:sp>
      <p:sp>
        <p:nvSpPr>
          <p:cNvPr id="7" name="Freeform 7"/>
          <p:cNvSpPr/>
          <p:nvPr/>
        </p:nvSpPr>
        <p:spPr>
          <a:xfrm rot="-10800000">
            <a:off x="-3314211" y="8491456"/>
            <a:ext cx="8312586" cy="6736658"/>
          </a:xfrm>
          <a:custGeom>
            <a:avLst/>
            <a:gdLst/>
            <a:ahLst/>
            <a:cxnLst/>
            <a:rect l="l" t="t" r="r" b="b"/>
            <a:pathLst>
              <a:path w="8312586" h="6736658">
                <a:moveTo>
                  <a:pt x="0" y="0"/>
                </a:moveTo>
                <a:lnTo>
                  <a:pt x="8312586" y="0"/>
                </a:lnTo>
                <a:lnTo>
                  <a:pt x="8312586" y="6736659"/>
                </a:lnTo>
                <a:lnTo>
                  <a:pt x="0" y="6736659"/>
                </a:lnTo>
                <a:lnTo>
                  <a:pt x="0" y="0"/>
                </a:lnTo>
                <a:close/>
              </a:path>
            </a:pathLst>
          </a:custGeom>
          <a:blipFill>
            <a:blip r:embed="rId5"/>
            <a:stretch>
              <a:fillRect/>
            </a:stretch>
          </a:blipFill>
        </p:spPr>
      </p:sp>
      <p:sp>
        <p:nvSpPr>
          <p:cNvPr id="8" name="TextBox 8"/>
          <p:cNvSpPr txBox="1"/>
          <p:nvPr/>
        </p:nvSpPr>
        <p:spPr>
          <a:xfrm>
            <a:off x="4766177" y="284250"/>
            <a:ext cx="8755645" cy="1502285"/>
          </a:xfrm>
          <a:prstGeom prst="rect">
            <a:avLst/>
          </a:prstGeom>
        </p:spPr>
        <p:txBody>
          <a:bodyPr lIns="0" tIns="0" rIns="0" bIns="0" rtlCol="0" anchor="t">
            <a:spAutoFit/>
          </a:bodyPr>
          <a:lstStyle/>
          <a:p>
            <a:pPr algn="ctr" rtl="1">
              <a:lnSpc>
                <a:spcPts val="12221"/>
              </a:lnSpc>
            </a:pPr>
            <a:r>
              <a:rPr lang="ar-EG" sz="8729">
                <a:solidFill>
                  <a:srgbClr val="020101"/>
                </a:solidFill>
                <a:latin typeface="Neirizi"/>
                <a:ea typeface="Neirizi"/>
                <a:cs typeface="Neirizi"/>
                <a:sym typeface="Neirizi"/>
                <a:rtl/>
              </a:rPr>
              <a:t>مفاهيم ومصطلحات</a:t>
            </a:r>
          </a:p>
        </p:txBody>
      </p:sp>
      <p:sp>
        <p:nvSpPr>
          <p:cNvPr id="9" name="TextBox 9"/>
          <p:cNvSpPr txBox="1"/>
          <p:nvPr/>
        </p:nvSpPr>
        <p:spPr>
          <a:xfrm>
            <a:off x="1422917" y="3538597"/>
            <a:ext cx="14779910" cy="537845"/>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ar-EG" sz="3200" u="none" strike="noStrike" dirty="0">
                <a:solidFill>
                  <a:srgbClr val="020101"/>
                </a:solidFill>
                <a:latin typeface="29LT Riwaya"/>
                <a:ea typeface="29LT Riwaya"/>
                <a:cs typeface="29LT Riwaya"/>
                <a:sym typeface="29LT Riwaya"/>
                <a:rtl/>
              </a:rPr>
              <a:t>مشتقة من الفعل </a:t>
            </a:r>
            <a:r>
              <a:rPr lang="ar-EG" sz="3200" b="1" u="none" strike="noStrike" dirty="0">
                <a:solidFill>
                  <a:srgbClr val="020101"/>
                </a:solidFill>
                <a:latin typeface="29LT Riwaya Bold"/>
                <a:ea typeface="29LT Riwaya Bold"/>
                <a:cs typeface="29LT Riwaya Bold"/>
                <a:sym typeface="29LT Riwaya Bold"/>
                <a:rtl/>
              </a:rPr>
              <a:t>راهقَ</a:t>
            </a:r>
            <a:r>
              <a:rPr lang="ar-EG" sz="3200" u="none" strike="noStrike" dirty="0">
                <a:solidFill>
                  <a:srgbClr val="020101"/>
                </a:solidFill>
                <a:latin typeface="29LT Riwaya"/>
                <a:ea typeface="29LT Riwaya"/>
                <a:cs typeface="29LT Riwaya"/>
                <a:sym typeface="29LT Riwaya"/>
                <a:rtl/>
              </a:rPr>
              <a:t>، ويقال: </a:t>
            </a:r>
            <a:r>
              <a:rPr lang="ar-EG" sz="3200" b="1" u="none" strike="noStrike" dirty="0">
                <a:solidFill>
                  <a:srgbClr val="020101"/>
                </a:solidFill>
                <a:latin typeface="29LT Riwaya Bold"/>
                <a:ea typeface="29LT Riwaya Bold"/>
                <a:cs typeface="29LT Riwaya Bold"/>
                <a:sym typeface="29LT Riwaya Bold"/>
                <a:rtl/>
              </a:rPr>
              <a:t>راهقَ الغلامُ أي قاربَ البلوغ ولم يبلغه بعد</a:t>
            </a:r>
            <a:r>
              <a:rPr lang="ar-EG" sz="3200" u="none" strike="noStrike" dirty="0">
                <a:solidFill>
                  <a:srgbClr val="020101"/>
                </a:solidFill>
                <a:latin typeface="29LT Riwaya"/>
                <a:ea typeface="29LT Riwaya"/>
                <a:cs typeface="29LT Riwaya"/>
                <a:sym typeface="29LT Riwaya"/>
                <a:rtl/>
              </a:rPr>
              <a:t>.</a:t>
            </a:r>
          </a:p>
        </p:txBody>
      </p:sp>
      <p:sp>
        <p:nvSpPr>
          <p:cNvPr id="10" name="TextBox 10"/>
          <p:cNvSpPr txBox="1"/>
          <p:nvPr/>
        </p:nvSpPr>
        <p:spPr>
          <a:xfrm>
            <a:off x="4772320" y="2280441"/>
            <a:ext cx="10729532" cy="962660"/>
          </a:xfrm>
          <a:prstGeom prst="rect">
            <a:avLst/>
          </a:prstGeom>
        </p:spPr>
        <p:txBody>
          <a:bodyPr lIns="0" tIns="0" rIns="0" bIns="0" rtlCol="0" anchor="t">
            <a:spAutoFit/>
          </a:bodyPr>
          <a:lstStyle/>
          <a:p>
            <a:pPr algn="r" rtl="1">
              <a:lnSpc>
                <a:spcPts val="7840"/>
              </a:lnSpc>
            </a:pPr>
            <a:r>
              <a:rPr lang="ar-EG" sz="5600" dirty="0">
                <a:solidFill>
                  <a:srgbClr val="020101"/>
                </a:solidFill>
                <a:latin typeface="Neirizi"/>
                <a:ea typeface="Neirizi"/>
                <a:cs typeface="Neirizi"/>
                <a:sym typeface="Neirizi"/>
                <a:rtl/>
              </a:rPr>
              <a:t>المراهقة  في المعجم اللغوي العربي : </a:t>
            </a:r>
          </a:p>
        </p:txBody>
      </p:sp>
      <p:sp>
        <p:nvSpPr>
          <p:cNvPr id="11" name="TextBox 11"/>
          <p:cNvSpPr txBox="1"/>
          <p:nvPr/>
        </p:nvSpPr>
        <p:spPr>
          <a:xfrm>
            <a:off x="485186" y="4410950"/>
            <a:ext cx="15717641" cy="577081"/>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ar-EG" sz="3200" u="none" strike="noStrike" dirty="0">
                <a:solidFill>
                  <a:srgbClr val="020101"/>
                </a:solidFill>
                <a:latin typeface="29LT Riwaya"/>
                <a:ea typeface="29LT Riwaya"/>
                <a:cs typeface="29LT Riwaya"/>
                <a:sym typeface="29LT Riwaya"/>
                <a:rtl/>
              </a:rPr>
              <a:t>المراهقة هي مرحلة نمائية انتقالية تقع بين الطفولة والرشد، تتميز بتغيرات: جسمية ، نفسية ، عقلية  واجتماعية.</a:t>
            </a:r>
          </a:p>
        </p:txBody>
      </p:sp>
      <p:sp>
        <p:nvSpPr>
          <p:cNvPr id="12" name="TextBox 12"/>
          <p:cNvSpPr txBox="1"/>
          <p:nvPr/>
        </p:nvSpPr>
        <p:spPr>
          <a:xfrm>
            <a:off x="2304661" y="6992224"/>
            <a:ext cx="13898165" cy="537845"/>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ar-EG" sz="3200" u="none" strike="noStrike" dirty="0">
                <a:solidFill>
                  <a:srgbClr val="020101"/>
                </a:solidFill>
                <a:latin typeface="29LT Riwaya"/>
                <a:ea typeface="29LT Riwaya"/>
                <a:cs typeface="29LT Riwaya"/>
                <a:sym typeface="29LT Riwaya"/>
                <a:rtl/>
              </a:rPr>
              <a:t>مشتقة من الفعل اللاتيني : </a:t>
            </a:r>
            <a:r>
              <a:rPr lang="en-US" sz="3200" b="1" u="none" strike="noStrike" dirty="0">
                <a:solidFill>
                  <a:srgbClr val="020101"/>
                </a:solidFill>
                <a:latin typeface="29LT Riwaya Bold"/>
                <a:ea typeface="29LT Riwaya Bold"/>
                <a:cs typeface="29LT Riwaya Bold"/>
                <a:sym typeface="29LT Riwaya Bold"/>
              </a:rPr>
              <a:t>Adolescere</a:t>
            </a:r>
            <a:r>
              <a:rPr lang="ar-EG" sz="3200" b="1" u="none" strike="noStrike" dirty="0">
                <a:solidFill>
                  <a:srgbClr val="020101"/>
                </a:solidFill>
                <a:latin typeface="29LT Riwaya Bold"/>
                <a:ea typeface="29LT Riwaya Bold"/>
                <a:cs typeface="29LT Riwaya Bold"/>
                <a:sym typeface="29LT Riwaya Bold"/>
                <a:rtl/>
              </a:rPr>
              <a:t> </a:t>
            </a:r>
            <a:r>
              <a:rPr lang="ar-EG" sz="3200" u="none" strike="noStrike" dirty="0">
                <a:solidFill>
                  <a:srgbClr val="020101"/>
                </a:solidFill>
                <a:latin typeface="29LT Riwaya"/>
                <a:ea typeface="29LT Riwaya"/>
                <a:cs typeface="29LT Riwaya"/>
                <a:sym typeface="29LT Riwaya"/>
                <a:rtl/>
              </a:rPr>
              <a:t>ومعناه ينمو، يتطور.</a:t>
            </a:r>
          </a:p>
        </p:txBody>
      </p:sp>
      <p:sp>
        <p:nvSpPr>
          <p:cNvPr id="13" name="TextBox 13"/>
          <p:cNvSpPr txBox="1"/>
          <p:nvPr/>
        </p:nvSpPr>
        <p:spPr>
          <a:xfrm>
            <a:off x="6325870" y="5820014"/>
            <a:ext cx="9175982" cy="962660"/>
          </a:xfrm>
          <a:prstGeom prst="rect">
            <a:avLst/>
          </a:prstGeom>
        </p:spPr>
        <p:txBody>
          <a:bodyPr lIns="0" tIns="0" rIns="0" bIns="0" rtlCol="0" anchor="t">
            <a:spAutoFit/>
          </a:bodyPr>
          <a:lstStyle/>
          <a:p>
            <a:pPr algn="r" rtl="1">
              <a:lnSpc>
                <a:spcPts val="7840"/>
              </a:lnSpc>
            </a:pPr>
            <a:r>
              <a:rPr lang="ar-EG" sz="5600">
                <a:solidFill>
                  <a:srgbClr val="020101"/>
                </a:solidFill>
                <a:latin typeface="Neirizi"/>
                <a:ea typeface="Neirizi"/>
                <a:cs typeface="Neirizi"/>
                <a:sym typeface="Neirizi"/>
                <a:rtl/>
              </a:rPr>
              <a:t>المراهقة في المعجم اللغوي الغربي : </a:t>
            </a:r>
          </a:p>
        </p:txBody>
      </p:sp>
      <p:sp>
        <p:nvSpPr>
          <p:cNvPr id="14" name="TextBox 14"/>
          <p:cNvSpPr txBox="1"/>
          <p:nvPr/>
        </p:nvSpPr>
        <p:spPr>
          <a:xfrm>
            <a:off x="1328444" y="7877412"/>
            <a:ext cx="14874382" cy="1099820"/>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ar-EG" sz="3200" u="none" strike="noStrike" dirty="0">
                <a:solidFill>
                  <a:srgbClr val="020101"/>
                </a:solidFill>
                <a:latin typeface="29LT Riwaya"/>
                <a:ea typeface="29LT Riwaya"/>
                <a:cs typeface="29LT Riwaya"/>
                <a:sym typeface="29LT Riwaya"/>
                <a:rtl/>
              </a:rPr>
              <a:t> هي مرحلة انتقالية بين الطفولة والرشد، تتميز بتغيرات جسدية ونفسية واجتماعية، وتبدأ عادةً مع البلوغ وتنتهي باكتمال النضج النفسي والاجتماعي.</a:t>
            </a:r>
          </a:p>
        </p:txBody>
      </p:sp>
      <p:sp>
        <p:nvSpPr>
          <p:cNvPr id="15" name="Freeform 15"/>
          <p:cNvSpPr/>
          <p:nvPr/>
        </p:nvSpPr>
        <p:spPr>
          <a:xfrm>
            <a:off x="16671798" y="1028700"/>
            <a:ext cx="5146086" cy="7347571"/>
          </a:xfrm>
          <a:custGeom>
            <a:avLst/>
            <a:gdLst/>
            <a:ahLst/>
            <a:cxnLst/>
            <a:rect l="l" t="t" r="r" b="b"/>
            <a:pathLst>
              <a:path w="5146086" h="7347571">
                <a:moveTo>
                  <a:pt x="0" y="0"/>
                </a:moveTo>
                <a:lnTo>
                  <a:pt x="5146086" y="0"/>
                </a:lnTo>
                <a:lnTo>
                  <a:pt x="5146086" y="7347571"/>
                </a:lnTo>
                <a:lnTo>
                  <a:pt x="0" y="7347571"/>
                </a:lnTo>
                <a:lnTo>
                  <a:pt x="0" y="0"/>
                </a:lnTo>
                <a:close/>
              </a:path>
            </a:pathLst>
          </a:custGeom>
          <a:blipFill>
            <a:blip r:embed="rId4"/>
            <a:stretch>
              <a:fillRect/>
            </a:stretch>
          </a:blipFill>
        </p:spPr>
      </p:sp>
      <p:sp>
        <p:nvSpPr>
          <p:cNvPr id="16" name="TextBox 16"/>
          <p:cNvSpPr txBox="1"/>
          <p:nvPr/>
        </p:nvSpPr>
        <p:spPr>
          <a:xfrm>
            <a:off x="1328444" y="9362676"/>
            <a:ext cx="14874382" cy="577081"/>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ar-EG" sz="3200" u="none" strike="noStrike" dirty="0">
                <a:solidFill>
                  <a:srgbClr val="020101"/>
                </a:solidFill>
                <a:latin typeface="29LT Riwaya"/>
                <a:ea typeface="29LT Riwaya"/>
                <a:cs typeface="29LT Riwaya"/>
                <a:sym typeface="29LT Riwaya"/>
                <a:rtl/>
              </a:rPr>
              <a:t>غالبًا ما تمتد بين </a:t>
            </a:r>
            <a:r>
              <a:rPr lang="en-US" sz="3200" b="1" u="none" strike="noStrike" dirty="0">
                <a:solidFill>
                  <a:srgbClr val="020101"/>
                </a:solidFill>
                <a:latin typeface="29LT Riwaya Bold"/>
                <a:ea typeface="29LT Riwaya Bold"/>
                <a:cs typeface="29LT Riwaya Bold"/>
                <a:sym typeface="29LT Riwaya Bold"/>
              </a:rPr>
              <a:t>11</a:t>
            </a:r>
            <a:r>
              <a:rPr lang="ar-EG" sz="3200" b="1" u="none" strike="noStrike" dirty="0">
                <a:solidFill>
                  <a:srgbClr val="020101"/>
                </a:solidFill>
                <a:latin typeface="29LT Riwaya Bold"/>
                <a:ea typeface="29LT Riwaya Bold"/>
                <a:cs typeface="29LT Riwaya Bold"/>
                <a:sym typeface="29LT Riwaya Bold"/>
                <a:rtl/>
              </a:rPr>
              <a:t> و</a:t>
            </a:r>
            <a:r>
              <a:rPr lang="en-US" sz="3200" b="1" u="none" strike="noStrike" dirty="0">
                <a:solidFill>
                  <a:srgbClr val="020101"/>
                </a:solidFill>
                <a:latin typeface="29LT Riwaya Bold"/>
                <a:ea typeface="29LT Riwaya Bold"/>
                <a:cs typeface="29LT Riwaya Bold"/>
                <a:sym typeface="29LT Riwaya Bold"/>
              </a:rPr>
              <a:t>19</a:t>
            </a:r>
            <a:r>
              <a:rPr lang="ar-EG" sz="3200" b="1" u="none" strike="noStrike" dirty="0">
                <a:solidFill>
                  <a:srgbClr val="020101"/>
                </a:solidFill>
                <a:latin typeface="29LT Riwaya Bold"/>
                <a:ea typeface="29LT Riwaya Bold"/>
                <a:cs typeface="29LT Riwaya Bold"/>
                <a:sym typeface="29LT Riwaya Bold"/>
                <a:rtl/>
              </a:rPr>
              <a:t> سنة</a:t>
            </a:r>
            <a:r>
              <a:rPr lang="ar-EG" sz="3200" u="none" strike="noStrike" dirty="0">
                <a:solidFill>
                  <a:srgbClr val="020101"/>
                </a:solidFill>
                <a:latin typeface="29LT Riwaya"/>
                <a:ea typeface="29LT Riwaya"/>
                <a:cs typeface="29LT Riwaya"/>
                <a:sym typeface="29LT Riwaya"/>
                <a:rtl/>
              </a:rPr>
              <a:t> حسب </a:t>
            </a:r>
            <a:r>
              <a:rPr lang="ar-EG" sz="3200" b="1" u="none" strike="noStrike" dirty="0">
                <a:solidFill>
                  <a:srgbClr val="020101"/>
                </a:solidFill>
                <a:latin typeface="29LT Riwaya"/>
                <a:ea typeface="29LT Riwaya"/>
                <a:cs typeface="29LT Riwaya"/>
                <a:sym typeface="29LT Riwaya"/>
                <a:rtl/>
              </a:rPr>
              <a:t>التصنيف النفسي</a:t>
            </a:r>
            <a:r>
              <a:rPr lang="ar-SA" sz="3200" b="1" u="none" strike="noStrike" dirty="0">
                <a:solidFill>
                  <a:srgbClr val="020101"/>
                </a:solidFill>
                <a:latin typeface="29LT Riwaya"/>
                <a:ea typeface="29LT Riwaya"/>
                <a:cs typeface="29LT Riwaya"/>
                <a:sym typeface="29LT Riwaya"/>
                <a:rtl/>
              </a:rPr>
              <a:t> </a:t>
            </a:r>
            <a:r>
              <a:rPr lang="ar-SA" sz="3200" b="1" dirty="0">
                <a:solidFill>
                  <a:srgbClr val="020101"/>
                </a:solidFill>
                <a:latin typeface="29LT Riwaya"/>
                <a:ea typeface="29LT Riwaya"/>
                <a:cs typeface="29LT Riwaya"/>
                <a:rtl/>
              </a:rPr>
              <a:t>التنموي</a:t>
            </a:r>
            <a:r>
              <a:rPr lang="ar-EG" sz="3200" u="none" strike="noStrike" dirty="0">
                <a:solidFill>
                  <a:srgbClr val="020101"/>
                </a:solidFill>
                <a:latin typeface="29LT Riwaya"/>
                <a:ea typeface="29LT Riwaya"/>
                <a:cs typeface="29LT Riwaya"/>
                <a:sym typeface="29LT Riwaya"/>
                <a:rt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4"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0080" y="127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666" b="-38666"/>
            </a:stretch>
          </a:blipFill>
        </p:spPr>
      </p:sp>
      <p:sp>
        <p:nvSpPr>
          <p:cNvPr id="3" name="Freeform 3"/>
          <p:cNvSpPr/>
          <p:nvPr/>
        </p:nvSpPr>
        <p:spPr>
          <a:xfrm>
            <a:off x="15858749" y="6431770"/>
            <a:ext cx="5959136" cy="6736658"/>
          </a:xfrm>
          <a:custGeom>
            <a:avLst/>
            <a:gdLst/>
            <a:ahLst/>
            <a:cxnLst/>
            <a:rect l="l" t="t" r="r" b="b"/>
            <a:pathLst>
              <a:path w="5959136" h="6736658">
                <a:moveTo>
                  <a:pt x="0" y="0"/>
                </a:moveTo>
                <a:lnTo>
                  <a:pt x="5959135" y="0"/>
                </a:lnTo>
                <a:lnTo>
                  <a:pt x="5959135" y="6736658"/>
                </a:lnTo>
                <a:lnTo>
                  <a:pt x="0" y="6736658"/>
                </a:lnTo>
                <a:lnTo>
                  <a:pt x="0" y="0"/>
                </a:lnTo>
                <a:close/>
              </a:path>
            </a:pathLst>
          </a:custGeom>
          <a:blipFill>
            <a:blip r:embed="rId3"/>
            <a:stretch>
              <a:fillRect/>
            </a:stretch>
          </a:blipFill>
        </p:spPr>
      </p:sp>
      <p:sp>
        <p:nvSpPr>
          <p:cNvPr id="4" name="Freeform 4"/>
          <p:cNvSpPr/>
          <p:nvPr/>
        </p:nvSpPr>
        <p:spPr>
          <a:xfrm rot="-10800000">
            <a:off x="-3094785" y="1908103"/>
            <a:ext cx="5146086" cy="7347571"/>
          </a:xfrm>
          <a:custGeom>
            <a:avLst/>
            <a:gdLst/>
            <a:ahLst/>
            <a:cxnLst/>
            <a:rect l="l" t="t" r="r" b="b"/>
            <a:pathLst>
              <a:path w="5146086" h="7347571">
                <a:moveTo>
                  <a:pt x="0" y="0"/>
                </a:moveTo>
                <a:lnTo>
                  <a:pt x="5146087" y="0"/>
                </a:lnTo>
                <a:lnTo>
                  <a:pt x="5146087" y="7347571"/>
                </a:lnTo>
                <a:lnTo>
                  <a:pt x="0" y="7347571"/>
                </a:lnTo>
                <a:lnTo>
                  <a:pt x="0" y="0"/>
                </a:lnTo>
                <a:close/>
              </a:path>
            </a:pathLst>
          </a:custGeom>
          <a:blipFill>
            <a:blip r:embed="rId4"/>
            <a:stretch>
              <a:fillRect/>
            </a:stretch>
          </a:blipFill>
        </p:spPr>
      </p:sp>
      <p:sp>
        <p:nvSpPr>
          <p:cNvPr id="5" name="Freeform 5"/>
          <p:cNvSpPr/>
          <p:nvPr/>
        </p:nvSpPr>
        <p:spPr>
          <a:xfrm rot="-10800000">
            <a:off x="-2137486" y="-2884054"/>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6" name="Freeform 6"/>
          <p:cNvSpPr/>
          <p:nvPr/>
        </p:nvSpPr>
        <p:spPr>
          <a:xfrm rot="-10800000" flipH="1" flipV="1">
            <a:off x="11673246" y="-4828555"/>
            <a:ext cx="8312586" cy="6736658"/>
          </a:xfrm>
          <a:custGeom>
            <a:avLst/>
            <a:gdLst/>
            <a:ahLst/>
            <a:cxnLst/>
            <a:rect l="l" t="t" r="r" b="b"/>
            <a:pathLst>
              <a:path w="8312586" h="6736658">
                <a:moveTo>
                  <a:pt x="8312586" y="6736658"/>
                </a:moveTo>
                <a:lnTo>
                  <a:pt x="0" y="6736658"/>
                </a:lnTo>
                <a:lnTo>
                  <a:pt x="0" y="0"/>
                </a:lnTo>
                <a:lnTo>
                  <a:pt x="8312586" y="0"/>
                </a:lnTo>
                <a:lnTo>
                  <a:pt x="8312586" y="6736658"/>
                </a:lnTo>
                <a:close/>
              </a:path>
            </a:pathLst>
          </a:custGeom>
          <a:blipFill>
            <a:blip r:embed="rId5"/>
            <a:stretch>
              <a:fillRect/>
            </a:stretch>
          </a:blipFill>
        </p:spPr>
      </p:sp>
      <p:sp>
        <p:nvSpPr>
          <p:cNvPr id="7" name="Freeform 7"/>
          <p:cNvSpPr/>
          <p:nvPr/>
        </p:nvSpPr>
        <p:spPr>
          <a:xfrm rot="-10800000">
            <a:off x="-3314211" y="8491456"/>
            <a:ext cx="8312586" cy="6736658"/>
          </a:xfrm>
          <a:custGeom>
            <a:avLst/>
            <a:gdLst/>
            <a:ahLst/>
            <a:cxnLst/>
            <a:rect l="l" t="t" r="r" b="b"/>
            <a:pathLst>
              <a:path w="8312586" h="6736658">
                <a:moveTo>
                  <a:pt x="0" y="0"/>
                </a:moveTo>
                <a:lnTo>
                  <a:pt x="8312586" y="0"/>
                </a:lnTo>
                <a:lnTo>
                  <a:pt x="8312586" y="6736659"/>
                </a:lnTo>
                <a:lnTo>
                  <a:pt x="0" y="6736659"/>
                </a:lnTo>
                <a:lnTo>
                  <a:pt x="0" y="0"/>
                </a:lnTo>
                <a:close/>
              </a:path>
            </a:pathLst>
          </a:custGeom>
          <a:blipFill>
            <a:blip r:embed="rId5"/>
            <a:stretch>
              <a:fillRect/>
            </a:stretch>
          </a:blipFill>
        </p:spPr>
      </p:sp>
      <p:sp>
        <p:nvSpPr>
          <p:cNvPr id="8" name="TextBox 8"/>
          <p:cNvSpPr txBox="1"/>
          <p:nvPr/>
        </p:nvSpPr>
        <p:spPr>
          <a:xfrm>
            <a:off x="4766177" y="284250"/>
            <a:ext cx="8755645" cy="1502285"/>
          </a:xfrm>
          <a:prstGeom prst="rect">
            <a:avLst/>
          </a:prstGeom>
        </p:spPr>
        <p:txBody>
          <a:bodyPr lIns="0" tIns="0" rIns="0" bIns="0" rtlCol="0" anchor="t">
            <a:spAutoFit/>
          </a:bodyPr>
          <a:lstStyle/>
          <a:p>
            <a:pPr algn="ctr" rtl="1">
              <a:lnSpc>
                <a:spcPts val="12221"/>
              </a:lnSpc>
            </a:pPr>
            <a:r>
              <a:rPr lang="ar-EG" sz="8729">
                <a:solidFill>
                  <a:srgbClr val="020101"/>
                </a:solidFill>
                <a:latin typeface="Neirizi"/>
                <a:ea typeface="Neirizi"/>
                <a:cs typeface="Neirizi"/>
                <a:sym typeface="Neirizi"/>
                <a:rtl/>
              </a:rPr>
              <a:t>مفاهيم ومصطلحات</a:t>
            </a:r>
          </a:p>
        </p:txBody>
      </p:sp>
      <p:sp>
        <p:nvSpPr>
          <p:cNvPr id="9" name="TextBox 9"/>
          <p:cNvSpPr txBox="1"/>
          <p:nvPr/>
        </p:nvSpPr>
        <p:spPr>
          <a:xfrm>
            <a:off x="895614" y="3692052"/>
            <a:ext cx="14779910" cy="537845"/>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ar-EG" sz="3200" u="none" strike="noStrike" dirty="0">
                <a:solidFill>
                  <a:srgbClr val="020101"/>
                </a:solidFill>
                <a:latin typeface="29LT Riwaya"/>
                <a:ea typeface="29LT Riwaya"/>
                <a:cs typeface="29LT Riwaya"/>
                <a:sym typeface="29LT Riwaya"/>
                <a:rtl/>
              </a:rPr>
              <a:t>مشتقة من الفعل </a:t>
            </a:r>
            <a:r>
              <a:rPr lang="ar-EG" sz="3200" b="1" u="none" strike="noStrike" dirty="0">
                <a:solidFill>
                  <a:srgbClr val="020101"/>
                </a:solidFill>
                <a:latin typeface="29LT Riwaya Bold"/>
                <a:ea typeface="29LT Riwaya Bold"/>
                <a:cs typeface="29LT Riwaya Bold"/>
                <a:sym typeface="29LT Riwaya Bold"/>
                <a:rtl/>
              </a:rPr>
              <a:t>راهقَ</a:t>
            </a:r>
            <a:r>
              <a:rPr lang="ar-EG" sz="3200" u="none" strike="noStrike" dirty="0">
                <a:solidFill>
                  <a:srgbClr val="020101"/>
                </a:solidFill>
                <a:latin typeface="29LT Riwaya"/>
                <a:ea typeface="29LT Riwaya"/>
                <a:cs typeface="29LT Riwaya"/>
                <a:sym typeface="29LT Riwaya"/>
                <a:rtl/>
              </a:rPr>
              <a:t>، ويقال: </a:t>
            </a:r>
            <a:r>
              <a:rPr lang="ar-EG" sz="3200" b="1" u="none" strike="noStrike" dirty="0">
                <a:solidFill>
                  <a:srgbClr val="020101"/>
                </a:solidFill>
                <a:latin typeface="29LT Riwaya Bold"/>
                <a:ea typeface="29LT Riwaya Bold"/>
                <a:cs typeface="29LT Riwaya Bold"/>
                <a:sym typeface="29LT Riwaya Bold"/>
                <a:rtl/>
              </a:rPr>
              <a:t>راهقَ الغلامُ أي قاربَ البلوغ ولم يبلغه بعد</a:t>
            </a:r>
            <a:r>
              <a:rPr lang="ar-EG" sz="3200" u="none" strike="noStrike" dirty="0">
                <a:solidFill>
                  <a:srgbClr val="020101"/>
                </a:solidFill>
                <a:latin typeface="29LT Riwaya"/>
                <a:ea typeface="29LT Riwaya"/>
                <a:cs typeface="29LT Riwaya"/>
                <a:sym typeface="29LT Riwaya"/>
                <a:rtl/>
              </a:rPr>
              <a:t>.</a:t>
            </a:r>
          </a:p>
        </p:txBody>
      </p:sp>
      <p:sp>
        <p:nvSpPr>
          <p:cNvPr id="10" name="TextBox 10"/>
          <p:cNvSpPr txBox="1"/>
          <p:nvPr/>
        </p:nvSpPr>
        <p:spPr>
          <a:xfrm>
            <a:off x="4245017" y="2433896"/>
            <a:ext cx="10729532" cy="962660"/>
          </a:xfrm>
          <a:prstGeom prst="rect">
            <a:avLst/>
          </a:prstGeom>
        </p:spPr>
        <p:txBody>
          <a:bodyPr lIns="0" tIns="0" rIns="0" bIns="0" rtlCol="0" anchor="t">
            <a:spAutoFit/>
          </a:bodyPr>
          <a:lstStyle/>
          <a:p>
            <a:pPr algn="r" rtl="1">
              <a:lnSpc>
                <a:spcPts val="7840"/>
              </a:lnSpc>
            </a:pPr>
            <a:r>
              <a:rPr lang="ar-EG" sz="5600">
                <a:solidFill>
                  <a:srgbClr val="020101"/>
                </a:solidFill>
                <a:latin typeface="Neirizi"/>
                <a:ea typeface="Neirizi"/>
                <a:cs typeface="Neirizi"/>
                <a:sym typeface="Neirizi"/>
                <a:rtl/>
              </a:rPr>
              <a:t>المراهق  في المعجم اللغوي العربي : </a:t>
            </a:r>
          </a:p>
        </p:txBody>
      </p:sp>
      <p:sp>
        <p:nvSpPr>
          <p:cNvPr id="11" name="TextBox 11"/>
          <p:cNvSpPr txBox="1"/>
          <p:nvPr/>
        </p:nvSpPr>
        <p:spPr>
          <a:xfrm>
            <a:off x="895614" y="5246062"/>
            <a:ext cx="14779910" cy="577081"/>
          </a:xfrm>
          <a:prstGeom prst="rect">
            <a:avLst/>
          </a:prstGeom>
        </p:spPr>
        <p:txBody>
          <a:bodyPr wrap="square" lIns="0" tIns="0" rIns="0" bIns="0" rtlCol="0" anchor="t">
            <a:spAutoFit/>
          </a:bodyPr>
          <a:lstStyle/>
          <a:p>
            <a:pPr marL="690881" lvl="1" indent="-345440" algn="just" rtl="1">
              <a:lnSpc>
                <a:spcPts val="4480"/>
              </a:lnSpc>
              <a:spcBef>
                <a:spcPct val="0"/>
              </a:spcBef>
              <a:buFont typeface="Arial"/>
              <a:buChar char="•"/>
            </a:pPr>
            <a:r>
              <a:rPr lang="ar-EG" sz="3200" u="none" strike="noStrike" dirty="0">
                <a:solidFill>
                  <a:srgbClr val="020101"/>
                </a:solidFill>
                <a:latin typeface="29LT Riwaya"/>
                <a:ea typeface="29LT Riwaya"/>
                <a:cs typeface="29LT Riwaya"/>
                <a:sym typeface="29LT Riwaya"/>
                <a:rtl/>
              </a:rPr>
              <a:t>الشخص الذي </a:t>
            </a:r>
            <a:r>
              <a:rPr lang="ar-EG" sz="3200" b="1" u="none" strike="noStrike" dirty="0">
                <a:solidFill>
                  <a:srgbClr val="020101"/>
                </a:solidFill>
                <a:latin typeface="29LT Riwaya Bold"/>
                <a:ea typeface="29LT Riwaya Bold"/>
                <a:cs typeface="29LT Riwaya Bold"/>
                <a:sym typeface="29LT Riwaya Bold"/>
                <a:rtl/>
              </a:rPr>
              <a:t>دانى </a:t>
            </a:r>
            <a:r>
              <a:rPr lang="ar-EG" sz="3200" u="none" strike="noStrike" dirty="0">
                <a:solidFill>
                  <a:srgbClr val="020101"/>
                </a:solidFill>
                <a:latin typeface="29LT Riwaya"/>
                <a:ea typeface="29LT Riwaya"/>
                <a:cs typeface="29LT Riwaya"/>
                <a:sym typeface="29LT Riwaya"/>
                <a:rtl/>
              </a:rPr>
              <a:t>البلوغ وشارفه.</a:t>
            </a:r>
          </a:p>
        </p:txBody>
      </p:sp>
      <p:sp>
        <p:nvSpPr>
          <p:cNvPr id="12" name="TextBox 12"/>
          <p:cNvSpPr txBox="1"/>
          <p:nvPr/>
        </p:nvSpPr>
        <p:spPr>
          <a:xfrm>
            <a:off x="1777359" y="7443558"/>
            <a:ext cx="13898165" cy="577081"/>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ar-EG" sz="3200" u="none" strike="noStrike" dirty="0">
                <a:solidFill>
                  <a:srgbClr val="020101"/>
                </a:solidFill>
                <a:latin typeface="29LT Riwaya"/>
                <a:ea typeface="29LT Riwaya"/>
                <a:cs typeface="29LT Riwaya"/>
                <a:sym typeface="29LT Riwaya"/>
                <a:rtl/>
              </a:rPr>
              <a:t>مشتقة من </a:t>
            </a:r>
            <a:r>
              <a:rPr lang="ar-EG" sz="3200" dirty="0">
                <a:solidFill>
                  <a:srgbClr val="020101"/>
                </a:solidFill>
                <a:latin typeface="29LT Riwaya"/>
                <a:ea typeface="29LT Riwaya"/>
                <a:cs typeface="29LT Riwaya"/>
                <a:sym typeface="29LT Riwaya"/>
                <a:rtl/>
              </a:rPr>
              <a:t>ا</a:t>
            </a:r>
            <a:r>
              <a:rPr lang="ar-SA" sz="3200" dirty="0">
                <a:solidFill>
                  <a:srgbClr val="020101"/>
                </a:solidFill>
                <a:latin typeface="29LT Riwaya"/>
                <a:ea typeface="29LT Riwaya"/>
                <a:cs typeface="29LT Riwaya"/>
                <a:sym typeface="29LT Riwaya"/>
                <a:rtl/>
              </a:rPr>
              <a:t>لاس</a:t>
            </a:r>
            <a:r>
              <a:rPr lang="ar-SA" sz="3200" dirty="0">
                <a:solidFill>
                  <a:srgbClr val="020101"/>
                </a:solidFill>
                <a:latin typeface="29LT Riwaya"/>
                <a:ea typeface="29LT Riwaya"/>
                <a:cs typeface="29LT Riwaya"/>
                <a:rtl/>
              </a:rPr>
              <a:t>م </a:t>
            </a:r>
            <a:r>
              <a:rPr lang="ar-EG" sz="3200" dirty="0">
                <a:solidFill>
                  <a:srgbClr val="020101"/>
                </a:solidFill>
                <a:latin typeface="29LT Riwaya"/>
                <a:ea typeface="29LT Riwaya"/>
                <a:cs typeface="29LT Riwaya"/>
                <a:sym typeface="29LT Riwaya"/>
                <a:rtl/>
              </a:rPr>
              <a:t>اللاتيني </a:t>
            </a:r>
            <a:r>
              <a:rPr lang="ar-EG" sz="3200" u="none" strike="noStrike" dirty="0">
                <a:solidFill>
                  <a:srgbClr val="020101"/>
                </a:solidFill>
                <a:latin typeface="29LT Riwaya"/>
                <a:ea typeface="29LT Riwaya"/>
                <a:cs typeface="29LT Riwaya"/>
                <a:sym typeface="29LT Riwaya"/>
                <a:rtl/>
              </a:rPr>
              <a:t>: </a:t>
            </a:r>
            <a:r>
              <a:rPr lang="en-US" sz="3200" b="1" u="none" strike="noStrike" dirty="0">
                <a:solidFill>
                  <a:srgbClr val="020101"/>
                </a:solidFill>
                <a:latin typeface="29LT Riwaya Bold"/>
                <a:ea typeface="29LT Riwaya Bold"/>
                <a:cs typeface="29LT Riwaya Bold"/>
                <a:sym typeface="29LT Riwaya Bold"/>
              </a:rPr>
              <a:t>Adolescent</a:t>
            </a:r>
            <a:r>
              <a:rPr lang="ar-EG" sz="3200" b="1" u="none" strike="noStrike" dirty="0">
                <a:solidFill>
                  <a:srgbClr val="020101"/>
                </a:solidFill>
                <a:latin typeface="29LT Riwaya Bold"/>
                <a:ea typeface="29LT Riwaya Bold"/>
                <a:cs typeface="29LT Riwaya Bold"/>
                <a:sym typeface="29LT Riwaya Bold"/>
                <a:rtl/>
              </a:rPr>
              <a:t> </a:t>
            </a:r>
            <a:r>
              <a:rPr lang="ar-EG" sz="3200" u="none" strike="noStrike" dirty="0">
                <a:solidFill>
                  <a:srgbClr val="020101"/>
                </a:solidFill>
                <a:latin typeface="29LT Riwaya"/>
                <a:ea typeface="29LT Riwaya"/>
                <a:cs typeface="29LT Riwaya"/>
                <a:sym typeface="29LT Riwaya"/>
                <a:rtl/>
              </a:rPr>
              <a:t>ومعناه الشخص الذي يمر بمرحلة المراهقة.</a:t>
            </a:r>
          </a:p>
        </p:txBody>
      </p:sp>
      <p:sp>
        <p:nvSpPr>
          <p:cNvPr id="13" name="TextBox 13"/>
          <p:cNvSpPr txBox="1"/>
          <p:nvPr/>
        </p:nvSpPr>
        <p:spPr>
          <a:xfrm>
            <a:off x="5798568" y="6271348"/>
            <a:ext cx="9175982" cy="962660"/>
          </a:xfrm>
          <a:prstGeom prst="rect">
            <a:avLst/>
          </a:prstGeom>
        </p:spPr>
        <p:txBody>
          <a:bodyPr lIns="0" tIns="0" rIns="0" bIns="0" rtlCol="0" anchor="t">
            <a:spAutoFit/>
          </a:bodyPr>
          <a:lstStyle/>
          <a:p>
            <a:pPr algn="r" rtl="1">
              <a:lnSpc>
                <a:spcPts val="7840"/>
              </a:lnSpc>
            </a:pPr>
            <a:r>
              <a:rPr lang="ar-EG" sz="5600">
                <a:solidFill>
                  <a:srgbClr val="020101"/>
                </a:solidFill>
                <a:latin typeface="Neirizi"/>
                <a:ea typeface="Neirizi"/>
                <a:cs typeface="Neirizi"/>
                <a:sym typeface="Neirizi"/>
                <a:rtl/>
              </a:rPr>
              <a:t>المراهق في المعجم اللغوي الغربي : </a:t>
            </a:r>
          </a:p>
        </p:txBody>
      </p:sp>
      <p:sp>
        <p:nvSpPr>
          <p:cNvPr id="14" name="TextBox 14"/>
          <p:cNvSpPr txBox="1"/>
          <p:nvPr/>
        </p:nvSpPr>
        <p:spPr>
          <a:xfrm>
            <a:off x="801142" y="8248806"/>
            <a:ext cx="14874382" cy="537845"/>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ar-EG" sz="3200" u="none" strike="noStrike" dirty="0">
                <a:solidFill>
                  <a:srgbClr val="020101"/>
                </a:solidFill>
                <a:latin typeface="29LT Riwaya"/>
                <a:ea typeface="29LT Riwaya"/>
                <a:cs typeface="29LT Riwaya"/>
                <a:sym typeface="29LT Riwaya"/>
                <a:rtl/>
              </a:rPr>
              <a:t>الفرد الذي يمر </a:t>
            </a:r>
            <a:r>
              <a:rPr lang="ar-EG" sz="3200" b="1" u="none" strike="noStrike" dirty="0">
                <a:solidFill>
                  <a:srgbClr val="020101"/>
                </a:solidFill>
                <a:latin typeface="29LT Riwaya Bold"/>
                <a:ea typeface="29LT Riwaya Bold"/>
                <a:cs typeface="29LT Riwaya Bold"/>
                <a:sym typeface="29LT Riwaya Bold"/>
                <a:rtl/>
              </a:rPr>
              <a:t>بفترة المراهقة</a:t>
            </a:r>
            <a:r>
              <a:rPr lang="ar-EG" sz="3200" u="none" strike="noStrike" dirty="0">
                <a:solidFill>
                  <a:srgbClr val="020101"/>
                </a:solidFill>
                <a:latin typeface="29LT Riwaya"/>
                <a:ea typeface="29LT Riwaya"/>
                <a:cs typeface="29LT Riwaya"/>
                <a:sym typeface="29LT Riwaya"/>
                <a:rtl/>
              </a:rPr>
              <a:t> التي تتميز بتحولات جسدية ونفسية واجتماعية.</a:t>
            </a:r>
          </a:p>
        </p:txBody>
      </p:sp>
      <p:sp>
        <p:nvSpPr>
          <p:cNvPr id="15" name="Freeform 15"/>
          <p:cNvSpPr/>
          <p:nvPr/>
        </p:nvSpPr>
        <p:spPr>
          <a:xfrm>
            <a:off x="16331123" y="1028700"/>
            <a:ext cx="5146086" cy="7347571"/>
          </a:xfrm>
          <a:custGeom>
            <a:avLst/>
            <a:gdLst/>
            <a:ahLst/>
            <a:cxnLst/>
            <a:rect l="l" t="t" r="r" b="b"/>
            <a:pathLst>
              <a:path w="5146086" h="7347571">
                <a:moveTo>
                  <a:pt x="0" y="0"/>
                </a:moveTo>
                <a:lnTo>
                  <a:pt x="5146086" y="0"/>
                </a:lnTo>
                <a:lnTo>
                  <a:pt x="5146086" y="7347571"/>
                </a:lnTo>
                <a:lnTo>
                  <a:pt x="0" y="7347571"/>
                </a:lnTo>
                <a:lnTo>
                  <a:pt x="0" y="0"/>
                </a:lnTo>
                <a:close/>
              </a:path>
            </a:pathLst>
          </a:custGeom>
          <a:blipFill>
            <a:blip r:embed="rId4"/>
            <a:stretch>
              <a:fillRect/>
            </a:stretch>
          </a:blipFill>
        </p:spPr>
      </p:sp>
      <p:sp>
        <p:nvSpPr>
          <p:cNvPr id="16" name="TextBox 16"/>
          <p:cNvSpPr txBox="1"/>
          <p:nvPr/>
        </p:nvSpPr>
        <p:spPr>
          <a:xfrm>
            <a:off x="801142" y="9128210"/>
            <a:ext cx="14874382" cy="577081"/>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ar-EG" sz="3200" u="none" strike="noStrike" dirty="0">
                <a:solidFill>
                  <a:srgbClr val="020101"/>
                </a:solidFill>
                <a:latin typeface="29LT Riwaya"/>
                <a:ea typeface="29LT Riwaya"/>
                <a:cs typeface="29LT Riwaya"/>
                <a:sym typeface="29LT Riwaya"/>
                <a:rtl/>
              </a:rPr>
              <a:t>عادة ما يكون بين </a:t>
            </a:r>
            <a:r>
              <a:rPr lang="ar-EG" sz="3200" dirty="0">
                <a:solidFill>
                  <a:srgbClr val="020101"/>
                </a:solidFill>
                <a:latin typeface="29LT Riwaya"/>
                <a:ea typeface="29LT Riwaya"/>
                <a:cs typeface="29LT Riwaya"/>
                <a:sym typeface="29LT Riwaya"/>
                <a:rtl/>
              </a:rPr>
              <a:t>سن </a:t>
            </a:r>
            <a:r>
              <a:rPr lang="en-US" sz="3200" b="1" dirty="0">
                <a:solidFill>
                  <a:srgbClr val="020101"/>
                </a:solidFill>
                <a:latin typeface="29LT Riwaya"/>
                <a:ea typeface="29LT Riwaya"/>
                <a:cs typeface="29LT Riwaya"/>
                <a:sym typeface="29LT Riwaya"/>
                <a:rtl/>
              </a:rPr>
              <a:t>11</a:t>
            </a:r>
            <a:r>
              <a:rPr lang="ar-EG" sz="3200" b="1" dirty="0">
                <a:solidFill>
                  <a:srgbClr val="020101"/>
                </a:solidFill>
                <a:latin typeface="29LT Riwaya"/>
                <a:ea typeface="29LT Riwaya"/>
                <a:cs typeface="29LT Riwaya"/>
                <a:sym typeface="29LT Riwaya"/>
                <a:rtl/>
              </a:rPr>
              <a:t> و</a:t>
            </a:r>
            <a:r>
              <a:rPr lang="en-US" sz="3200" b="1" dirty="0">
                <a:solidFill>
                  <a:srgbClr val="020101"/>
                </a:solidFill>
                <a:latin typeface="29LT Riwaya"/>
                <a:ea typeface="29LT Riwaya"/>
                <a:cs typeface="29LT Riwaya"/>
                <a:sym typeface="29LT Riwaya"/>
                <a:rtl/>
              </a:rPr>
              <a:t>19</a:t>
            </a:r>
            <a:r>
              <a:rPr lang="ar-EG" sz="3200" b="1" dirty="0">
                <a:solidFill>
                  <a:srgbClr val="020101"/>
                </a:solidFill>
                <a:latin typeface="29LT Riwaya"/>
                <a:ea typeface="29LT Riwaya"/>
                <a:cs typeface="29LT Riwaya"/>
                <a:sym typeface="29LT Riwaya"/>
                <a:rtl/>
              </a:rPr>
              <a:t> </a:t>
            </a:r>
            <a:r>
              <a:rPr lang="ar-SA" sz="3200" dirty="0">
                <a:solidFill>
                  <a:srgbClr val="020101"/>
                </a:solidFill>
                <a:latin typeface="29LT Riwaya"/>
                <a:ea typeface="29LT Riwaya"/>
                <a:cs typeface="29LT Riwaya"/>
                <a:rtl/>
              </a:rPr>
              <a:t>سنة</a:t>
            </a:r>
            <a:r>
              <a:rPr lang="ar-EG" sz="3200" u="none" strike="noStrike" dirty="0">
                <a:solidFill>
                  <a:srgbClr val="020101"/>
                </a:solidFill>
                <a:latin typeface="29LT Riwaya"/>
                <a:ea typeface="29LT Riwaya"/>
                <a:cs typeface="29LT Riwaya"/>
                <a:sym typeface="29LT Riwaya"/>
                <a:rtl/>
              </a:rPr>
              <a:t>.</a:t>
            </a:r>
          </a:p>
        </p:txBody>
      </p:sp>
      <p:sp>
        <p:nvSpPr>
          <p:cNvPr id="18" name="TextBox 11">
            <a:extLst>
              <a:ext uri="{FF2B5EF4-FFF2-40B4-BE49-F238E27FC236}">
                <a16:creationId xmlns:a16="http://schemas.microsoft.com/office/drawing/2014/main" id="{5C60C963-0ED0-AD31-4699-6FD7B35FFA67}"/>
              </a:ext>
            </a:extLst>
          </p:cNvPr>
          <p:cNvSpPr txBox="1"/>
          <p:nvPr/>
        </p:nvSpPr>
        <p:spPr>
          <a:xfrm>
            <a:off x="1523999" y="4498428"/>
            <a:ext cx="14151524" cy="577081"/>
          </a:xfrm>
          <a:prstGeom prst="rect">
            <a:avLst/>
          </a:prstGeom>
        </p:spPr>
        <p:txBody>
          <a:bodyPr wrap="square" lIns="0" tIns="0" rIns="0" bIns="0" rtlCol="0" anchor="t">
            <a:spAutoFit/>
          </a:bodyPr>
          <a:lstStyle/>
          <a:p>
            <a:pPr marL="690881" lvl="1" indent="-345440" algn="just" rtl="1">
              <a:lnSpc>
                <a:spcPts val="4480"/>
              </a:lnSpc>
              <a:spcBef>
                <a:spcPct val="0"/>
              </a:spcBef>
              <a:buFont typeface="Arial"/>
              <a:buChar char="•"/>
            </a:pPr>
            <a:r>
              <a:rPr lang="ar-EG" sz="3200" dirty="0">
                <a:solidFill>
                  <a:srgbClr val="020101"/>
                </a:solidFill>
                <a:latin typeface="29LT Riwaya"/>
                <a:ea typeface="29LT Riwaya"/>
                <a:cs typeface="29LT Riwaya"/>
                <a:sym typeface="29LT Riwaya"/>
                <a:rtl/>
              </a:rPr>
              <a:t>الشخص </a:t>
            </a:r>
            <a:r>
              <a:rPr lang="ar-SA" sz="3200" dirty="0">
                <a:solidFill>
                  <a:srgbClr val="020101"/>
                </a:solidFill>
                <a:latin typeface="29LT Riwaya"/>
                <a:ea typeface="29LT Riwaya"/>
                <a:cs typeface="29LT Riwaya"/>
                <a:rtl/>
              </a:rPr>
              <a:t>وجاء في </a:t>
            </a:r>
            <a:r>
              <a:rPr lang="ar-SA" sz="3200" b="1" dirty="0">
                <a:solidFill>
                  <a:srgbClr val="020101"/>
                </a:solidFill>
                <a:latin typeface="29LT Riwaya"/>
                <a:ea typeface="29LT Riwaya"/>
                <a:cs typeface="29LT Riwaya"/>
                <a:rtl/>
              </a:rPr>
              <a:t>لسان العرب</a:t>
            </a:r>
            <a:r>
              <a:rPr lang="ar-SA" sz="3200" dirty="0">
                <a:solidFill>
                  <a:srgbClr val="020101"/>
                </a:solidFill>
                <a:latin typeface="29LT Riwaya"/>
                <a:ea typeface="29LT Riwaya"/>
                <a:cs typeface="29LT Riwaya"/>
                <a:rtl/>
              </a:rPr>
              <a:t>:</a:t>
            </a:r>
            <a:r>
              <a:rPr lang="en-US" sz="3200" dirty="0">
                <a:solidFill>
                  <a:srgbClr val="020101"/>
                </a:solidFill>
                <a:latin typeface="29LT Riwaya"/>
                <a:ea typeface="29LT Riwaya"/>
                <a:cs typeface="29LT Riwaya"/>
                <a:rtl/>
              </a:rPr>
              <a:t> </a:t>
            </a:r>
            <a:r>
              <a:rPr lang="ar-SA" sz="3200" b="1" dirty="0">
                <a:solidFill>
                  <a:srgbClr val="020101"/>
                </a:solidFill>
                <a:latin typeface="29LT Riwaya"/>
                <a:ea typeface="29LT Riwaya"/>
                <a:cs typeface="29LT Riwaya"/>
                <a:rtl/>
              </a:rPr>
              <a:t>راهق</a:t>
            </a:r>
            <a:r>
              <a:rPr lang="ar-SA" sz="3200" dirty="0">
                <a:solidFill>
                  <a:srgbClr val="020101"/>
                </a:solidFill>
                <a:latin typeface="29LT Riwaya"/>
                <a:ea typeface="29LT Riwaya"/>
                <a:cs typeface="29LT Riwaya"/>
                <a:rtl/>
              </a:rPr>
              <a:t> الغلامُ الحُلُمَ: أي دنا منه واقترب</a:t>
            </a:r>
            <a:r>
              <a:rPr lang="ar-EG" sz="3200" u="none" strike="noStrike" dirty="0">
                <a:solidFill>
                  <a:srgbClr val="020101"/>
                </a:solidFill>
                <a:latin typeface="29LT Riwaya"/>
                <a:ea typeface="29LT Riwaya"/>
                <a:cs typeface="29LT Riwaya"/>
                <a:sym typeface="29LT Riwaya"/>
                <a:rt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4" grpId="0"/>
      <p:bldP spid="16"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666" b="-38666"/>
            </a:stretch>
          </a:blipFill>
        </p:spPr>
      </p:sp>
      <p:sp>
        <p:nvSpPr>
          <p:cNvPr id="3" name="Freeform 3"/>
          <p:cNvSpPr/>
          <p:nvPr/>
        </p:nvSpPr>
        <p:spPr>
          <a:xfrm>
            <a:off x="16558891" y="6296265"/>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4" name="Freeform 4"/>
          <p:cNvSpPr/>
          <p:nvPr/>
        </p:nvSpPr>
        <p:spPr>
          <a:xfrm rot="-10800000">
            <a:off x="-3871433" y="1908103"/>
            <a:ext cx="5146086" cy="7347571"/>
          </a:xfrm>
          <a:custGeom>
            <a:avLst/>
            <a:gdLst/>
            <a:ahLst/>
            <a:cxnLst/>
            <a:rect l="l" t="t" r="r" b="b"/>
            <a:pathLst>
              <a:path w="5146086" h="7347571">
                <a:moveTo>
                  <a:pt x="0" y="0"/>
                </a:moveTo>
                <a:lnTo>
                  <a:pt x="5146086" y="0"/>
                </a:lnTo>
                <a:lnTo>
                  <a:pt x="5146086" y="7347571"/>
                </a:lnTo>
                <a:lnTo>
                  <a:pt x="0" y="7347571"/>
                </a:lnTo>
                <a:lnTo>
                  <a:pt x="0" y="0"/>
                </a:lnTo>
                <a:close/>
              </a:path>
            </a:pathLst>
          </a:custGeom>
          <a:blipFill>
            <a:blip r:embed="rId4"/>
            <a:stretch>
              <a:fillRect/>
            </a:stretch>
          </a:blipFill>
        </p:spPr>
      </p:sp>
      <p:sp>
        <p:nvSpPr>
          <p:cNvPr id="5" name="Freeform 5"/>
          <p:cNvSpPr/>
          <p:nvPr/>
        </p:nvSpPr>
        <p:spPr>
          <a:xfrm rot="-10800000">
            <a:off x="-2137486" y="-2884054"/>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6" name="Freeform 6"/>
          <p:cNvSpPr/>
          <p:nvPr/>
        </p:nvSpPr>
        <p:spPr>
          <a:xfrm rot="-10800000" flipH="1" flipV="1">
            <a:off x="11673246" y="-4828555"/>
            <a:ext cx="8312586" cy="6736658"/>
          </a:xfrm>
          <a:custGeom>
            <a:avLst/>
            <a:gdLst/>
            <a:ahLst/>
            <a:cxnLst/>
            <a:rect l="l" t="t" r="r" b="b"/>
            <a:pathLst>
              <a:path w="8312586" h="6736658">
                <a:moveTo>
                  <a:pt x="8312586" y="6736658"/>
                </a:moveTo>
                <a:lnTo>
                  <a:pt x="0" y="6736658"/>
                </a:lnTo>
                <a:lnTo>
                  <a:pt x="0" y="0"/>
                </a:lnTo>
                <a:lnTo>
                  <a:pt x="8312586" y="0"/>
                </a:lnTo>
                <a:lnTo>
                  <a:pt x="8312586" y="6736658"/>
                </a:lnTo>
                <a:close/>
              </a:path>
            </a:pathLst>
          </a:custGeom>
          <a:blipFill>
            <a:blip r:embed="rId5"/>
            <a:stretch>
              <a:fillRect/>
            </a:stretch>
          </a:blipFill>
        </p:spPr>
      </p:sp>
      <p:sp>
        <p:nvSpPr>
          <p:cNvPr id="7" name="Freeform 7"/>
          <p:cNvSpPr/>
          <p:nvPr/>
        </p:nvSpPr>
        <p:spPr>
          <a:xfrm rot="-10800000">
            <a:off x="-3871433" y="8376271"/>
            <a:ext cx="8312586" cy="6736658"/>
          </a:xfrm>
          <a:custGeom>
            <a:avLst/>
            <a:gdLst/>
            <a:ahLst/>
            <a:cxnLst/>
            <a:rect l="l" t="t" r="r" b="b"/>
            <a:pathLst>
              <a:path w="8312586" h="6736658">
                <a:moveTo>
                  <a:pt x="0" y="0"/>
                </a:moveTo>
                <a:lnTo>
                  <a:pt x="8312586" y="0"/>
                </a:lnTo>
                <a:lnTo>
                  <a:pt x="8312586" y="6736658"/>
                </a:lnTo>
                <a:lnTo>
                  <a:pt x="0" y="6736658"/>
                </a:lnTo>
                <a:lnTo>
                  <a:pt x="0" y="0"/>
                </a:lnTo>
                <a:close/>
              </a:path>
            </a:pathLst>
          </a:custGeom>
          <a:blipFill>
            <a:blip r:embed="rId5"/>
            <a:stretch>
              <a:fillRect/>
            </a:stretch>
          </a:blipFill>
        </p:spPr>
      </p:sp>
      <p:sp>
        <p:nvSpPr>
          <p:cNvPr id="8" name="TextBox 8"/>
          <p:cNvSpPr txBox="1"/>
          <p:nvPr/>
        </p:nvSpPr>
        <p:spPr>
          <a:xfrm>
            <a:off x="4766177" y="284250"/>
            <a:ext cx="8755645" cy="1502285"/>
          </a:xfrm>
          <a:prstGeom prst="rect">
            <a:avLst/>
          </a:prstGeom>
        </p:spPr>
        <p:txBody>
          <a:bodyPr lIns="0" tIns="0" rIns="0" bIns="0" rtlCol="0" anchor="t">
            <a:spAutoFit/>
          </a:bodyPr>
          <a:lstStyle/>
          <a:p>
            <a:pPr algn="ctr" rtl="1">
              <a:lnSpc>
                <a:spcPts val="12221"/>
              </a:lnSpc>
            </a:pPr>
            <a:r>
              <a:rPr lang="ar-EG" sz="8729">
                <a:solidFill>
                  <a:srgbClr val="020101"/>
                </a:solidFill>
                <a:latin typeface="Neirizi"/>
                <a:ea typeface="Neirizi"/>
                <a:cs typeface="Neirizi"/>
                <a:sym typeface="Neirizi"/>
                <a:rtl/>
              </a:rPr>
              <a:t>مفاهيم ومصطلحات</a:t>
            </a:r>
          </a:p>
        </p:txBody>
      </p:sp>
      <p:sp>
        <p:nvSpPr>
          <p:cNvPr id="9" name="TextBox 9"/>
          <p:cNvSpPr txBox="1"/>
          <p:nvPr/>
        </p:nvSpPr>
        <p:spPr>
          <a:xfrm>
            <a:off x="1966431" y="3536633"/>
            <a:ext cx="14779910" cy="1154162"/>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ar-EG" sz="3200" u="none" strike="noStrike" dirty="0">
                <a:solidFill>
                  <a:srgbClr val="020101"/>
                </a:solidFill>
                <a:latin typeface="29LT Riwaya"/>
                <a:ea typeface="29LT Riwaya"/>
                <a:cs typeface="29LT Riwaya"/>
                <a:sym typeface="29LT Riwaya"/>
                <a:rtl/>
              </a:rPr>
              <a:t>يتكون من كلمتين </a:t>
            </a:r>
            <a:r>
              <a:rPr lang="ar-EG" sz="3200" b="1" u="none" strike="noStrike" dirty="0">
                <a:solidFill>
                  <a:srgbClr val="020101"/>
                </a:solidFill>
                <a:latin typeface="29LT Riwaya Bold"/>
                <a:ea typeface="29LT Riwaya Bold"/>
                <a:cs typeface="29LT Riwaya Bold"/>
                <a:sym typeface="29LT Riwaya Bold"/>
                <a:rtl/>
              </a:rPr>
              <a:t>العِلم</a:t>
            </a:r>
            <a:r>
              <a:rPr lang="ar-EG" sz="3200" u="none" strike="noStrike" dirty="0">
                <a:solidFill>
                  <a:srgbClr val="020101"/>
                </a:solidFill>
                <a:latin typeface="29LT Riwaya"/>
                <a:ea typeface="29LT Riwaya"/>
                <a:cs typeface="29LT Riwaya"/>
                <a:sym typeface="29LT Riwaya"/>
                <a:rtl/>
              </a:rPr>
              <a:t>: هو الإدراك والمعرفة والفهم. </a:t>
            </a:r>
            <a:r>
              <a:rPr lang="ar-EG" sz="3200" b="1" u="none" strike="noStrike" dirty="0">
                <a:solidFill>
                  <a:srgbClr val="020101"/>
                </a:solidFill>
                <a:latin typeface="29LT Riwaya Bold"/>
                <a:ea typeface="29LT Riwaya Bold"/>
                <a:cs typeface="29LT Riwaya Bold"/>
                <a:sym typeface="29LT Riwaya Bold"/>
                <a:rtl/>
              </a:rPr>
              <a:t>النفس</a:t>
            </a:r>
            <a:r>
              <a:rPr lang="ar-EG" sz="3200" u="none" strike="noStrike" dirty="0">
                <a:solidFill>
                  <a:srgbClr val="020101"/>
                </a:solidFill>
                <a:latin typeface="29LT Riwaya"/>
                <a:ea typeface="29LT Riwaya"/>
                <a:cs typeface="29LT Riwaya"/>
                <a:sym typeface="29LT Riwaya"/>
                <a:rtl/>
              </a:rPr>
              <a:t>: الروح، أو </a:t>
            </a:r>
            <a:r>
              <a:rPr lang="ar-EG" sz="3200" dirty="0">
                <a:solidFill>
                  <a:srgbClr val="020101"/>
                </a:solidFill>
                <a:latin typeface="29LT Riwaya"/>
                <a:ea typeface="29LT Riwaya"/>
                <a:cs typeface="29LT Riwaya"/>
                <a:sym typeface="29LT Riwaya"/>
                <a:rtl/>
              </a:rPr>
              <a:t>ذات ا</a:t>
            </a:r>
            <a:r>
              <a:rPr lang="ar-SA" sz="3200" dirty="0">
                <a:solidFill>
                  <a:srgbClr val="020101"/>
                </a:solidFill>
                <a:latin typeface="29LT Riwaya"/>
                <a:ea typeface="29LT Riwaya"/>
                <a:cs typeface="29LT Riwaya"/>
                <a:rtl/>
              </a:rPr>
              <a:t>لشيء</a:t>
            </a:r>
            <a:r>
              <a:rPr lang="ar-EG" sz="3200" dirty="0">
                <a:solidFill>
                  <a:srgbClr val="020101"/>
                </a:solidFill>
                <a:latin typeface="29LT Riwaya"/>
                <a:ea typeface="29LT Riwaya"/>
                <a:cs typeface="29LT Riwaya"/>
                <a:sym typeface="29LT Riwaya"/>
                <a:rtl/>
              </a:rPr>
              <a:t>، وما </a:t>
            </a:r>
            <a:r>
              <a:rPr lang="ar-EG" sz="3200" u="none" strike="noStrike" dirty="0">
                <a:solidFill>
                  <a:srgbClr val="020101"/>
                </a:solidFill>
                <a:latin typeface="29LT Riwaya"/>
                <a:ea typeface="29LT Riwaya"/>
                <a:cs typeface="29LT Riwaya"/>
                <a:sym typeface="29LT Riwaya"/>
                <a:rtl/>
              </a:rPr>
              <a:t>يصدر  عنها من مشاعر وأحاسيس.</a:t>
            </a:r>
          </a:p>
        </p:txBody>
      </p:sp>
      <p:sp>
        <p:nvSpPr>
          <p:cNvPr id="10" name="TextBox 10"/>
          <p:cNvSpPr txBox="1"/>
          <p:nvPr/>
        </p:nvSpPr>
        <p:spPr>
          <a:xfrm>
            <a:off x="5315834" y="2318612"/>
            <a:ext cx="10729532" cy="962660"/>
          </a:xfrm>
          <a:prstGeom prst="rect">
            <a:avLst/>
          </a:prstGeom>
        </p:spPr>
        <p:txBody>
          <a:bodyPr lIns="0" tIns="0" rIns="0" bIns="0" rtlCol="0" anchor="t">
            <a:spAutoFit/>
          </a:bodyPr>
          <a:lstStyle/>
          <a:p>
            <a:pPr algn="r" rtl="1">
              <a:lnSpc>
                <a:spcPts val="7840"/>
              </a:lnSpc>
            </a:pPr>
            <a:r>
              <a:rPr lang="ar-EG" sz="5600">
                <a:solidFill>
                  <a:srgbClr val="020101"/>
                </a:solidFill>
                <a:latin typeface="Neirizi"/>
                <a:ea typeface="Neirizi"/>
                <a:cs typeface="Neirizi"/>
                <a:sym typeface="Neirizi"/>
                <a:rtl/>
              </a:rPr>
              <a:t>علم النفس في المعجم اللغوي العربي : </a:t>
            </a:r>
          </a:p>
        </p:txBody>
      </p:sp>
      <p:sp>
        <p:nvSpPr>
          <p:cNvPr id="11" name="TextBox 11"/>
          <p:cNvSpPr txBox="1"/>
          <p:nvPr/>
        </p:nvSpPr>
        <p:spPr>
          <a:xfrm>
            <a:off x="587731" y="4846003"/>
            <a:ext cx="16137616" cy="537845"/>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ar-EG" sz="3200" u="none" strike="noStrike" dirty="0">
                <a:solidFill>
                  <a:srgbClr val="020101"/>
                </a:solidFill>
                <a:latin typeface="29LT Riwaya"/>
                <a:ea typeface="29LT Riwaya"/>
                <a:cs typeface="29LT Riwaya"/>
                <a:sym typeface="29LT Riwaya"/>
                <a:rtl/>
              </a:rPr>
              <a:t>العلم الذي يدرس سلوك الإنسان ودوافعه وانفعالاته وعملياته العقلية بهدف فهم السلوك الإنساني وتفسيره والتنبؤ به.</a:t>
            </a:r>
          </a:p>
        </p:txBody>
      </p:sp>
      <p:sp>
        <p:nvSpPr>
          <p:cNvPr id="12" name="TextBox 12"/>
          <p:cNvSpPr txBox="1"/>
          <p:nvPr/>
        </p:nvSpPr>
        <p:spPr>
          <a:xfrm>
            <a:off x="842082" y="7354174"/>
            <a:ext cx="15904258" cy="577081"/>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ar-EG" sz="3200" u="none" strike="noStrike" dirty="0">
                <a:solidFill>
                  <a:srgbClr val="020101"/>
                </a:solidFill>
                <a:latin typeface="29LT Riwaya"/>
                <a:ea typeface="29LT Riwaya"/>
                <a:cs typeface="29LT Riwaya"/>
                <a:sym typeface="29LT Riwaya"/>
                <a:rtl/>
              </a:rPr>
              <a:t>الكلمة</a:t>
            </a:r>
            <a:r>
              <a:rPr lang="ar-SA" sz="3200" u="none" strike="noStrike" dirty="0">
                <a:solidFill>
                  <a:srgbClr val="020101"/>
                </a:solidFill>
                <a:latin typeface="29LT Riwaya"/>
                <a:ea typeface="29LT Riwaya"/>
                <a:cs typeface="29LT Riwaya"/>
                <a:sym typeface="29LT Riwaya"/>
                <a:rtl/>
              </a:rPr>
              <a:t> المرادفة</a:t>
            </a:r>
            <a:r>
              <a:rPr lang="ar-EG" sz="3200" u="none" strike="noStrike" dirty="0">
                <a:solidFill>
                  <a:srgbClr val="020101"/>
                </a:solidFill>
                <a:latin typeface="29LT Riwaya"/>
                <a:ea typeface="29LT Riwaya"/>
                <a:cs typeface="29LT Riwaya"/>
                <a:sym typeface="29LT Riwaya"/>
                <a:rtl/>
              </a:rPr>
              <a:t> </a:t>
            </a:r>
            <a:r>
              <a:rPr lang="ar-SA" sz="3200" u="none" strike="noStrike" dirty="0">
                <a:solidFill>
                  <a:srgbClr val="020101"/>
                </a:solidFill>
                <a:latin typeface="29LT Riwaya"/>
                <a:ea typeface="29LT Riwaya"/>
                <a:cs typeface="29LT Riwaya"/>
                <a:sym typeface="29LT Riwaya"/>
                <a:rtl/>
              </a:rPr>
              <a:t>هي </a:t>
            </a:r>
            <a:r>
              <a:rPr lang="en-US" sz="3200" b="1" u="none" strike="noStrike" dirty="0" err="1">
                <a:solidFill>
                  <a:srgbClr val="020101"/>
                </a:solidFill>
                <a:latin typeface="29LT Riwaya Bold"/>
                <a:ea typeface="29LT Riwaya Bold"/>
                <a:cs typeface="29LT Riwaya Bold"/>
                <a:sym typeface="29LT Riwaya Bold"/>
              </a:rPr>
              <a:t>Psychologie</a:t>
            </a:r>
            <a:r>
              <a:rPr lang="ar-EG" sz="3200" b="1" u="none" strike="noStrike" dirty="0">
                <a:solidFill>
                  <a:srgbClr val="020101"/>
                </a:solidFill>
                <a:latin typeface="29LT Riwaya Bold"/>
                <a:ea typeface="29LT Riwaya Bold"/>
                <a:cs typeface="29LT Riwaya Bold"/>
                <a:sym typeface="29LT Riwaya Bold"/>
                <a:rtl/>
              </a:rPr>
              <a:t> </a:t>
            </a:r>
            <a:r>
              <a:rPr lang="ar-SA" sz="3200" b="1" u="none" strike="noStrike" dirty="0">
                <a:solidFill>
                  <a:srgbClr val="020101"/>
                </a:solidFill>
                <a:latin typeface="29LT Riwaya Bold"/>
                <a:ea typeface="29LT Riwaya Bold"/>
                <a:cs typeface="29LT Riwaya Bold"/>
                <a:sym typeface="29LT Riwaya Bold"/>
                <a:rtl/>
              </a:rPr>
              <a:t>و</a:t>
            </a:r>
            <a:r>
              <a:rPr lang="ar-EG" sz="3200" u="none" strike="noStrike" dirty="0">
                <a:solidFill>
                  <a:srgbClr val="020101"/>
                </a:solidFill>
                <a:latin typeface="29LT Riwaya"/>
                <a:ea typeface="29LT Riwaya"/>
                <a:cs typeface="29LT Riwaya"/>
                <a:sym typeface="29LT Riwaya"/>
                <a:rtl/>
              </a:rPr>
              <a:t>ال</a:t>
            </a:r>
            <a:r>
              <a:rPr lang="ar-SA" sz="3200" u="none" strike="noStrike" dirty="0">
                <a:solidFill>
                  <a:srgbClr val="020101"/>
                </a:solidFill>
                <a:latin typeface="29LT Riwaya"/>
                <a:ea typeface="29LT Riwaya"/>
                <a:cs typeface="29LT Riwaya"/>
                <a:sym typeface="29LT Riwaya"/>
                <a:rtl/>
              </a:rPr>
              <a:t>ت</a:t>
            </a:r>
            <a:r>
              <a:rPr lang="ar-EG" sz="3200" u="none" strike="noStrike" dirty="0">
                <a:solidFill>
                  <a:srgbClr val="020101"/>
                </a:solidFill>
                <a:latin typeface="29LT Riwaya"/>
                <a:ea typeface="29LT Riwaya"/>
                <a:cs typeface="29LT Riwaya"/>
                <a:sym typeface="29LT Riwaya"/>
                <a:rtl/>
              </a:rPr>
              <a:t>ي </a:t>
            </a:r>
            <a:r>
              <a:rPr lang="ar-SA" sz="3200" dirty="0">
                <a:solidFill>
                  <a:srgbClr val="020101"/>
                </a:solidFill>
                <a:latin typeface="29LT Riwaya"/>
                <a:ea typeface="29LT Riwaya"/>
                <a:cs typeface="29LT Riwaya"/>
                <a:sym typeface="29LT Riwaya"/>
                <a:rtl/>
              </a:rPr>
              <a:t>ت</a:t>
            </a:r>
            <a:r>
              <a:rPr lang="ar-EG" sz="3200" u="none" strike="noStrike" dirty="0">
                <a:solidFill>
                  <a:srgbClr val="020101"/>
                </a:solidFill>
                <a:latin typeface="29LT Riwaya"/>
                <a:ea typeface="29LT Riwaya"/>
                <a:cs typeface="29LT Riwaya"/>
                <a:sym typeface="29LT Riwaya"/>
                <a:rtl/>
              </a:rPr>
              <a:t>تكوّن من </a:t>
            </a:r>
            <a:r>
              <a:rPr lang="en-US" sz="3200" b="1" u="none" strike="noStrike" dirty="0">
                <a:solidFill>
                  <a:srgbClr val="020101"/>
                </a:solidFill>
                <a:latin typeface="29LT Riwaya Bold"/>
                <a:ea typeface="29LT Riwaya Bold"/>
                <a:cs typeface="29LT Riwaya Bold"/>
                <a:sym typeface="29LT Riwaya Bold"/>
              </a:rPr>
              <a:t>Psyche</a:t>
            </a:r>
            <a:r>
              <a:rPr lang="ar-EG" sz="3200" u="none" strike="noStrike" dirty="0">
                <a:solidFill>
                  <a:srgbClr val="020101"/>
                </a:solidFill>
                <a:latin typeface="29LT Riwaya"/>
                <a:ea typeface="29LT Riwaya"/>
                <a:cs typeface="29LT Riwaya"/>
                <a:sym typeface="29LT Riwaya"/>
                <a:rtl/>
              </a:rPr>
              <a:t>: النفس أو الروح و </a:t>
            </a:r>
            <a:r>
              <a:rPr lang="en-US" sz="3200" b="1" u="none" strike="noStrike" dirty="0">
                <a:solidFill>
                  <a:srgbClr val="020101"/>
                </a:solidFill>
                <a:latin typeface="29LT Riwaya Bold"/>
                <a:ea typeface="29LT Riwaya Bold"/>
                <a:cs typeface="29LT Riwaya Bold"/>
                <a:sym typeface="29LT Riwaya Bold"/>
              </a:rPr>
              <a:t>Logos</a:t>
            </a:r>
            <a:r>
              <a:rPr lang="ar-EG" sz="3200" u="none" strike="noStrike" dirty="0">
                <a:solidFill>
                  <a:srgbClr val="020101"/>
                </a:solidFill>
                <a:latin typeface="29LT Riwaya"/>
                <a:ea typeface="29LT Riwaya"/>
                <a:cs typeface="29LT Riwaya"/>
                <a:sym typeface="29LT Riwaya"/>
                <a:rtl/>
              </a:rPr>
              <a:t>: العلم أو الدراسة.</a:t>
            </a:r>
          </a:p>
        </p:txBody>
      </p:sp>
      <p:sp>
        <p:nvSpPr>
          <p:cNvPr id="13" name="TextBox 13"/>
          <p:cNvSpPr txBox="1"/>
          <p:nvPr/>
        </p:nvSpPr>
        <p:spPr>
          <a:xfrm>
            <a:off x="6869385" y="6181965"/>
            <a:ext cx="9175982" cy="962660"/>
          </a:xfrm>
          <a:prstGeom prst="rect">
            <a:avLst/>
          </a:prstGeom>
        </p:spPr>
        <p:txBody>
          <a:bodyPr lIns="0" tIns="0" rIns="0" bIns="0" rtlCol="0" anchor="t">
            <a:spAutoFit/>
          </a:bodyPr>
          <a:lstStyle/>
          <a:p>
            <a:pPr algn="r" rtl="1">
              <a:lnSpc>
                <a:spcPts val="7840"/>
              </a:lnSpc>
            </a:pPr>
            <a:r>
              <a:rPr lang="ar-EG" sz="5600">
                <a:solidFill>
                  <a:srgbClr val="020101"/>
                </a:solidFill>
                <a:latin typeface="Neirizi"/>
                <a:ea typeface="Neirizi"/>
                <a:cs typeface="Neirizi"/>
                <a:sym typeface="Neirizi"/>
                <a:rtl/>
              </a:rPr>
              <a:t>علم النفس في المعجم اللغوي الغربي : </a:t>
            </a:r>
          </a:p>
        </p:txBody>
      </p:sp>
      <p:sp>
        <p:nvSpPr>
          <p:cNvPr id="14" name="TextBox 14"/>
          <p:cNvSpPr txBox="1"/>
          <p:nvPr/>
        </p:nvSpPr>
        <p:spPr>
          <a:xfrm>
            <a:off x="1850964" y="8546783"/>
            <a:ext cx="14874382" cy="537845"/>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ar-EG" sz="3200" u="none" strike="noStrike" dirty="0">
                <a:solidFill>
                  <a:srgbClr val="020101"/>
                </a:solidFill>
                <a:latin typeface="29LT Riwaya"/>
                <a:ea typeface="29LT Riwaya"/>
                <a:cs typeface="29LT Riwaya"/>
                <a:sym typeface="29LT Riwaya"/>
                <a:rtl/>
              </a:rPr>
              <a:t> العلم الذي يدرس سلوك الإنسان وعملياته العقلية والنفسية بهدف فهمها وتفسيرها.</a:t>
            </a:r>
          </a:p>
        </p:txBody>
      </p:sp>
      <p:sp>
        <p:nvSpPr>
          <p:cNvPr id="15" name="Freeform 15"/>
          <p:cNvSpPr/>
          <p:nvPr/>
        </p:nvSpPr>
        <p:spPr>
          <a:xfrm>
            <a:off x="16965416" y="1028700"/>
            <a:ext cx="5146086" cy="7347571"/>
          </a:xfrm>
          <a:custGeom>
            <a:avLst/>
            <a:gdLst/>
            <a:ahLst/>
            <a:cxnLst/>
            <a:rect l="l" t="t" r="r" b="b"/>
            <a:pathLst>
              <a:path w="5146086" h="7347571">
                <a:moveTo>
                  <a:pt x="0" y="0"/>
                </a:moveTo>
                <a:lnTo>
                  <a:pt x="5146086" y="0"/>
                </a:lnTo>
                <a:lnTo>
                  <a:pt x="5146086" y="7347571"/>
                </a:lnTo>
                <a:lnTo>
                  <a:pt x="0" y="7347571"/>
                </a:lnTo>
                <a:lnTo>
                  <a:pt x="0" y="0"/>
                </a:lnTo>
                <a:close/>
              </a:path>
            </a:pathLst>
          </a:custGeom>
          <a:blipFill>
            <a:blip r:embed="rId4"/>
            <a:stretch>
              <a:fillRect/>
            </a:stretch>
          </a:blipFill>
        </p:spPr>
      </p:sp>
      <p:sp>
        <p:nvSpPr>
          <p:cNvPr id="16" name="TextBox 16"/>
          <p:cNvSpPr txBox="1"/>
          <p:nvPr/>
        </p:nvSpPr>
        <p:spPr>
          <a:xfrm>
            <a:off x="2122619" y="9374822"/>
            <a:ext cx="14623721" cy="537845"/>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ar-EG" sz="3200" u="none" strike="noStrike" dirty="0">
                <a:solidFill>
                  <a:srgbClr val="020101"/>
                </a:solidFill>
                <a:latin typeface="29LT Riwaya"/>
                <a:ea typeface="29LT Riwaya"/>
                <a:cs typeface="29LT Riwaya"/>
                <a:sym typeface="29LT Riwaya"/>
                <a:rtl/>
              </a:rPr>
              <a:t>العلم الذي يدرس سلوك الإنسان والعمليات العقلية مثل: التفكير, الإدراك, التعلم, الانفعالات, الدوافع.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4"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666" b="-38666"/>
            </a:stretch>
          </a:blipFill>
        </p:spPr>
      </p:sp>
      <p:sp>
        <p:nvSpPr>
          <p:cNvPr id="3" name="Freeform 3"/>
          <p:cNvSpPr/>
          <p:nvPr/>
        </p:nvSpPr>
        <p:spPr>
          <a:xfrm>
            <a:off x="16047694" y="6643485"/>
            <a:ext cx="5959136" cy="6736658"/>
          </a:xfrm>
          <a:custGeom>
            <a:avLst/>
            <a:gdLst/>
            <a:ahLst/>
            <a:cxnLst/>
            <a:rect l="l" t="t" r="r" b="b"/>
            <a:pathLst>
              <a:path w="5959136" h="6736658">
                <a:moveTo>
                  <a:pt x="0" y="0"/>
                </a:moveTo>
                <a:lnTo>
                  <a:pt x="5959136" y="0"/>
                </a:lnTo>
                <a:lnTo>
                  <a:pt x="5959136" y="6736659"/>
                </a:lnTo>
                <a:lnTo>
                  <a:pt x="0" y="6736659"/>
                </a:lnTo>
                <a:lnTo>
                  <a:pt x="0" y="0"/>
                </a:lnTo>
                <a:close/>
              </a:path>
            </a:pathLst>
          </a:custGeom>
          <a:blipFill>
            <a:blip r:embed="rId3"/>
            <a:stretch>
              <a:fillRect/>
            </a:stretch>
          </a:blipFill>
        </p:spPr>
      </p:sp>
      <p:sp>
        <p:nvSpPr>
          <p:cNvPr id="4" name="Freeform 4"/>
          <p:cNvSpPr/>
          <p:nvPr/>
        </p:nvSpPr>
        <p:spPr>
          <a:xfrm rot="-10800000">
            <a:off x="-3929803" y="1908103"/>
            <a:ext cx="5146086" cy="7347571"/>
          </a:xfrm>
          <a:custGeom>
            <a:avLst/>
            <a:gdLst/>
            <a:ahLst/>
            <a:cxnLst/>
            <a:rect l="l" t="t" r="r" b="b"/>
            <a:pathLst>
              <a:path w="5146086" h="7347571">
                <a:moveTo>
                  <a:pt x="0" y="0"/>
                </a:moveTo>
                <a:lnTo>
                  <a:pt x="5146086" y="0"/>
                </a:lnTo>
                <a:lnTo>
                  <a:pt x="5146086" y="7347571"/>
                </a:lnTo>
                <a:lnTo>
                  <a:pt x="0" y="7347571"/>
                </a:lnTo>
                <a:lnTo>
                  <a:pt x="0" y="0"/>
                </a:lnTo>
                <a:close/>
              </a:path>
            </a:pathLst>
          </a:custGeom>
          <a:blipFill>
            <a:blip r:embed="rId4"/>
            <a:stretch>
              <a:fillRect/>
            </a:stretch>
          </a:blipFill>
        </p:spPr>
      </p:sp>
      <p:sp>
        <p:nvSpPr>
          <p:cNvPr id="5" name="Freeform 5"/>
          <p:cNvSpPr/>
          <p:nvPr/>
        </p:nvSpPr>
        <p:spPr>
          <a:xfrm rot="-10800000">
            <a:off x="-2364533" y="-2903104"/>
            <a:ext cx="5959136" cy="6736658"/>
          </a:xfrm>
          <a:custGeom>
            <a:avLst/>
            <a:gdLst/>
            <a:ahLst/>
            <a:cxnLst/>
            <a:rect l="l" t="t" r="r" b="b"/>
            <a:pathLst>
              <a:path w="5959136" h="6736658">
                <a:moveTo>
                  <a:pt x="0" y="0"/>
                </a:moveTo>
                <a:lnTo>
                  <a:pt x="5959135" y="0"/>
                </a:lnTo>
                <a:lnTo>
                  <a:pt x="5959135" y="6736658"/>
                </a:lnTo>
                <a:lnTo>
                  <a:pt x="0" y="6736658"/>
                </a:lnTo>
                <a:lnTo>
                  <a:pt x="0" y="0"/>
                </a:lnTo>
                <a:close/>
              </a:path>
            </a:pathLst>
          </a:custGeom>
          <a:blipFill>
            <a:blip r:embed="rId3"/>
            <a:stretch>
              <a:fillRect/>
            </a:stretch>
          </a:blipFill>
        </p:spPr>
      </p:sp>
      <p:sp>
        <p:nvSpPr>
          <p:cNvPr id="6" name="Freeform 6"/>
          <p:cNvSpPr/>
          <p:nvPr/>
        </p:nvSpPr>
        <p:spPr>
          <a:xfrm rot="-10800000" flipH="1" flipV="1">
            <a:off x="11673246" y="-4828555"/>
            <a:ext cx="8312586" cy="6736658"/>
          </a:xfrm>
          <a:custGeom>
            <a:avLst/>
            <a:gdLst/>
            <a:ahLst/>
            <a:cxnLst/>
            <a:rect l="l" t="t" r="r" b="b"/>
            <a:pathLst>
              <a:path w="8312586" h="6736658">
                <a:moveTo>
                  <a:pt x="8312586" y="6736658"/>
                </a:moveTo>
                <a:lnTo>
                  <a:pt x="0" y="6736658"/>
                </a:lnTo>
                <a:lnTo>
                  <a:pt x="0" y="0"/>
                </a:lnTo>
                <a:lnTo>
                  <a:pt x="8312586" y="0"/>
                </a:lnTo>
                <a:lnTo>
                  <a:pt x="8312586" y="6736658"/>
                </a:lnTo>
                <a:close/>
              </a:path>
            </a:pathLst>
          </a:custGeom>
          <a:blipFill>
            <a:blip r:embed="rId5"/>
            <a:stretch>
              <a:fillRect/>
            </a:stretch>
          </a:blipFill>
        </p:spPr>
      </p:sp>
      <p:sp>
        <p:nvSpPr>
          <p:cNvPr id="7" name="Freeform 7"/>
          <p:cNvSpPr/>
          <p:nvPr/>
        </p:nvSpPr>
        <p:spPr>
          <a:xfrm rot="-10800000">
            <a:off x="-4432518" y="8376271"/>
            <a:ext cx="8312586" cy="6736658"/>
          </a:xfrm>
          <a:custGeom>
            <a:avLst/>
            <a:gdLst/>
            <a:ahLst/>
            <a:cxnLst/>
            <a:rect l="l" t="t" r="r" b="b"/>
            <a:pathLst>
              <a:path w="8312586" h="6736658">
                <a:moveTo>
                  <a:pt x="0" y="0"/>
                </a:moveTo>
                <a:lnTo>
                  <a:pt x="8312586" y="0"/>
                </a:lnTo>
                <a:lnTo>
                  <a:pt x="8312586" y="6736658"/>
                </a:lnTo>
                <a:lnTo>
                  <a:pt x="0" y="6736658"/>
                </a:lnTo>
                <a:lnTo>
                  <a:pt x="0" y="0"/>
                </a:lnTo>
                <a:close/>
              </a:path>
            </a:pathLst>
          </a:custGeom>
          <a:blipFill>
            <a:blip r:embed="rId5"/>
            <a:stretch>
              <a:fillRect/>
            </a:stretch>
          </a:blipFill>
        </p:spPr>
      </p:sp>
      <p:sp>
        <p:nvSpPr>
          <p:cNvPr id="8" name="TextBox 8"/>
          <p:cNvSpPr txBox="1"/>
          <p:nvPr/>
        </p:nvSpPr>
        <p:spPr>
          <a:xfrm>
            <a:off x="4766177" y="284250"/>
            <a:ext cx="8755645" cy="1502285"/>
          </a:xfrm>
          <a:prstGeom prst="rect">
            <a:avLst/>
          </a:prstGeom>
        </p:spPr>
        <p:txBody>
          <a:bodyPr lIns="0" tIns="0" rIns="0" bIns="0" rtlCol="0" anchor="t">
            <a:spAutoFit/>
          </a:bodyPr>
          <a:lstStyle/>
          <a:p>
            <a:pPr algn="ctr" rtl="1">
              <a:lnSpc>
                <a:spcPts val="12221"/>
              </a:lnSpc>
            </a:pPr>
            <a:r>
              <a:rPr lang="ar-EG" sz="8729">
                <a:solidFill>
                  <a:srgbClr val="020101"/>
                </a:solidFill>
                <a:latin typeface="Neirizi"/>
                <a:ea typeface="Neirizi"/>
                <a:cs typeface="Neirizi"/>
                <a:sym typeface="Neirizi"/>
                <a:rtl/>
              </a:rPr>
              <a:t>مفاهيم ومصطلحات</a:t>
            </a:r>
          </a:p>
        </p:txBody>
      </p:sp>
      <p:sp>
        <p:nvSpPr>
          <p:cNvPr id="9" name="TextBox 9"/>
          <p:cNvSpPr txBox="1"/>
          <p:nvPr/>
        </p:nvSpPr>
        <p:spPr>
          <a:xfrm>
            <a:off x="1225808" y="3531547"/>
            <a:ext cx="15428387" cy="1154162"/>
          </a:xfrm>
          <a:prstGeom prst="rect">
            <a:avLst/>
          </a:prstGeom>
        </p:spPr>
        <p:txBody>
          <a:bodyPr lIns="0" tIns="0" rIns="0" bIns="0" rtlCol="0" anchor="t">
            <a:spAutoFit/>
          </a:bodyPr>
          <a:lstStyle/>
          <a:p>
            <a:pPr marL="690881" lvl="1" indent="-345440" algn="just" rtl="1">
              <a:lnSpc>
                <a:spcPts val="4480"/>
              </a:lnSpc>
              <a:buFont typeface="Arial"/>
              <a:buChar char="•"/>
            </a:pPr>
            <a:r>
              <a:rPr lang="ar-EG" sz="3200" dirty="0">
                <a:solidFill>
                  <a:srgbClr val="020101"/>
                </a:solidFill>
                <a:latin typeface="29LT Riwaya"/>
                <a:ea typeface="29LT Riwaya"/>
                <a:cs typeface="29LT Riwaya"/>
                <a:sym typeface="29LT Riwaya"/>
                <a:rtl/>
              </a:rPr>
              <a:t>تتكون من ثلاث كلمات </a:t>
            </a:r>
            <a:r>
              <a:rPr lang="ar-EG" sz="3200" b="1" dirty="0">
                <a:solidFill>
                  <a:srgbClr val="020101"/>
                </a:solidFill>
                <a:latin typeface="29LT Riwaya Bold"/>
                <a:ea typeface="29LT Riwaya Bold"/>
                <a:cs typeface="29LT Riwaya Bold"/>
                <a:sym typeface="29LT Riwaya Bold"/>
                <a:rtl/>
              </a:rPr>
              <a:t>ا</a:t>
            </a:r>
            <a:r>
              <a:rPr lang="ar-EG" sz="3200" b="1" u="none" strike="noStrike" dirty="0">
                <a:solidFill>
                  <a:srgbClr val="020101"/>
                </a:solidFill>
                <a:latin typeface="29LT Riwaya Bold"/>
                <a:ea typeface="29LT Riwaya Bold"/>
                <a:cs typeface="29LT Riwaya Bold"/>
                <a:sym typeface="29LT Riwaya Bold"/>
                <a:rtl/>
              </a:rPr>
              <a:t>لعِلم</a:t>
            </a:r>
            <a:r>
              <a:rPr lang="ar-EG" sz="3200" u="none" strike="noStrike" dirty="0">
                <a:solidFill>
                  <a:srgbClr val="020101"/>
                </a:solidFill>
                <a:latin typeface="29LT Riwaya"/>
                <a:ea typeface="29LT Riwaya"/>
                <a:cs typeface="29LT Riwaya"/>
                <a:sym typeface="29LT Riwaya"/>
                <a:rtl/>
              </a:rPr>
              <a:t>: هو الإدراك والمعرفة والفهم. </a:t>
            </a:r>
            <a:r>
              <a:rPr lang="ar-EG" sz="3200" b="1" u="none" strike="noStrike" dirty="0">
                <a:solidFill>
                  <a:srgbClr val="020101"/>
                </a:solidFill>
                <a:latin typeface="29LT Riwaya Bold"/>
                <a:ea typeface="29LT Riwaya Bold"/>
                <a:cs typeface="29LT Riwaya Bold"/>
                <a:sym typeface="29LT Riwaya Bold"/>
                <a:rtl/>
              </a:rPr>
              <a:t>النفس</a:t>
            </a:r>
            <a:r>
              <a:rPr lang="ar-EG" sz="3200" u="none" strike="noStrike" dirty="0">
                <a:solidFill>
                  <a:srgbClr val="020101"/>
                </a:solidFill>
                <a:latin typeface="29LT Riwaya"/>
                <a:ea typeface="29LT Riwaya"/>
                <a:cs typeface="29LT Riwaya"/>
                <a:sym typeface="29LT Riwaya"/>
                <a:rtl/>
              </a:rPr>
              <a:t>: الروح، أو ذات </a:t>
            </a:r>
            <a:r>
              <a:rPr lang="ar-SA" sz="3200" u="none" strike="noStrike" dirty="0">
                <a:solidFill>
                  <a:srgbClr val="020101"/>
                </a:solidFill>
                <a:latin typeface="29LT Riwaya"/>
                <a:ea typeface="29LT Riwaya"/>
                <a:cs typeface="29LT Riwaya"/>
                <a:sym typeface="29LT Riwaya"/>
                <a:rtl/>
              </a:rPr>
              <a:t>ا</a:t>
            </a:r>
            <a:r>
              <a:rPr lang="ar-SA" sz="3200" dirty="0">
                <a:solidFill>
                  <a:srgbClr val="020101"/>
                </a:solidFill>
                <a:latin typeface="29LT Riwaya"/>
                <a:ea typeface="29LT Riwaya"/>
                <a:cs typeface="29LT Riwaya"/>
                <a:rtl/>
              </a:rPr>
              <a:t>لشيء</a:t>
            </a:r>
            <a:r>
              <a:rPr lang="ar-EG" sz="3200" u="none" strike="noStrike" dirty="0">
                <a:solidFill>
                  <a:srgbClr val="020101"/>
                </a:solidFill>
                <a:latin typeface="29LT Riwaya"/>
                <a:ea typeface="29LT Riwaya"/>
                <a:cs typeface="29LT Riwaya"/>
                <a:sym typeface="29LT Riwaya"/>
                <a:rtl/>
              </a:rPr>
              <a:t>، وما يصدر عنها من مشاعر وأحاسيس.  </a:t>
            </a:r>
            <a:r>
              <a:rPr lang="ar-EG" sz="3200" b="1" u="none" strike="noStrike" dirty="0">
                <a:solidFill>
                  <a:srgbClr val="020101"/>
                </a:solidFill>
                <a:latin typeface="29LT Riwaya Bold"/>
                <a:ea typeface="29LT Riwaya Bold"/>
                <a:cs typeface="29LT Riwaya Bold"/>
                <a:sym typeface="29LT Riwaya Bold"/>
                <a:rtl/>
              </a:rPr>
              <a:t>النمو</a:t>
            </a:r>
            <a:r>
              <a:rPr lang="ar-EG" sz="3200" u="none" strike="noStrike" dirty="0">
                <a:solidFill>
                  <a:srgbClr val="020101"/>
                </a:solidFill>
                <a:latin typeface="29LT Riwaya"/>
                <a:ea typeface="29LT Riwaya"/>
                <a:cs typeface="29LT Riwaya"/>
                <a:sym typeface="29LT Riwaya"/>
                <a:rtl/>
              </a:rPr>
              <a:t>: الزيادة والتطور الجسدي أو العقلي أو الاجتماعي.</a:t>
            </a:r>
          </a:p>
        </p:txBody>
      </p:sp>
      <p:sp>
        <p:nvSpPr>
          <p:cNvPr id="10" name="TextBox 10"/>
          <p:cNvSpPr txBox="1"/>
          <p:nvPr/>
        </p:nvSpPr>
        <p:spPr>
          <a:xfrm>
            <a:off x="4772320" y="2280441"/>
            <a:ext cx="10729532" cy="962660"/>
          </a:xfrm>
          <a:prstGeom prst="rect">
            <a:avLst/>
          </a:prstGeom>
        </p:spPr>
        <p:txBody>
          <a:bodyPr lIns="0" tIns="0" rIns="0" bIns="0" rtlCol="0" anchor="t">
            <a:spAutoFit/>
          </a:bodyPr>
          <a:lstStyle/>
          <a:p>
            <a:pPr algn="r" rtl="1">
              <a:lnSpc>
                <a:spcPts val="7840"/>
              </a:lnSpc>
            </a:pPr>
            <a:r>
              <a:rPr lang="ar-EG" sz="5600">
                <a:solidFill>
                  <a:srgbClr val="020101"/>
                </a:solidFill>
                <a:latin typeface="Neirizi"/>
                <a:ea typeface="Neirizi"/>
                <a:cs typeface="Neirizi"/>
                <a:sym typeface="Neirizi"/>
                <a:rtl/>
              </a:rPr>
              <a:t>علم نفس النمو في المعجم اللغوي العربي : </a:t>
            </a:r>
          </a:p>
        </p:txBody>
      </p:sp>
      <p:sp>
        <p:nvSpPr>
          <p:cNvPr id="11" name="TextBox 11"/>
          <p:cNvSpPr txBox="1"/>
          <p:nvPr/>
        </p:nvSpPr>
        <p:spPr>
          <a:xfrm>
            <a:off x="1028700" y="4902841"/>
            <a:ext cx="15633665" cy="1099820"/>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ar-EG" sz="3200" b="1" u="none" strike="noStrike" dirty="0">
                <a:solidFill>
                  <a:srgbClr val="020101"/>
                </a:solidFill>
                <a:latin typeface="29LT Riwaya Bold"/>
                <a:ea typeface="29LT Riwaya Bold"/>
                <a:cs typeface="29LT Riwaya Bold"/>
                <a:sym typeface="29LT Riwaya Bold"/>
                <a:rtl/>
              </a:rPr>
              <a:t>فرع </a:t>
            </a:r>
            <a:r>
              <a:rPr lang="ar-EG" sz="3200" u="none" strike="noStrike" dirty="0">
                <a:solidFill>
                  <a:srgbClr val="020101"/>
                </a:solidFill>
                <a:latin typeface="29LT Riwaya"/>
                <a:ea typeface="29LT Riwaya"/>
                <a:cs typeface="29LT Riwaya"/>
                <a:sym typeface="29LT Riwaya"/>
                <a:rtl/>
              </a:rPr>
              <a:t>من علم النفس يدرس مراحل تطور الإنسان </a:t>
            </a:r>
            <a:r>
              <a:rPr lang="ar-EG" sz="3200" b="1" u="none" strike="noStrike" dirty="0">
                <a:solidFill>
                  <a:srgbClr val="020101"/>
                </a:solidFill>
                <a:latin typeface="29LT Riwaya Bold"/>
                <a:ea typeface="29LT Riwaya Bold"/>
                <a:cs typeface="29LT Riwaya Bold"/>
                <a:sym typeface="29LT Riwaya Bold"/>
                <a:rtl/>
              </a:rPr>
              <a:t>من الطفولة إلى الشيخوخة</a:t>
            </a:r>
            <a:r>
              <a:rPr lang="ar-EG" sz="3200" u="none" strike="noStrike" dirty="0">
                <a:solidFill>
                  <a:srgbClr val="020101"/>
                </a:solidFill>
                <a:latin typeface="29LT Riwaya"/>
                <a:ea typeface="29LT Riwaya"/>
                <a:cs typeface="29LT Riwaya"/>
                <a:sym typeface="29LT Riwaya"/>
                <a:rtl/>
              </a:rPr>
              <a:t>، مع التركيز على النمو الجسدي، العقلي، الانفعالي، والاجتماعي، بهدف فهم التغيرات التي تحدث خلال حياة الإنسان وتفسيرها والتنبؤ بها.</a:t>
            </a:r>
          </a:p>
        </p:txBody>
      </p:sp>
      <p:sp>
        <p:nvSpPr>
          <p:cNvPr id="12" name="TextBox 12"/>
          <p:cNvSpPr txBox="1"/>
          <p:nvPr/>
        </p:nvSpPr>
        <p:spPr>
          <a:xfrm>
            <a:off x="996039" y="7517537"/>
            <a:ext cx="15461048" cy="1099820"/>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en-US" sz="3200" b="1" u="none" strike="noStrike" dirty="0" err="1">
                <a:solidFill>
                  <a:srgbClr val="020101"/>
                </a:solidFill>
                <a:latin typeface="29LT Riwaya Bold"/>
                <a:ea typeface="29LT Riwaya Bold"/>
                <a:cs typeface="29LT Riwaya Bold"/>
                <a:sym typeface="29LT Riwaya Bold"/>
              </a:rPr>
              <a:t>Psychologie</a:t>
            </a:r>
            <a:r>
              <a:rPr lang="ar-EG" sz="3200" u="none" strike="noStrike" dirty="0">
                <a:solidFill>
                  <a:srgbClr val="020101"/>
                </a:solidFill>
                <a:latin typeface="29LT Riwaya"/>
                <a:ea typeface="29LT Riwaya"/>
                <a:cs typeface="29LT Riwaya"/>
                <a:sym typeface="29LT Riwaya"/>
                <a:rtl/>
              </a:rPr>
              <a:t>: علم النفس، أي دراسة النفس والسلوك. </a:t>
            </a:r>
            <a:r>
              <a:rPr lang="en-US" sz="3200" b="1" u="none" strike="noStrike" dirty="0">
                <a:solidFill>
                  <a:srgbClr val="020101"/>
                </a:solidFill>
                <a:latin typeface="29LT Riwaya Bold"/>
                <a:ea typeface="29LT Riwaya Bold"/>
                <a:cs typeface="29LT Riwaya Bold"/>
                <a:sym typeface="29LT Riwaya Bold"/>
              </a:rPr>
              <a:t>Développement</a:t>
            </a:r>
            <a:r>
              <a:rPr lang="ar-EG" sz="3200" u="none" strike="noStrike" dirty="0">
                <a:solidFill>
                  <a:srgbClr val="020101"/>
                </a:solidFill>
                <a:latin typeface="29LT Riwaya"/>
                <a:ea typeface="29LT Riwaya"/>
                <a:cs typeface="29LT Riwaya"/>
                <a:sym typeface="29LT Riwaya"/>
                <a:rtl/>
              </a:rPr>
              <a:t>: التطور أو النمو في مختلف جوانب الكائن البشري.</a:t>
            </a:r>
          </a:p>
        </p:txBody>
      </p:sp>
      <p:sp>
        <p:nvSpPr>
          <p:cNvPr id="13" name="TextBox 13"/>
          <p:cNvSpPr txBox="1"/>
          <p:nvPr/>
        </p:nvSpPr>
        <p:spPr>
          <a:xfrm>
            <a:off x="5297168" y="6317470"/>
            <a:ext cx="10204684" cy="962660"/>
          </a:xfrm>
          <a:prstGeom prst="rect">
            <a:avLst/>
          </a:prstGeom>
        </p:spPr>
        <p:txBody>
          <a:bodyPr lIns="0" tIns="0" rIns="0" bIns="0" rtlCol="0" anchor="t">
            <a:spAutoFit/>
          </a:bodyPr>
          <a:lstStyle/>
          <a:p>
            <a:pPr algn="r" rtl="1">
              <a:lnSpc>
                <a:spcPts val="7840"/>
              </a:lnSpc>
            </a:pPr>
            <a:r>
              <a:rPr lang="ar-EG" sz="5600">
                <a:solidFill>
                  <a:srgbClr val="020101"/>
                </a:solidFill>
                <a:latin typeface="Neirizi"/>
                <a:ea typeface="Neirizi"/>
                <a:cs typeface="Neirizi"/>
                <a:sym typeface="Neirizi"/>
                <a:rtl/>
              </a:rPr>
              <a:t>علم نفس النمو في المعجم اللغوي الغربي : </a:t>
            </a:r>
          </a:p>
        </p:txBody>
      </p:sp>
      <p:sp>
        <p:nvSpPr>
          <p:cNvPr id="14" name="Freeform 14"/>
          <p:cNvSpPr/>
          <p:nvPr/>
        </p:nvSpPr>
        <p:spPr>
          <a:xfrm>
            <a:off x="16671798" y="1028700"/>
            <a:ext cx="5146086" cy="7347571"/>
          </a:xfrm>
          <a:custGeom>
            <a:avLst/>
            <a:gdLst/>
            <a:ahLst/>
            <a:cxnLst/>
            <a:rect l="l" t="t" r="r" b="b"/>
            <a:pathLst>
              <a:path w="5146086" h="7347571">
                <a:moveTo>
                  <a:pt x="0" y="0"/>
                </a:moveTo>
                <a:lnTo>
                  <a:pt x="5146086" y="0"/>
                </a:lnTo>
                <a:lnTo>
                  <a:pt x="5146086" y="7347571"/>
                </a:lnTo>
                <a:lnTo>
                  <a:pt x="0" y="7347571"/>
                </a:lnTo>
                <a:lnTo>
                  <a:pt x="0" y="0"/>
                </a:lnTo>
                <a:close/>
              </a:path>
            </a:pathLst>
          </a:custGeom>
          <a:blipFill>
            <a:blip r:embed="rId4"/>
            <a:stretch>
              <a:fillRect/>
            </a:stretch>
          </a:blipFill>
        </p:spPr>
      </p:sp>
      <p:sp>
        <p:nvSpPr>
          <p:cNvPr id="15" name="TextBox 15"/>
          <p:cNvSpPr txBox="1"/>
          <p:nvPr/>
        </p:nvSpPr>
        <p:spPr>
          <a:xfrm>
            <a:off x="1225808" y="8840876"/>
            <a:ext cx="15174126" cy="1154162"/>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ar-EG" sz="3200" b="1" u="none" strike="noStrike" dirty="0">
                <a:solidFill>
                  <a:srgbClr val="020101"/>
                </a:solidFill>
                <a:latin typeface="29LT Riwaya Bold"/>
                <a:ea typeface="29LT Riwaya Bold"/>
                <a:cs typeface="29LT Riwaya Bold"/>
                <a:sym typeface="29LT Riwaya Bold"/>
                <a:rtl/>
              </a:rPr>
              <a:t>فرع </a:t>
            </a:r>
            <a:r>
              <a:rPr lang="ar-EG" sz="3200" u="none" strike="noStrike" dirty="0">
                <a:solidFill>
                  <a:srgbClr val="020101"/>
                </a:solidFill>
                <a:latin typeface="29LT Riwaya"/>
                <a:ea typeface="29LT Riwaya"/>
                <a:cs typeface="29LT Riwaya"/>
                <a:sym typeface="29LT Riwaya"/>
                <a:rtl/>
              </a:rPr>
              <a:t>من فروع علم النفس يدرس التغيرات الجسدية والمعرفية والعاطفية والاجتماعية لدى الإنسان </a:t>
            </a:r>
            <a:r>
              <a:rPr lang="ar-EG" sz="3200" b="1" u="none" strike="noStrike" dirty="0">
                <a:solidFill>
                  <a:srgbClr val="020101"/>
                </a:solidFill>
                <a:latin typeface="29LT Riwaya Bold"/>
                <a:ea typeface="29LT Riwaya Bold"/>
                <a:cs typeface="29LT Riwaya Bold"/>
                <a:sym typeface="29LT Riwaya Bold"/>
                <a:rtl/>
              </a:rPr>
              <a:t>من الولادة،</a:t>
            </a:r>
            <a:r>
              <a:rPr lang="en-US" sz="3200" b="1" u="none" strike="noStrike" dirty="0">
                <a:solidFill>
                  <a:srgbClr val="020101"/>
                </a:solidFill>
                <a:latin typeface="29LT Riwaya Bold"/>
                <a:ea typeface="29LT Riwaya Bold"/>
                <a:cs typeface="29LT Riwaya Bold"/>
                <a:sym typeface="29LT Riwaya Bold"/>
                <a:rtl/>
              </a:rPr>
              <a:t> </a:t>
            </a:r>
            <a:r>
              <a:rPr lang="ar-EG" sz="3200" b="1" u="none" strike="noStrike" dirty="0">
                <a:solidFill>
                  <a:srgbClr val="020101"/>
                </a:solidFill>
                <a:latin typeface="29LT Riwaya Bold"/>
                <a:ea typeface="29LT Riwaya Bold"/>
                <a:cs typeface="29LT Riwaya Bold"/>
                <a:sym typeface="29LT Riwaya Bold"/>
                <a:rtl/>
              </a:rPr>
              <a:t>سن البلوغ وحتى الشيخوخة</a:t>
            </a:r>
            <a:r>
              <a:rPr lang="ar-EG" sz="3200" u="none" strike="noStrike" dirty="0">
                <a:solidFill>
                  <a:srgbClr val="020101"/>
                </a:solidFill>
                <a:latin typeface="29LT Riwaya"/>
                <a:ea typeface="29LT Riwaya"/>
                <a:cs typeface="29LT Riwaya"/>
                <a:sym typeface="29LT Riwaya"/>
                <a:rt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3CB1E-6436-0B93-CCEB-C77C47BF8AD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275C71D-8F98-168A-97EF-A72AB7ABD1C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666" b="-38666"/>
            </a:stretch>
          </a:blipFill>
        </p:spPr>
      </p:sp>
      <p:sp>
        <p:nvSpPr>
          <p:cNvPr id="3" name="Freeform 3">
            <a:extLst>
              <a:ext uri="{FF2B5EF4-FFF2-40B4-BE49-F238E27FC236}">
                <a16:creationId xmlns:a16="http://schemas.microsoft.com/office/drawing/2014/main" id="{54EA4F9D-C829-0B79-4FBD-2FEE5F850FEE}"/>
              </a:ext>
            </a:extLst>
          </p:cNvPr>
          <p:cNvSpPr/>
          <p:nvPr/>
        </p:nvSpPr>
        <p:spPr>
          <a:xfrm>
            <a:off x="16047694" y="6643485"/>
            <a:ext cx="5959136" cy="6736658"/>
          </a:xfrm>
          <a:custGeom>
            <a:avLst/>
            <a:gdLst/>
            <a:ahLst/>
            <a:cxnLst/>
            <a:rect l="l" t="t" r="r" b="b"/>
            <a:pathLst>
              <a:path w="5959136" h="6736658">
                <a:moveTo>
                  <a:pt x="0" y="0"/>
                </a:moveTo>
                <a:lnTo>
                  <a:pt x="5959136" y="0"/>
                </a:lnTo>
                <a:lnTo>
                  <a:pt x="5959136" y="6736659"/>
                </a:lnTo>
                <a:lnTo>
                  <a:pt x="0" y="6736659"/>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DE23F0AB-CCAE-21DD-9CF6-D8A85F5F92C4}"/>
              </a:ext>
            </a:extLst>
          </p:cNvPr>
          <p:cNvSpPr/>
          <p:nvPr/>
        </p:nvSpPr>
        <p:spPr>
          <a:xfrm rot="-10800000">
            <a:off x="-3929803" y="1908103"/>
            <a:ext cx="5146086" cy="7347571"/>
          </a:xfrm>
          <a:custGeom>
            <a:avLst/>
            <a:gdLst/>
            <a:ahLst/>
            <a:cxnLst/>
            <a:rect l="l" t="t" r="r" b="b"/>
            <a:pathLst>
              <a:path w="5146086" h="7347571">
                <a:moveTo>
                  <a:pt x="0" y="0"/>
                </a:moveTo>
                <a:lnTo>
                  <a:pt x="5146086" y="0"/>
                </a:lnTo>
                <a:lnTo>
                  <a:pt x="5146086" y="7347571"/>
                </a:lnTo>
                <a:lnTo>
                  <a:pt x="0" y="7347571"/>
                </a:lnTo>
                <a:lnTo>
                  <a:pt x="0" y="0"/>
                </a:lnTo>
                <a:close/>
              </a:path>
            </a:pathLst>
          </a:custGeom>
          <a:blipFill>
            <a:blip r:embed="rId4"/>
            <a:stretch>
              <a:fillRect/>
            </a:stretch>
          </a:blipFill>
        </p:spPr>
      </p:sp>
      <p:sp>
        <p:nvSpPr>
          <p:cNvPr id="5" name="Freeform 5">
            <a:extLst>
              <a:ext uri="{FF2B5EF4-FFF2-40B4-BE49-F238E27FC236}">
                <a16:creationId xmlns:a16="http://schemas.microsoft.com/office/drawing/2014/main" id="{64DD1B4D-1E52-D9A5-1AA3-23E0739EFA31}"/>
              </a:ext>
            </a:extLst>
          </p:cNvPr>
          <p:cNvSpPr/>
          <p:nvPr/>
        </p:nvSpPr>
        <p:spPr>
          <a:xfrm rot="-10800000">
            <a:off x="-2364533" y="-2903104"/>
            <a:ext cx="5959136" cy="6736658"/>
          </a:xfrm>
          <a:custGeom>
            <a:avLst/>
            <a:gdLst/>
            <a:ahLst/>
            <a:cxnLst/>
            <a:rect l="l" t="t" r="r" b="b"/>
            <a:pathLst>
              <a:path w="5959136" h="6736658">
                <a:moveTo>
                  <a:pt x="0" y="0"/>
                </a:moveTo>
                <a:lnTo>
                  <a:pt x="5959135" y="0"/>
                </a:lnTo>
                <a:lnTo>
                  <a:pt x="5959135" y="6736658"/>
                </a:lnTo>
                <a:lnTo>
                  <a:pt x="0" y="6736658"/>
                </a:lnTo>
                <a:lnTo>
                  <a:pt x="0" y="0"/>
                </a:lnTo>
                <a:close/>
              </a:path>
            </a:pathLst>
          </a:custGeom>
          <a:blipFill>
            <a:blip r:embed="rId3"/>
            <a:stretch>
              <a:fillRect/>
            </a:stretch>
          </a:blipFill>
        </p:spPr>
      </p:sp>
      <p:sp>
        <p:nvSpPr>
          <p:cNvPr id="6" name="Freeform 6">
            <a:extLst>
              <a:ext uri="{FF2B5EF4-FFF2-40B4-BE49-F238E27FC236}">
                <a16:creationId xmlns:a16="http://schemas.microsoft.com/office/drawing/2014/main" id="{73962DD7-10EF-15ED-C193-9D32C9F91E09}"/>
              </a:ext>
            </a:extLst>
          </p:cNvPr>
          <p:cNvSpPr/>
          <p:nvPr/>
        </p:nvSpPr>
        <p:spPr>
          <a:xfrm rot="-10800000" flipH="1" flipV="1">
            <a:off x="11673246" y="-4828555"/>
            <a:ext cx="8312586" cy="6736658"/>
          </a:xfrm>
          <a:custGeom>
            <a:avLst/>
            <a:gdLst/>
            <a:ahLst/>
            <a:cxnLst/>
            <a:rect l="l" t="t" r="r" b="b"/>
            <a:pathLst>
              <a:path w="8312586" h="6736658">
                <a:moveTo>
                  <a:pt x="8312586" y="6736658"/>
                </a:moveTo>
                <a:lnTo>
                  <a:pt x="0" y="6736658"/>
                </a:lnTo>
                <a:lnTo>
                  <a:pt x="0" y="0"/>
                </a:lnTo>
                <a:lnTo>
                  <a:pt x="8312586" y="0"/>
                </a:lnTo>
                <a:lnTo>
                  <a:pt x="8312586" y="6736658"/>
                </a:lnTo>
                <a:close/>
              </a:path>
            </a:pathLst>
          </a:custGeom>
          <a:blipFill>
            <a:blip r:embed="rId5"/>
            <a:stretch>
              <a:fillRect/>
            </a:stretch>
          </a:blipFill>
        </p:spPr>
      </p:sp>
      <p:sp>
        <p:nvSpPr>
          <p:cNvPr id="7" name="Freeform 7">
            <a:extLst>
              <a:ext uri="{FF2B5EF4-FFF2-40B4-BE49-F238E27FC236}">
                <a16:creationId xmlns:a16="http://schemas.microsoft.com/office/drawing/2014/main" id="{1D4DCFDF-069C-F805-C8B9-745722816821}"/>
              </a:ext>
            </a:extLst>
          </p:cNvPr>
          <p:cNvSpPr/>
          <p:nvPr/>
        </p:nvSpPr>
        <p:spPr>
          <a:xfrm rot="-10800000">
            <a:off x="-4432518" y="8376271"/>
            <a:ext cx="8312586" cy="6736658"/>
          </a:xfrm>
          <a:custGeom>
            <a:avLst/>
            <a:gdLst/>
            <a:ahLst/>
            <a:cxnLst/>
            <a:rect l="l" t="t" r="r" b="b"/>
            <a:pathLst>
              <a:path w="8312586" h="6736658">
                <a:moveTo>
                  <a:pt x="0" y="0"/>
                </a:moveTo>
                <a:lnTo>
                  <a:pt x="8312586" y="0"/>
                </a:lnTo>
                <a:lnTo>
                  <a:pt x="8312586" y="6736658"/>
                </a:lnTo>
                <a:lnTo>
                  <a:pt x="0" y="6736658"/>
                </a:lnTo>
                <a:lnTo>
                  <a:pt x="0" y="0"/>
                </a:lnTo>
                <a:close/>
              </a:path>
            </a:pathLst>
          </a:custGeom>
          <a:blipFill>
            <a:blip r:embed="rId5"/>
            <a:stretch>
              <a:fillRect/>
            </a:stretch>
          </a:blipFill>
        </p:spPr>
      </p:sp>
      <p:sp>
        <p:nvSpPr>
          <p:cNvPr id="8" name="TextBox 8">
            <a:extLst>
              <a:ext uri="{FF2B5EF4-FFF2-40B4-BE49-F238E27FC236}">
                <a16:creationId xmlns:a16="http://schemas.microsoft.com/office/drawing/2014/main" id="{40C264DD-D4BD-5760-E49E-7988E2E4C7A1}"/>
              </a:ext>
            </a:extLst>
          </p:cNvPr>
          <p:cNvSpPr txBox="1"/>
          <p:nvPr/>
        </p:nvSpPr>
        <p:spPr>
          <a:xfrm>
            <a:off x="4766177" y="284250"/>
            <a:ext cx="8755645" cy="1502285"/>
          </a:xfrm>
          <a:prstGeom prst="rect">
            <a:avLst/>
          </a:prstGeom>
        </p:spPr>
        <p:txBody>
          <a:bodyPr lIns="0" tIns="0" rIns="0" bIns="0" rtlCol="0" anchor="t">
            <a:spAutoFit/>
          </a:bodyPr>
          <a:lstStyle/>
          <a:p>
            <a:pPr algn="ctr" rtl="1">
              <a:lnSpc>
                <a:spcPts val="12221"/>
              </a:lnSpc>
            </a:pPr>
            <a:r>
              <a:rPr lang="ar-EG" sz="8729">
                <a:solidFill>
                  <a:srgbClr val="020101"/>
                </a:solidFill>
                <a:latin typeface="Neirizi"/>
                <a:ea typeface="Neirizi"/>
                <a:cs typeface="Neirizi"/>
                <a:sym typeface="Neirizi"/>
                <a:rtl/>
              </a:rPr>
              <a:t>مفاهيم ومصطلحات</a:t>
            </a:r>
          </a:p>
        </p:txBody>
      </p:sp>
      <p:sp>
        <p:nvSpPr>
          <p:cNvPr id="9" name="TextBox 9">
            <a:extLst>
              <a:ext uri="{FF2B5EF4-FFF2-40B4-BE49-F238E27FC236}">
                <a16:creationId xmlns:a16="http://schemas.microsoft.com/office/drawing/2014/main" id="{D1DF50E7-7A17-AF05-E35F-FFCE78401B2C}"/>
              </a:ext>
            </a:extLst>
          </p:cNvPr>
          <p:cNvSpPr txBox="1"/>
          <p:nvPr/>
        </p:nvSpPr>
        <p:spPr>
          <a:xfrm>
            <a:off x="1225808" y="3355765"/>
            <a:ext cx="15428387" cy="1731243"/>
          </a:xfrm>
          <a:prstGeom prst="rect">
            <a:avLst/>
          </a:prstGeom>
        </p:spPr>
        <p:txBody>
          <a:bodyPr lIns="0" tIns="0" rIns="0" bIns="0" rtlCol="0" anchor="t">
            <a:spAutoFit/>
          </a:bodyPr>
          <a:lstStyle/>
          <a:p>
            <a:pPr marL="690881" lvl="1" indent="-345440" algn="just" rtl="1">
              <a:lnSpc>
                <a:spcPts val="4480"/>
              </a:lnSpc>
              <a:buFont typeface="Arial"/>
              <a:buChar char="•"/>
            </a:pPr>
            <a:r>
              <a:rPr lang="ar-EG" sz="3200" dirty="0">
                <a:solidFill>
                  <a:srgbClr val="020101"/>
                </a:solidFill>
                <a:latin typeface="29LT Riwaya"/>
                <a:ea typeface="29LT Riwaya"/>
                <a:cs typeface="29LT Riwaya"/>
                <a:sym typeface="29LT Riwaya"/>
                <a:rtl/>
              </a:rPr>
              <a:t>تتكون من ثلاث كلمات </a:t>
            </a:r>
            <a:r>
              <a:rPr lang="ar-EG" sz="3200" b="1" dirty="0">
                <a:solidFill>
                  <a:srgbClr val="020101"/>
                </a:solidFill>
                <a:latin typeface="29LT Riwaya"/>
                <a:ea typeface="29LT Riwaya"/>
                <a:cs typeface="29LT Riwaya"/>
                <a:sym typeface="29LT Riwaya Bold"/>
                <a:rtl/>
              </a:rPr>
              <a:t>ال</a:t>
            </a:r>
            <a:r>
              <a:rPr lang="ar-SA" sz="3200" b="1" dirty="0">
                <a:solidFill>
                  <a:srgbClr val="020101"/>
                </a:solidFill>
                <a:latin typeface="29LT Riwaya"/>
                <a:ea typeface="29LT Riwaya"/>
                <a:cs typeface="29LT Riwaya"/>
                <a:rtl/>
              </a:rPr>
              <a:t>تصنيف</a:t>
            </a:r>
            <a:r>
              <a:rPr lang="ar-EG" sz="3200" dirty="0">
                <a:solidFill>
                  <a:srgbClr val="020101"/>
                </a:solidFill>
                <a:latin typeface="29LT Riwaya"/>
                <a:ea typeface="29LT Riwaya"/>
                <a:cs typeface="29LT Riwaya"/>
                <a:sym typeface="29LT Riwaya"/>
                <a:rtl/>
              </a:rPr>
              <a:t>: </a:t>
            </a:r>
            <a:r>
              <a:rPr lang="ar-SA" sz="3200" dirty="0">
                <a:solidFill>
                  <a:srgbClr val="020101"/>
                </a:solidFill>
                <a:latin typeface="29LT Riwaya"/>
                <a:ea typeface="29LT Riwaya"/>
                <a:cs typeface="29LT Riwaya"/>
                <a:rtl/>
              </a:rPr>
              <a:t>مأخوذة من الفعل "</a:t>
            </a:r>
            <a:r>
              <a:rPr lang="ar-SA" sz="3200" b="1" dirty="0">
                <a:solidFill>
                  <a:srgbClr val="020101"/>
                </a:solidFill>
                <a:latin typeface="29LT Riwaya"/>
                <a:ea typeface="29LT Riwaya"/>
                <a:cs typeface="29LT Riwaya"/>
                <a:rtl/>
              </a:rPr>
              <a:t>صنَّف</a:t>
            </a:r>
            <a:r>
              <a:rPr lang="ar-SA" sz="3200" dirty="0">
                <a:solidFill>
                  <a:srgbClr val="020101"/>
                </a:solidFill>
                <a:latin typeface="29LT Riwaya"/>
                <a:ea typeface="29LT Riwaya"/>
                <a:cs typeface="29LT Riwaya"/>
                <a:rtl/>
              </a:rPr>
              <a:t>"، وتعني ترتيب الأشياء أو الأشخاص في مجموعات حسب خصائص محددة. </a:t>
            </a:r>
            <a:r>
              <a:rPr lang="ar-SA" sz="3200" b="1" dirty="0">
                <a:solidFill>
                  <a:srgbClr val="020101"/>
                </a:solidFill>
                <a:latin typeface="29LT Riwaya"/>
                <a:ea typeface="29LT Riwaya"/>
                <a:cs typeface="29LT Riwaya"/>
                <a:rtl/>
              </a:rPr>
              <a:t>نفسي</a:t>
            </a:r>
            <a:r>
              <a:rPr lang="ar-SA" sz="3200" dirty="0">
                <a:solidFill>
                  <a:srgbClr val="020101"/>
                </a:solidFill>
                <a:latin typeface="29LT Riwaya"/>
                <a:ea typeface="29LT Riwaya"/>
                <a:cs typeface="29LT Riwaya"/>
                <a:rtl/>
              </a:rPr>
              <a:t>: من "</a:t>
            </a:r>
            <a:r>
              <a:rPr lang="ar-SA" sz="3200" b="1" dirty="0">
                <a:solidFill>
                  <a:srgbClr val="020101"/>
                </a:solidFill>
                <a:latin typeface="29LT Riwaya"/>
                <a:ea typeface="29LT Riwaya"/>
                <a:cs typeface="29LT Riwaya"/>
                <a:rtl/>
              </a:rPr>
              <a:t>نفس</a:t>
            </a:r>
            <a:r>
              <a:rPr lang="ar-SA" sz="3200" dirty="0">
                <a:solidFill>
                  <a:srgbClr val="020101"/>
                </a:solidFill>
                <a:latin typeface="29LT Riwaya"/>
                <a:ea typeface="29LT Riwaya"/>
                <a:cs typeface="29LT Riwaya"/>
                <a:rtl/>
              </a:rPr>
              <a:t>"، وتعني متعلق بالروح أو النفس أو العقل والانفعال. </a:t>
            </a:r>
            <a:r>
              <a:rPr lang="ar-SA" sz="3200" dirty="0">
                <a:solidFill>
                  <a:srgbClr val="020101"/>
                </a:solidFill>
                <a:latin typeface="Neirizi"/>
                <a:cs typeface="Neirizi"/>
                <a:rtl/>
              </a:rPr>
              <a:t>تنموي</a:t>
            </a:r>
            <a:r>
              <a:rPr lang="ar-SA" sz="3200" dirty="0">
                <a:solidFill>
                  <a:srgbClr val="020101"/>
                </a:solidFill>
                <a:latin typeface="29LT Riwaya"/>
                <a:ea typeface="29LT Riwaya"/>
                <a:cs typeface="29LT Riwaya"/>
                <a:rtl/>
              </a:rPr>
              <a:t>: من "</a:t>
            </a:r>
            <a:r>
              <a:rPr lang="ar-SA" sz="3200" b="1" dirty="0">
                <a:solidFill>
                  <a:srgbClr val="020101"/>
                </a:solidFill>
                <a:latin typeface="29LT Riwaya"/>
                <a:ea typeface="29LT Riwaya"/>
                <a:cs typeface="29LT Riwaya"/>
                <a:rtl/>
              </a:rPr>
              <a:t>النمو</a:t>
            </a:r>
            <a:r>
              <a:rPr lang="ar-SA" sz="3200" dirty="0">
                <a:solidFill>
                  <a:srgbClr val="020101"/>
                </a:solidFill>
                <a:latin typeface="29LT Riwaya"/>
                <a:ea typeface="29LT Riwaya"/>
                <a:cs typeface="29LT Riwaya"/>
                <a:rtl/>
              </a:rPr>
              <a:t>"، أي الزيادة والتدرّج والارتقاء مرحلةً بعد مرحلة.</a:t>
            </a:r>
            <a:endParaRPr lang="ar-EG" sz="3200" dirty="0">
              <a:solidFill>
                <a:srgbClr val="020101"/>
              </a:solidFill>
              <a:latin typeface="29LT Riwaya"/>
              <a:ea typeface="29LT Riwaya"/>
              <a:cs typeface="29LT Riwaya"/>
              <a:sym typeface="29LT Riwaya"/>
              <a:rtl/>
            </a:endParaRPr>
          </a:p>
        </p:txBody>
      </p:sp>
      <p:sp>
        <p:nvSpPr>
          <p:cNvPr id="10" name="TextBox 10">
            <a:extLst>
              <a:ext uri="{FF2B5EF4-FFF2-40B4-BE49-F238E27FC236}">
                <a16:creationId xmlns:a16="http://schemas.microsoft.com/office/drawing/2014/main" id="{781D25E5-5EF7-A5B5-DAB0-EE98F18B4CA1}"/>
              </a:ext>
            </a:extLst>
          </p:cNvPr>
          <p:cNvSpPr txBox="1"/>
          <p:nvPr/>
        </p:nvSpPr>
        <p:spPr>
          <a:xfrm>
            <a:off x="1430994" y="2280441"/>
            <a:ext cx="14070858" cy="1000274"/>
          </a:xfrm>
          <a:prstGeom prst="rect">
            <a:avLst/>
          </a:prstGeom>
        </p:spPr>
        <p:txBody>
          <a:bodyPr wrap="square" lIns="0" tIns="0" rIns="0" bIns="0" rtlCol="0" anchor="t">
            <a:spAutoFit/>
          </a:bodyPr>
          <a:lstStyle/>
          <a:p>
            <a:pPr algn="r" rtl="1">
              <a:lnSpc>
                <a:spcPts val="7840"/>
              </a:lnSpc>
            </a:pPr>
            <a:r>
              <a:rPr lang="ar-SA" sz="5600" dirty="0">
                <a:solidFill>
                  <a:srgbClr val="020101"/>
                </a:solidFill>
                <a:latin typeface="Neirizi"/>
                <a:cs typeface="Neirizi"/>
                <a:rtl/>
              </a:rPr>
              <a:t>التصنيف النفسي التنموي </a:t>
            </a:r>
            <a:r>
              <a:rPr lang="ar-EG" sz="5600" dirty="0">
                <a:solidFill>
                  <a:srgbClr val="020101"/>
                </a:solidFill>
                <a:latin typeface="Neirizi"/>
                <a:ea typeface="Neirizi"/>
                <a:cs typeface="Neirizi"/>
                <a:sym typeface="Neirizi"/>
                <a:rtl/>
              </a:rPr>
              <a:t>في المعجم اللغوي العربي : </a:t>
            </a:r>
          </a:p>
        </p:txBody>
      </p:sp>
      <p:sp>
        <p:nvSpPr>
          <p:cNvPr id="11" name="TextBox 11">
            <a:extLst>
              <a:ext uri="{FF2B5EF4-FFF2-40B4-BE49-F238E27FC236}">
                <a16:creationId xmlns:a16="http://schemas.microsoft.com/office/drawing/2014/main" id="{E83AB009-F26E-CC3F-5D74-3CEE8FD7FD76}"/>
              </a:ext>
            </a:extLst>
          </p:cNvPr>
          <p:cNvSpPr txBox="1"/>
          <p:nvPr/>
        </p:nvSpPr>
        <p:spPr>
          <a:xfrm>
            <a:off x="1020530" y="5271142"/>
            <a:ext cx="15633665" cy="1154162"/>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ar-SA" sz="3200" dirty="0">
                <a:solidFill>
                  <a:srgbClr val="020101"/>
                </a:solidFill>
                <a:latin typeface="29LT Riwaya"/>
                <a:ea typeface="29LT Riwaya"/>
                <a:cs typeface="29LT Riwaya"/>
                <a:rtl/>
              </a:rPr>
              <a:t>الطريقة العلمية لتقسيم مراحل حياة الإنسان حسب نموه العقلي، الانفعالي، الاجتماعي، والسلوكي لتحديد المرحلة العمرية وخصائصها النفسية.</a:t>
            </a:r>
            <a:endParaRPr lang="ar-EG" sz="3200" dirty="0">
              <a:solidFill>
                <a:srgbClr val="020101"/>
              </a:solidFill>
              <a:latin typeface="29LT Riwaya"/>
              <a:ea typeface="29LT Riwaya"/>
              <a:cs typeface="29LT Riwaya"/>
              <a:sym typeface="29LT Riwaya"/>
              <a:rtl/>
            </a:endParaRPr>
          </a:p>
        </p:txBody>
      </p:sp>
      <p:sp>
        <p:nvSpPr>
          <p:cNvPr id="12" name="TextBox 12">
            <a:extLst>
              <a:ext uri="{FF2B5EF4-FFF2-40B4-BE49-F238E27FC236}">
                <a16:creationId xmlns:a16="http://schemas.microsoft.com/office/drawing/2014/main" id="{11844191-8D94-55EF-497C-CC22828AFD9C}"/>
              </a:ext>
            </a:extLst>
          </p:cNvPr>
          <p:cNvSpPr txBox="1"/>
          <p:nvPr/>
        </p:nvSpPr>
        <p:spPr>
          <a:xfrm>
            <a:off x="971312" y="7719341"/>
            <a:ext cx="15461048" cy="1154162"/>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en-US" sz="3200" b="1" dirty="0">
                <a:solidFill>
                  <a:srgbClr val="020101"/>
                </a:solidFill>
                <a:latin typeface="29LT Riwaya"/>
                <a:ea typeface="29LT Riwaya"/>
                <a:cs typeface="29LT Riwaya"/>
                <a:rtl/>
              </a:rPr>
              <a:t>Classification</a:t>
            </a:r>
            <a:r>
              <a:rPr lang="ar-SA" sz="3200" dirty="0">
                <a:solidFill>
                  <a:srgbClr val="020101"/>
                </a:solidFill>
                <a:latin typeface="29LT Riwaya"/>
                <a:ea typeface="29LT Riwaya"/>
                <a:cs typeface="29LT Riwaya"/>
                <a:rtl/>
              </a:rPr>
              <a:t>: ترتيب أو تنظيم الأشياء أو الأشخاص وفق خصائص مشتركة, </a:t>
            </a:r>
            <a:r>
              <a:rPr lang="en-US" sz="3200" b="1" dirty="0" err="1">
                <a:solidFill>
                  <a:srgbClr val="020101"/>
                </a:solidFill>
                <a:latin typeface="29LT Riwaya"/>
                <a:ea typeface="29LT Riwaya"/>
                <a:cs typeface="29LT Riwaya"/>
                <a:rtl/>
              </a:rPr>
              <a:t>Psychologique</a:t>
            </a:r>
            <a:r>
              <a:rPr lang="ar-SA" sz="3200" dirty="0">
                <a:solidFill>
                  <a:srgbClr val="020101"/>
                </a:solidFill>
                <a:latin typeface="29LT Riwaya"/>
                <a:ea typeface="29LT Riwaya"/>
                <a:cs typeface="29LT Riwaya"/>
                <a:rtl/>
              </a:rPr>
              <a:t>: متعلق بالعقل أو النفس, </a:t>
            </a:r>
            <a:r>
              <a:rPr lang="en-US" sz="3200" b="1" dirty="0" err="1">
                <a:solidFill>
                  <a:srgbClr val="020101"/>
                </a:solidFill>
                <a:latin typeface="29LT Riwaya"/>
                <a:ea typeface="29LT Riwaya"/>
                <a:cs typeface="29LT Riwaya"/>
                <a:rtl/>
              </a:rPr>
              <a:t>Développementale</a:t>
            </a:r>
            <a:r>
              <a:rPr lang="ar-SA" sz="3200" dirty="0">
                <a:solidFill>
                  <a:srgbClr val="020101"/>
                </a:solidFill>
                <a:latin typeface="29LT Riwaya"/>
                <a:ea typeface="29LT Riwaya"/>
                <a:cs typeface="29LT Riwaya"/>
                <a:rtl/>
              </a:rPr>
              <a:t>: متعلق بالنمو التدريجي أو التطور عبر الزمن</a:t>
            </a:r>
            <a:r>
              <a:rPr lang="en-US" sz="3200" dirty="0">
                <a:solidFill>
                  <a:srgbClr val="020101"/>
                </a:solidFill>
                <a:latin typeface="29LT Riwaya"/>
                <a:ea typeface="29LT Riwaya"/>
                <a:cs typeface="29LT Riwaya"/>
                <a:rtl/>
              </a:rPr>
              <a:t>.</a:t>
            </a:r>
            <a:endParaRPr lang="ar-EG" sz="3200" dirty="0">
              <a:solidFill>
                <a:srgbClr val="020101"/>
              </a:solidFill>
              <a:latin typeface="29LT Riwaya"/>
              <a:ea typeface="29LT Riwaya"/>
              <a:cs typeface="29LT Riwaya"/>
              <a:sym typeface="29LT Riwaya"/>
              <a:rtl/>
            </a:endParaRPr>
          </a:p>
        </p:txBody>
      </p:sp>
      <p:sp>
        <p:nvSpPr>
          <p:cNvPr id="13" name="TextBox 13">
            <a:extLst>
              <a:ext uri="{FF2B5EF4-FFF2-40B4-BE49-F238E27FC236}">
                <a16:creationId xmlns:a16="http://schemas.microsoft.com/office/drawing/2014/main" id="{0A9A8490-224B-84B5-5019-FB3AA6573802}"/>
              </a:ext>
            </a:extLst>
          </p:cNvPr>
          <p:cNvSpPr txBox="1"/>
          <p:nvPr/>
        </p:nvSpPr>
        <p:spPr>
          <a:xfrm>
            <a:off x="1740561" y="6633736"/>
            <a:ext cx="13782855" cy="1000274"/>
          </a:xfrm>
          <a:prstGeom prst="rect">
            <a:avLst/>
          </a:prstGeom>
        </p:spPr>
        <p:txBody>
          <a:bodyPr wrap="square" lIns="0" tIns="0" rIns="0" bIns="0" rtlCol="0" anchor="t">
            <a:spAutoFit/>
          </a:bodyPr>
          <a:lstStyle/>
          <a:p>
            <a:pPr algn="r" rtl="1">
              <a:lnSpc>
                <a:spcPts val="7840"/>
              </a:lnSpc>
            </a:pPr>
            <a:r>
              <a:rPr lang="ar-SA" sz="5600" dirty="0">
                <a:solidFill>
                  <a:srgbClr val="020101"/>
                </a:solidFill>
                <a:latin typeface="Neirizi"/>
                <a:cs typeface="Neirizi"/>
                <a:rtl/>
              </a:rPr>
              <a:t>التصنيف النفسي التنموي </a:t>
            </a:r>
            <a:r>
              <a:rPr lang="ar-EG" sz="5600" dirty="0">
                <a:solidFill>
                  <a:srgbClr val="020101"/>
                </a:solidFill>
                <a:latin typeface="Neirizi"/>
                <a:ea typeface="Neirizi"/>
                <a:cs typeface="Neirizi"/>
                <a:sym typeface="Neirizi"/>
                <a:rtl/>
              </a:rPr>
              <a:t>في المعجم اللغوي الغربي : </a:t>
            </a:r>
          </a:p>
        </p:txBody>
      </p:sp>
      <p:sp>
        <p:nvSpPr>
          <p:cNvPr id="14" name="Freeform 14">
            <a:extLst>
              <a:ext uri="{FF2B5EF4-FFF2-40B4-BE49-F238E27FC236}">
                <a16:creationId xmlns:a16="http://schemas.microsoft.com/office/drawing/2014/main" id="{3F2D3A6C-96D8-7DA1-DAAC-5EDACE675DF7}"/>
              </a:ext>
            </a:extLst>
          </p:cNvPr>
          <p:cNvSpPr/>
          <p:nvPr/>
        </p:nvSpPr>
        <p:spPr>
          <a:xfrm>
            <a:off x="16671798" y="1028700"/>
            <a:ext cx="5146086" cy="7347571"/>
          </a:xfrm>
          <a:custGeom>
            <a:avLst/>
            <a:gdLst/>
            <a:ahLst/>
            <a:cxnLst/>
            <a:rect l="l" t="t" r="r" b="b"/>
            <a:pathLst>
              <a:path w="5146086" h="7347571">
                <a:moveTo>
                  <a:pt x="0" y="0"/>
                </a:moveTo>
                <a:lnTo>
                  <a:pt x="5146086" y="0"/>
                </a:lnTo>
                <a:lnTo>
                  <a:pt x="5146086" y="7347571"/>
                </a:lnTo>
                <a:lnTo>
                  <a:pt x="0" y="7347571"/>
                </a:lnTo>
                <a:lnTo>
                  <a:pt x="0" y="0"/>
                </a:lnTo>
                <a:close/>
              </a:path>
            </a:pathLst>
          </a:custGeom>
          <a:blipFill>
            <a:blip r:embed="rId4"/>
            <a:stretch>
              <a:fillRect/>
            </a:stretch>
          </a:blipFill>
        </p:spPr>
      </p:sp>
      <p:sp>
        <p:nvSpPr>
          <p:cNvPr id="15" name="TextBox 15">
            <a:extLst>
              <a:ext uri="{FF2B5EF4-FFF2-40B4-BE49-F238E27FC236}">
                <a16:creationId xmlns:a16="http://schemas.microsoft.com/office/drawing/2014/main" id="{E2C818EF-A1FF-1FAB-BF75-5C0023877550}"/>
              </a:ext>
            </a:extLst>
          </p:cNvPr>
          <p:cNvSpPr txBox="1"/>
          <p:nvPr/>
        </p:nvSpPr>
        <p:spPr>
          <a:xfrm>
            <a:off x="1225808" y="9025714"/>
            <a:ext cx="15174126" cy="1154162"/>
          </a:xfrm>
          <a:prstGeom prst="rect">
            <a:avLst/>
          </a:prstGeom>
        </p:spPr>
        <p:txBody>
          <a:bodyPr lIns="0" tIns="0" rIns="0" bIns="0" rtlCol="0" anchor="t">
            <a:spAutoFit/>
          </a:bodyPr>
          <a:lstStyle/>
          <a:p>
            <a:pPr marL="690881" lvl="1" indent="-345440" algn="just" rtl="1">
              <a:lnSpc>
                <a:spcPts val="4480"/>
              </a:lnSpc>
              <a:spcBef>
                <a:spcPct val="0"/>
              </a:spcBef>
              <a:buFont typeface="Arial"/>
              <a:buChar char="•"/>
            </a:pPr>
            <a:r>
              <a:rPr lang="ar-SA" sz="3200" dirty="0">
                <a:solidFill>
                  <a:srgbClr val="020101"/>
                </a:solidFill>
                <a:latin typeface="29LT Riwaya"/>
                <a:ea typeface="29LT Riwaya"/>
                <a:cs typeface="29LT Riwaya"/>
                <a:rtl/>
              </a:rPr>
              <a:t>الطريقة العلمية لتقسيم مراحل الحياة البشرية إلى تطور ذهني وعاطفي واجتماعي وسلوكي لفهم خصائص كل فئة عمرية والتنبؤ بالسلوك.</a:t>
            </a:r>
            <a:endParaRPr lang="ar-EG" sz="3200" dirty="0">
              <a:solidFill>
                <a:srgbClr val="020101"/>
              </a:solidFill>
              <a:latin typeface="29LT Riwaya"/>
              <a:ea typeface="29LT Riwaya"/>
              <a:cs typeface="29LT Riwaya"/>
              <a:sym typeface="29LT Riwaya"/>
              <a:rtl/>
            </a:endParaRPr>
          </a:p>
        </p:txBody>
      </p:sp>
    </p:spTree>
    <p:extLst>
      <p:ext uri="{BB962C8B-B14F-4D97-AF65-F5344CB8AC3E}">
        <p14:creationId xmlns:p14="http://schemas.microsoft.com/office/powerpoint/2010/main" val="2782247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05170-3A44-57AC-380A-86D1E6DBE34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5AD601F-8AA3-0327-9FED-ED28CFCDD6E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666" b="-38666"/>
            </a:stretch>
          </a:blipFill>
        </p:spPr>
      </p:sp>
    </p:spTree>
    <p:extLst>
      <p:ext uri="{BB962C8B-B14F-4D97-AF65-F5344CB8AC3E}">
        <p14:creationId xmlns:p14="http://schemas.microsoft.com/office/powerpoint/2010/main" val="3500839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666" b="-38666"/>
            </a:stretch>
          </a:blipFill>
        </p:spPr>
      </p:sp>
      <p:sp>
        <p:nvSpPr>
          <p:cNvPr id="3" name="Freeform 3"/>
          <p:cNvSpPr/>
          <p:nvPr/>
        </p:nvSpPr>
        <p:spPr>
          <a:xfrm>
            <a:off x="15585574" y="6431770"/>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4" name="Freeform 4"/>
          <p:cNvSpPr/>
          <p:nvPr/>
        </p:nvSpPr>
        <p:spPr>
          <a:xfrm rot="-10800000">
            <a:off x="-2137486" y="-2884054"/>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5" name="Freeform 5"/>
          <p:cNvSpPr/>
          <p:nvPr/>
        </p:nvSpPr>
        <p:spPr>
          <a:xfrm rot="-10800000" flipH="1" flipV="1">
            <a:off x="11673246" y="-4828555"/>
            <a:ext cx="8312586" cy="6736658"/>
          </a:xfrm>
          <a:custGeom>
            <a:avLst/>
            <a:gdLst/>
            <a:ahLst/>
            <a:cxnLst/>
            <a:rect l="l" t="t" r="r" b="b"/>
            <a:pathLst>
              <a:path w="8312586" h="6736658">
                <a:moveTo>
                  <a:pt x="8312586" y="6736658"/>
                </a:moveTo>
                <a:lnTo>
                  <a:pt x="0" y="6736658"/>
                </a:lnTo>
                <a:lnTo>
                  <a:pt x="0" y="0"/>
                </a:lnTo>
                <a:lnTo>
                  <a:pt x="8312586" y="0"/>
                </a:lnTo>
                <a:lnTo>
                  <a:pt x="8312586" y="6736658"/>
                </a:lnTo>
                <a:close/>
              </a:path>
            </a:pathLst>
          </a:custGeom>
          <a:blipFill>
            <a:blip r:embed="rId4"/>
            <a:stretch>
              <a:fillRect/>
            </a:stretch>
          </a:blipFill>
        </p:spPr>
      </p:sp>
      <p:sp>
        <p:nvSpPr>
          <p:cNvPr id="6" name="Freeform 6"/>
          <p:cNvSpPr/>
          <p:nvPr/>
        </p:nvSpPr>
        <p:spPr>
          <a:xfrm>
            <a:off x="16398623" y="1028700"/>
            <a:ext cx="5146086" cy="7347571"/>
          </a:xfrm>
          <a:custGeom>
            <a:avLst/>
            <a:gdLst/>
            <a:ahLst/>
            <a:cxnLst/>
            <a:rect l="l" t="t" r="r" b="b"/>
            <a:pathLst>
              <a:path w="5146086" h="7347571">
                <a:moveTo>
                  <a:pt x="0" y="0"/>
                </a:moveTo>
                <a:lnTo>
                  <a:pt x="5146087" y="0"/>
                </a:lnTo>
                <a:lnTo>
                  <a:pt x="5146087" y="7347571"/>
                </a:lnTo>
                <a:lnTo>
                  <a:pt x="0" y="7347571"/>
                </a:lnTo>
                <a:lnTo>
                  <a:pt x="0" y="0"/>
                </a:lnTo>
                <a:close/>
              </a:path>
            </a:pathLst>
          </a:custGeom>
          <a:blipFill>
            <a:blip r:embed="rId5"/>
            <a:stretch>
              <a:fillRect/>
            </a:stretch>
          </a:blipFill>
        </p:spPr>
      </p:sp>
      <p:sp>
        <p:nvSpPr>
          <p:cNvPr id="7" name="Freeform 7"/>
          <p:cNvSpPr/>
          <p:nvPr/>
        </p:nvSpPr>
        <p:spPr>
          <a:xfrm rot="-10800000">
            <a:off x="-1641693" y="8376271"/>
            <a:ext cx="8312586" cy="6736658"/>
          </a:xfrm>
          <a:custGeom>
            <a:avLst/>
            <a:gdLst/>
            <a:ahLst/>
            <a:cxnLst/>
            <a:rect l="l" t="t" r="r" b="b"/>
            <a:pathLst>
              <a:path w="8312586" h="6736658">
                <a:moveTo>
                  <a:pt x="0" y="0"/>
                </a:moveTo>
                <a:lnTo>
                  <a:pt x="8312586" y="0"/>
                </a:lnTo>
                <a:lnTo>
                  <a:pt x="8312586" y="6736658"/>
                </a:lnTo>
                <a:lnTo>
                  <a:pt x="0" y="6736658"/>
                </a:lnTo>
                <a:lnTo>
                  <a:pt x="0" y="0"/>
                </a:lnTo>
                <a:close/>
              </a:path>
            </a:pathLst>
          </a:custGeom>
          <a:blipFill>
            <a:blip r:embed="rId4"/>
            <a:stretch>
              <a:fillRect/>
            </a:stretch>
          </a:blipFill>
        </p:spPr>
      </p:sp>
      <p:sp>
        <p:nvSpPr>
          <p:cNvPr id="8" name="Freeform 8"/>
          <p:cNvSpPr/>
          <p:nvPr/>
        </p:nvSpPr>
        <p:spPr>
          <a:xfrm rot="-10800000">
            <a:off x="-3342895" y="1908103"/>
            <a:ext cx="5146086" cy="7347571"/>
          </a:xfrm>
          <a:custGeom>
            <a:avLst/>
            <a:gdLst/>
            <a:ahLst/>
            <a:cxnLst/>
            <a:rect l="l" t="t" r="r" b="b"/>
            <a:pathLst>
              <a:path w="5146086" h="7347571">
                <a:moveTo>
                  <a:pt x="0" y="0"/>
                </a:moveTo>
                <a:lnTo>
                  <a:pt x="5146086" y="0"/>
                </a:lnTo>
                <a:lnTo>
                  <a:pt x="5146086" y="7347571"/>
                </a:lnTo>
                <a:lnTo>
                  <a:pt x="0" y="7347571"/>
                </a:lnTo>
                <a:lnTo>
                  <a:pt x="0" y="0"/>
                </a:lnTo>
                <a:close/>
              </a:path>
            </a:pathLst>
          </a:custGeom>
          <a:blipFill>
            <a:blip r:embed="rId5"/>
            <a:stretch>
              <a:fillRect/>
            </a:stretch>
          </a:blipFill>
        </p:spPr>
      </p:sp>
      <p:sp>
        <p:nvSpPr>
          <p:cNvPr id="9" name="TextBox 9"/>
          <p:cNvSpPr txBox="1"/>
          <p:nvPr/>
        </p:nvSpPr>
        <p:spPr>
          <a:xfrm>
            <a:off x="4042688" y="463479"/>
            <a:ext cx="10202623" cy="1387474"/>
          </a:xfrm>
          <a:prstGeom prst="rect">
            <a:avLst/>
          </a:prstGeom>
        </p:spPr>
        <p:txBody>
          <a:bodyPr lIns="0" tIns="0" rIns="0" bIns="0" rtlCol="0" anchor="t">
            <a:spAutoFit/>
          </a:bodyPr>
          <a:lstStyle/>
          <a:p>
            <a:pPr algn="ctr" rtl="1">
              <a:lnSpc>
                <a:spcPts val="11200"/>
              </a:lnSpc>
            </a:pPr>
            <a:r>
              <a:rPr lang="ar-EG" sz="8000" dirty="0">
                <a:solidFill>
                  <a:srgbClr val="020101"/>
                </a:solidFill>
                <a:latin typeface="Neirizi"/>
                <a:ea typeface="Neirizi"/>
                <a:cs typeface="Neirizi"/>
                <a:sym typeface="Neirizi"/>
                <a:rtl/>
              </a:rPr>
              <a:t>التحولات  الفكرية  للمراهق</a:t>
            </a:r>
          </a:p>
        </p:txBody>
      </p:sp>
      <p:sp>
        <p:nvSpPr>
          <p:cNvPr id="10" name="TextBox 10"/>
          <p:cNvSpPr txBox="1"/>
          <p:nvPr/>
        </p:nvSpPr>
        <p:spPr>
          <a:xfrm>
            <a:off x="2254881" y="2802340"/>
            <a:ext cx="13778238" cy="5772786"/>
          </a:xfrm>
          <a:prstGeom prst="rect">
            <a:avLst/>
          </a:prstGeom>
        </p:spPr>
        <p:txBody>
          <a:bodyPr lIns="0" tIns="0" rIns="0" bIns="0" rtlCol="0" anchor="t">
            <a:spAutoFit/>
          </a:bodyPr>
          <a:lstStyle/>
          <a:p>
            <a:pPr algn="just" rtl="1">
              <a:lnSpc>
                <a:spcPts val="5739"/>
              </a:lnSpc>
              <a:spcBef>
                <a:spcPct val="0"/>
              </a:spcBef>
            </a:pPr>
            <a:r>
              <a:rPr lang="ar-EG" sz="4099" u="none" strike="noStrike">
                <a:solidFill>
                  <a:srgbClr val="020101"/>
                </a:solidFill>
                <a:latin typeface="29LT Riwaya"/>
                <a:ea typeface="29LT Riwaya"/>
                <a:cs typeface="29LT Riwaya"/>
                <a:sym typeface="29LT Riwaya"/>
                <a:rtl/>
              </a:rPr>
              <a:t>تُعدّ مرحلة المراهقة من أهم المراحل النمائية في حياة الإنسان، إذ تشهد تحوّلات فكرية عميقة تسهم في تشكّل الهوية الفكرية وبناء شخصية الفرد. ينتقل المراهق خلالها من التفكير الحسي الملموس إلى التفكير المجرّد، ما يتيح له فهماً أوسع للذات وللعالم من حوله. كما تتنامى لديه الحساسية تجاه القيم والمعايير الاجتماعية، فيبدأ بمساءلتها ونقدها ومحاولة تحديد موقفه منها. ويواكب ذلك تطوّر واضح في التفكير النقدي والقدرة على حلّ المشكلات، إلى جانب تنامي التفكير في المستقبل والتخطيط له، الأمر الذي يعكس نضجاً معرفياً متدرجاً واستعداداً لتحمّل المسؤولية واتخاذ القرارات.</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666" b="-38666"/>
            </a:stretch>
          </a:blipFill>
        </p:spPr>
      </p:sp>
      <p:sp>
        <p:nvSpPr>
          <p:cNvPr id="3" name="Freeform 3"/>
          <p:cNvSpPr/>
          <p:nvPr/>
        </p:nvSpPr>
        <p:spPr>
          <a:xfrm>
            <a:off x="15585574" y="6431770"/>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4" name="Freeform 4"/>
          <p:cNvSpPr/>
          <p:nvPr/>
        </p:nvSpPr>
        <p:spPr>
          <a:xfrm rot="-10800000">
            <a:off x="-2137486" y="-2884054"/>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5" name="Freeform 5"/>
          <p:cNvSpPr/>
          <p:nvPr/>
        </p:nvSpPr>
        <p:spPr>
          <a:xfrm rot="-10800000" flipH="1" flipV="1">
            <a:off x="11673246" y="-4828555"/>
            <a:ext cx="8312586" cy="6736658"/>
          </a:xfrm>
          <a:custGeom>
            <a:avLst/>
            <a:gdLst/>
            <a:ahLst/>
            <a:cxnLst/>
            <a:rect l="l" t="t" r="r" b="b"/>
            <a:pathLst>
              <a:path w="8312586" h="6736658">
                <a:moveTo>
                  <a:pt x="8312586" y="6736658"/>
                </a:moveTo>
                <a:lnTo>
                  <a:pt x="0" y="6736658"/>
                </a:lnTo>
                <a:lnTo>
                  <a:pt x="0" y="0"/>
                </a:lnTo>
                <a:lnTo>
                  <a:pt x="8312586" y="0"/>
                </a:lnTo>
                <a:lnTo>
                  <a:pt x="8312586" y="6736658"/>
                </a:lnTo>
                <a:close/>
              </a:path>
            </a:pathLst>
          </a:custGeom>
          <a:blipFill>
            <a:blip r:embed="rId4"/>
            <a:stretch>
              <a:fillRect/>
            </a:stretch>
          </a:blipFill>
        </p:spPr>
      </p:sp>
      <p:sp>
        <p:nvSpPr>
          <p:cNvPr id="6" name="Freeform 6"/>
          <p:cNvSpPr/>
          <p:nvPr/>
        </p:nvSpPr>
        <p:spPr>
          <a:xfrm>
            <a:off x="16398623" y="1028700"/>
            <a:ext cx="5146086" cy="7347571"/>
          </a:xfrm>
          <a:custGeom>
            <a:avLst/>
            <a:gdLst/>
            <a:ahLst/>
            <a:cxnLst/>
            <a:rect l="l" t="t" r="r" b="b"/>
            <a:pathLst>
              <a:path w="5146086" h="7347571">
                <a:moveTo>
                  <a:pt x="0" y="0"/>
                </a:moveTo>
                <a:lnTo>
                  <a:pt x="5146087" y="0"/>
                </a:lnTo>
                <a:lnTo>
                  <a:pt x="5146087" y="7347571"/>
                </a:lnTo>
                <a:lnTo>
                  <a:pt x="0" y="7347571"/>
                </a:lnTo>
                <a:lnTo>
                  <a:pt x="0" y="0"/>
                </a:lnTo>
                <a:close/>
              </a:path>
            </a:pathLst>
          </a:custGeom>
          <a:blipFill>
            <a:blip r:embed="rId5"/>
            <a:stretch>
              <a:fillRect/>
            </a:stretch>
          </a:blipFill>
        </p:spPr>
      </p:sp>
      <p:sp>
        <p:nvSpPr>
          <p:cNvPr id="7" name="Freeform 7"/>
          <p:cNvSpPr/>
          <p:nvPr/>
        </p:nvSpPr>
        <p:spPr>
          <a:xfrm rot="-10800000">
            <a:off x="-1641693" y="8376271"/>
            <a:ext cx="8312586" cy="6736658"/>
          </a:xfrm>
          <a:custGeom>
            <a:avLst/>
            <a:gdLst/>
            <a:ahLst/>
            <a:cxnLst/>
            <a:rect l="l" t="t" r="r" b="b"/>
            <a:pathLst>
              <a:path w="8312586" h="6736658">
                <a:moveTo>
                  <a:pt x="0" y="0"/>
                </a:moveTo>
                <a:lnTo>
                  <a:pt x="8312586" y="0"/>
                </a:lnTo>
                <a:lnTo>
                  <a:pt x="8312586" y="6736658"/>
                </a:lnTo>
                <a:lnTo>
                  <a:pt x="0" y="6736658"/>
                </a:lnTo>
                <a:lnTo>
                  <a:pt x="0" y="0"/>
                </a:lnTo>
                <a:close/>
              </a:path>
            </a:pathLst>
          </a:custGeom>
          <a:blipFill>
            <a:blip r:embed="rId4"/>
            <a:stretch>
              <a:fillRect/>
            </a:stretch>
          </a:blipFill>
        </p:spPr>
      </p:sp>
      <p:sp>
        <p:nvSpPr>
          <p:cNvPr id="8" name="Freeform 8"/>
          <p:cNvSpPr/>
          <p:nvPr/>
        </p:nvSpPr>
        <p:spPr>
          <a:xfrm rot="-10800000">
            <a:off x="-3342895" y="1908103"/>
            <a:ext cx="5146086" cy="7347571"/>
          </a:xfrm>
          <a:custGeom>
            <a:avLst/>
            <a:gdLst/>
            <a:ahLst/>
            <a:cxnLst/>
            <a:rect l="l" t="t" r="r" b="b"/>
            <a:pathLst>
              <a:path w="5146086" h="7347571">
                <a:moveTo>
                  <a:pt x="0" y="0"/>
                </a:moveTo>
                <a:lnTo>
                  <a:pt x="5146086" y="0"/>
                </a:lnTo>
                <a:lnTo>
                  <a:pt x="5146086" y="7347571"/>
                </a:lnTo>
                <a:lnTo>
                  <a:pt x="0" y="7347571"/>
                </a:lnTo>
                <a:lnTo>
                  <a:pt x="0" y="0"/>
                </a:lnTo>
                <a:close/>
              </a:path>
            </a:pathLst>
          </a:custGeom>
          <a:blipFill>
            <a:blip r:embed="rId5"/>
            <a:stretch>
              <a:fillRect/>
            </a:stretch>
          </a:blipFill>
        </p:spPr>
      </p:sp>
      <p:sp>
        <p:nvSpPr>
          <p:cNvPr id="9" name="TextBox 9"/>
          <p:cNvSpPr txBox="1"/>
          <p:nvPr/>
        </p:nvSpPr>
        <p:spPr>
          <a:xfrm>
            <a:off x="4042688" y="463479"/>
            <a:ext cx="10202623" cy="1387474"/>
          </a:xfrm>
          <a:prstGeom prst="rect">
            <a:avLst/>
          </a:prstGeom>
        </p:spPr>
        <p:txBody>
          <a:bodyPr lIns="0" tIns="0" rIns="0" bIns="0" rtlCol="0" anchor="t">
            <a:spAutoFit/>
          </a:bodyPr>
          <a:lstStyle/>
          <a:p>
            <a:pPr algn="ctr" rtl="1">
              <a:lnSpc>
                <a:spcPts val="11200"/>
              </a:lnSpc>
            </a:pPr>
            <a:r>
              <a:rPr lang="ar-EG" sz="8000">
                <a:solidFill>
                  <a:srgbClr val="020101"/>
                </a:solidFill>
                <a:latin typeface="Neirizi"/>
                <a:ea typeface="Neirizi"/>
                <a:cs typeface="Neirizi"/>
                <a:sym typeface="Neirizi"/>
                <a:rtl/>
              </a:rPr>
              <a:t>التحولات  الفكرية  للمراهق</a:t>
            </a:r>
          </a:p>
        </p:txBody>
      </p:sp>
      <p:sp>
        <p:nvSpPr>
          <p:cNvPr id="10" name="TextBox 10"/>
          <p:cNvSpPr txBox="1"/>
          <p:nvPr/>
        </p:nvSpPr>
        <p:spPr>
          <a:xfrm>
            <a:off x="2254881" y="4157404"/>
            <a:ext cx="13778238" cy="3601086"/>
          </a:xfrm>
          <a:prstGeom prst="rect">
            <a:avLst/>
          </a:prstGeom>
        </p:spPr>
        <p:txBody>
          <a:bodyPr lIns="0" tIns="0" rIns="0" bIns="0" rtlCol="0" anchor="t">
            <a:spAutoFit/>
          </a:bodyPr>
          <a:lstStyle/>
          <a:p>
            <a:pPr marL="0" lvl="0" indent="0" algn="just" rtl="1">
              <a:lnSpc>
                <a:spcPts val="5739"/>
              </a:lnSpc>
              <a:spcBef>
                <a:spcPct val="0"/>
              </a:spcBef>
            </a:pPr>
            <a:r>
              <a:rPr lang="ar-EG" sz="4099" u="none" strike="noStrike">
                <a:solidFill>
                  <a:srgbClr val="020101"/>
                </a:solidFill>
                <a:latin typeface="29LT Riwaya"/>
                <a:ea typeface="29LT Riwaya"/>
                <a:cs typeface="29LT Riwaya"/>
                <a:sym typeface="29LT Riwaya"/>
                <a:rtl/>
              </a:rPr>
              <a:t>خلال مرحلة المراهقة، يبدأ الفرد بالانتقال من التفكير الحسي المبني على التجارب والملاحظات المباشرة إلى التفكير المجرّد. يصبح قادراً على تحليل الأفكار، وضع الفرضيات، استنتاج النتائج وفهم المفاهيم المجردة مثل العدالة والقيم والمبادئ الأخلاقية. هذا التطور يسمح له بالتفكير النقدي والتخطيط واتخاذ القرارات المبنية على العقل والمنطق.</a:t>
            </a:r>
          </a:p>
        </p:txBody>
      </p:sp>
      <p:sp>
        <p:nvSpPr>
          <p:cNvPr id="11" name="TextBox 11"/>
          <p:cNvSpPr txBox="1"/>
          <p:nvPr/>
        </p:nvSpPr>
        <p:spPr>
          <a:xfrm>
            <a:off x="1669153" y="2537136"/>
            <a:ext cx="14363966" cy="962660"/>
          </a:xfrm>
          <a:prstGeom prst="rect">
            <a:avLst/>
          </a:prstGeom>
        </p:spPr>
        <p:txBody>
          <a:bodyPr lIns="0" tIns="0" rIns="0" bIns="0" rtlCol="0" anchor="t">
            <a:spAutoFit/>
          </a:bodyPr>
          <a:lstStyle/>
          <a:p>
            <a:pPr algn="r" rtl="1">
              <a:lnSpc>
                <a:spcPts val="7840"/>
              </a:lnSpc>
            </a:pPr>
            <a:r>
              <a:rPr lang="ar-EG" sz="5600">
                <a:solidFill>
                  <a:srgbClr val="020101"/>
                </a:solidFill>
                <a:latin typeface="Neirizi"/>
                <a:ea typeface="Neirizi"/>
                <a:cs typeface="Neirizi"/>
                <a:sym typeface="Neirizi"/>
                <a:rtl/>
              </a:rPr>
              <a:t> الانتقال من التفكير الحسي إلى التفكير المجرّد</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666" b="-38666"/>
            </a:stretch>
          </a:blipFill>
        </p:spPr>
      </p:sp>
      <p:sp>
        <p:nvSpPr>
          <p:cNvPr id="3" name="Freeform 3"/>
          <p:cNvSpPr/>
          <p:nvPr/>
        </p:nvSpPr>
        <p:spPr>
          <a:xfrm>
            <a:off x="15839064" y="6431770"/>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4" name="Freeform 4"/>
          <p:cNvSpPr/>
          <p:nvPr/>
        </p:nvSpPr>
        <p:spPr>
          <a:xfrm rot="-10800000">
            <a:off x="-2137486" y="-2884054"/>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5" name="Freeform 5"/>
          <p:cNvSpPr/>
          <p:nvPr/>
        </p:nvSpPr>
        <p:spPr>
          <a:xfrm rot="-10800000" flipH="1" flipV="1">
            <a:off x="11673246" y="-4828555"/>
            <a:ext cx="8312586" cy="6736658"/>
          </a:xfrm>
          <a:custGeom>
            <a:avLst/>
            <a:gdLst/>
            <a:ahLst/>
            <a:cxnLst/>
            <a:rect l="l" t="t" r="r" b="b"/>
            <a:pathLst>
              <a:path w="8312586" h="6736658">
                <a:moveTo>
                  <a:pt x="8312586" y="6736658"/>
                </a:moveTo>
                <a:lnTo>
                  <a:pt x="0" y="6736658"/>
                </a:lnTo>
                <a:lnTo>
                  <a:pt x="0" y="0"/>
                </a:lnTo>
                <a:lnTo>
                  <a:pt x="8312586" y="0"/>
                </a:lnTo>
                <a:lnTo>
                  <a:pt x="8312586" y="6736658"/>
                </a:lnTo>
                <a:close/>
              </a:path>
            </a:pathLst>
          </a:custGeom>
          <a:blipFill>
            <a:blip r:embed="rId4"/>
            <a:stretch>
              <a:fillRect/>
            </a:stretch>
          </a:blipFill>
        </p:spPr>
      </p:sp>
      <p:sp>
        <p:nvSpPr>
          <p:cNvPr id="6" name="Freeform 6"/>
          <p:cNvSpPr/>
          <p:nvPr/>
        </p:nvSpPr>
        <p:spPr>
          <a:xfrm>
            <a:off x="16353414" y="1028700"/>
            <a:ext cx="5146086" cy="7347571"/>
          </a:xfrm>
          <a:custGeom>
            <a:avLst/>
            <a:gdLst/>
            <a:ahLst/>
            <a:cxnLst/>
            <a:rect l="l" t="t" r="r" b="b"/>
            <a:pathLst>
              <a:path w="5146086" h="7347571">
                <a:moveTo>
                  <a:pt x="0" y="0"/>
                </a:moveTo>
                <a:lnTo>
                  <a:pt x="5146087" y="0"/>
                </a:lnTo>
                <a:lnTo>
                  <a:pt x="5146087" y="7347571"/>
                </a:lnTo>
                <a:lnTo>
                  <a:pt x="0" y="7347571"/>
                </a:lnTo>
                <a:lnTo>
                  <a:pt x="0" y="0"/>
                </a:lnTo>
                <a:close/>
              </a:path>
            </a:pathLst>
          </a:custGeom>
          <a:blipFill>
            <a:blip r:embed="rId5"/>
            <a:stretch>
              <a:fillRect/>
            </a:stretch>
          </a:blipFill>
        </p:spPr>
      </p:sp>
      <p:sp>
        <p:nvSpPr>
          <p:cNvPr id="7" name="Freeform 7"/>
          <p:cNvSpPr/>
          <p:nvPr/>
        </p:nvSpPr>
        <p:spPr>
          <a:xfrm rot="-10800000">
            <a:off x="-1641693" y="8376271"/>
            <a:ext cx="8312586" cy="6736658"/>
          </a:xfrm>
          <a:custGeom>
            <a:avLst/>
            <a:gdLst/>
            <a:ahLst/>
            <a:cxnLst/>
            <a:rect l="l" t="t" r="r" b="b"/>
            <a:pathLst>
              <a:path w="8312586" h="6736658">
                <a:moveTo>
                  <a:pt x="0" y="0"/>
                </a:moveTo>
                <a:lnTo>
                  <a:pt x="8312586" y="0"/>
                </a:lnTo>
                <a:lnTo>
                  <a:pt x="8312586" y="6736658"/>
                </a:lnTo>
                <a:lnTo>
                  <a:pt x="0" y="6736658"/>
                </a:lnTo>
                <a:lnTo>
                  <a:pt x="0" y="0"/>
                </a:lnTo>
                <a:close/>
              </a:path>
            </a:pathLst>
          </a:custGeom>
          <a:blipFill>
            <a:blip r:embed="rId4"/>
            <a:stretch>
              <a:fillRect/>
            </a:stretch>
          </a:blipFill>
        </p:spPr>
      </p:sp>
      <p:sp>
        <p:nvSpPr>
          <p:cNvPr id="8" name="Freeform 8"/>
          <p:cNvSpPr/>
          <p:nvPr/>
        </p:nvSpPr>
        <p:spPr>
          <a:xfrm rot="-10800000">
            <a:off x="-3361981" y="1910729"/>
            <a:ext cx="5146086" cy="7347571"/>
          </a:xfrm>
          <a:custGeom>
            <a:avLst/>
            <a:gdLst/>
            <a:ahLst/>
            <a:cxnLst/>
            <a:rect l="l" t="t" r="r" b="b"/>
            <a:pathLst>
              <a:path w="5146086" h="7347571">
                <a:moveTo>
                  <a:pt x="0" y="0"/>
                </a:moveTo>
                <a:lnTo>
                  <a:pt x="5146087" y="0"/>
                </a:lnTo>
                <a:lnTo>
                  <a:pt x="5146087" y="7347571"/>
                </a:lnTo>
                <a:lnTo>
                  <a:pt x="0" y="7347571"/>
                </a:lnTo>
                <a:lnTo>
                  <a:pt x="0" y="0"/>
                </a:lnTo>
                <a:close/>
              </a:path>
            </a:pathLst>
          </a:custGeom>
          <a:blipFill>
            <a:blip r:embed="rId5"/>
            <a:stretch>
              <a:fillRect/>
            </a:stretch>
          </a:blipFill>
        </p:spPr>
      </p:sp>
      <p:sp>
        <p:nvSpPr>
          <p:cNvPr id="9" name="TextBox 9"/>
          <p:cNvSpPr txBox="1"/>
          <p:nvPr/>
        </p:nvSpPr>
        <p:spPr>
          <a:xfrm>
            <a:off x="4042688" y="463479"/>
            <a:ext cx="10202623" cy="1387474"/>
          </a:xfrm>
          <a:prstGeom prst="rect">
            <a:avLst/>
          </a:prstGeom>
        </p:spPr>
        <p:txBody>
          <a:bodyPr lIns="0" tIns="0" rIns="0" bIns="0" rtlCol="0" anchor="t">
            <a:spAutoFit/>
          </a:bodyPr>
          <a:lstStyle/>
          <a:p>
            <a:pPr algn="ctr" rtl="1">
              <a:lnSpc>
                <a:spcPts val="11200"/>
              </a:lnSpc>
            </a:pPr>
            <a:r>
              <a:rPr lang="ar-EG" sz="8000">
                <a:solidFill>
                  <a:srgbClr val="020101"/>
                </a:solidFill>
                <a:latin typeface="Neirizi"/>
                <a:ea typeface="Neirizi"/>
                <a:cs typeface="Neirizi"/>
                <a:sym typeface="Neirizi"/>
                <a:rtl/>
              </a:rPr>
              <a:t>التحولات  الفكرية  للمراهق</a:t>
            </a:r>
          </a:p>
        </p:txBody>
      </p:sp>
      <p:sp>
        <p:nvSpPr>
          <p:cNvPr id="10" name="TextBox 10"/>
          <p:cNvSpPr txBox="1"/>
          <p:nvPr/>
        </p:nvSpPr>
        <p:spPr>
          <a:xfrm>
            <a:off x="2060827" y="3965073"/>
            <a:ext cx="13778238" cy="3601086"/>
          </a:xfrm>
          <a:prstGeom prst="rect">
            <a:avLst/>
          </a:prstGeom>
        </p:spPr>
        <p:txBody>
          <a:bodyPr lIns="0" tIns="0" rIns="0" bIns="0" rtlCol="0" anchor="t">
            <a:spAutoFit/>
          </a:bodyPr>
          <a:lstStyle/>
          <a:p>
            <a:pPr marL="0" lvl="0" indent="0" algn="just" rtl="1">
              <a:lnSpc>
                <a:spcPts val="5739"/>
              </a:lnSpc>
              <a:spcBef>
                <a:spcPct val="0"/>
              </a:spcBef>
            </a:pPr>
            <a:r>
              <a:rPr lang="ar-EG" sz="4099" u="none" strike="noStrike">
                <a:solidFill>
                  <a:srgbClr val="020101"/>
                </a:solidFill>
                <a:latin typeface="29LT Riwaya"/>
                <a:ea typeface="29LT Riwaya"/>
                <a:cs typeface="29LT Riwaya"/>
                <a:sym typeface="29LT Riwaya"/>
                <a:rtl/>
              </a:rPr>
              <a:t>خلال المراهقة، يبدأ نمو التفكير النقدي بشكل واضح، حيث يصبح المراهق قادرًا على تقييم المعلومات وتحليلها بعقلانية. يبدأ في طرح الأسئلة والتشكيك في الأفكار السائدة، مقارنة الآراء المختلفة، وتمييز الصواب من الخطأ. هذا التطور يعزز قدرته على اتخاذ القرارات المستقلة، حل المشكلات بفعالية، والمشاركة بوعي في النقاشات الأكاديمية والاجتماعية.</a:t>
            </a:r>
          </a:p>
        </p:txBody>
      </p:sp>
      <p:sp>
        <p:nvSpPr>
          <p:cNvPr id="11" name="TextBox 11"/>
          <p:cNvSpPr txBox="1"/>
          <p:nvPr/>
        </p:nvSpPr>
        <p:spPr>
          <a:xfrm>
            <a:off x="4335853" y="2421123"/>
            <a:ext cx="11386642" cy="962660"/>
          </a:xfrm>
          <a:prstGeom prst="rect">
            <a:avLst/>
          </a:prstGeom>
        </p:spPr>
        <p:txBody>
          <a:bodyPr lIns="0" tIns="0" rIns="0" bIns="0" rtlCol="0" anchor="t">
            <a:spAutoFit/>
          </a:bodyPr>
          <a:lstStyle/>
          <a:p>
            <a:pPr algn="r" rtl="1">
              <a:lnSpc>
                <a:spcPts val="7840"/>
              </a:lnSpc>
            </a:pPr>
            <a:r>
              <a:rPr lang="ar-EG" sz="5600">
                <a:solidFill>
                  <a:srgbClr val="020101"/>
                </a:solidFill>
                <a:latin typeface="Neirizi"/>
                <a:ea typeface="Neirizi"/>
                <a:cs typeface="Neirizi"/>
                <a:sym typeface="Neirizi"/>
                <a:rtl/>
              </a:rPr>
              <a:t>نمو التفكير النقدي</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666" b="-38666"/>
            </a:stretch>
          </a:blipFill>
        </p:spPr>
      </p:sp>
      <p:sp>
        <p:nvSpPr>
          <p:cNvPr id="3" name="Freeform 3"/>
          <p:cNvSpPr/>
          <p:nvPr/>
        </p:nvSpPr>
        <p:spPr>
          <a:xfrm>
            <a:off x="15981939" y="6431770"/>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4" name="Freeform 4"/>
          <p:cNvSpPr/>
          <p:nvPr/>
        </p:nvSpPr>
        <p:spPr>
          <a:xfrm rot="-10800000">
            <a:off x="-2137486" y="-2884054"/>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5" name="Freeform 5"/>
          <p:cNvSpPr/>
          <p:nvPr/>
        </p:nvSpPr>
        <p:spPr>
          <a:xfrm rot="-10800000" flipH="1" flipV="1">
            <a:off x="11673246" y="-4828555"/>
            <a:ext cx="8312586" cy="6736658"/>
          </a:xfrm>
          <a:custGeom>
            <a:avLst/>
            <a:gdLst/>
            <a:ahLst/>
            <a:cxnLst/>
            <a:rect l="l" t="t" r="r" b="b"/>
            <a:pathLst>
              <a:path w="8312586" h="6736658">
                <a:moveTo>
                  <a:pt x="8312586" y="6736658"/>
                </a:moveTo>
                <a:lnTo>
                  <a:pt x="0" y="6736658"/>
                </a:lnTo>
                <a:lnTo>
                  <a:pt x="0" y="0"/>
                </a:lnTo>
                <a:lnTo>
                  <a:pt x="8312586" y="0"/>
                </a:lnTo>
                <a:lnTo>
                  <a:pt x="8312586" y="6736658"/>
                </a:lnTo>
                <a:close/>
              </a:path>
            </a:pathLst>
          </a:custGeom>
          <a:blipFill>
            <a:blip r:embed="rId4"/>
            <a:stretch>
              <a:fillRect/>
            </a:stretch>
          </a:blipFill>
        </p:spPr>
      </p:sp>
      <p:sp>
        <p:nvSpPr>
          <p:cNvPr id="6" name="Freeform 6"/>
          <p:cNvSpPr/>
          <p:nvPr/>
        </p:nvSpPr>
        <p:spPr>
          <a:xfrm>
            <a:off x="16626589" y="1028700"/>
            <a:ext cx="5146086" cy="7347571"/>
          </a:xfrm>
          <a:custGeom>
            <a:avLst/>
            <a:gdLst/>
            <a:ahLst/>
            <a:cxnLst/>
            <a:rect l="l" t="t" r="r" b="b"/>
            <a:pathLst>
              <a:path w="5146086" h="7347571">
                <a:moveTo>
                  <a:pt x="0" y="0"/>
                </a:moveTo>
                <a:lnTo>
                  <a:pt x="5146086" y="0"/>
                </a:lnTo>
                <a:lnTo>
                  <a:pt x="5146086" y="7347571"/>
                </a:lnTo>
                <a:lnTo>
                  <a:pt x="0" y="7347571"/>
                </a:lnTo>
                <a:lnTo>
                  <a:pt x="0" y="0"/>
                </a:lnTo>
                <a:close/>
              </a:path>
            </a:pathLst>
          </a:custGeom>
          <a:blipFill>
            <a:blip r:embed="rId5"/>
            <a:stretch>
              <a:fillRect/>
            </a:stretch>
          </a:blipFill>
        </p:spPr>
      </p:sp>
      <p:sp>
        <p:nvSpPr>
          <p:cNvPr id="7" name="Freeform 7"/>
          <p:cNvSpPr/>
          <p:nvPr/>
        </p:nvSpPr>
        <p:spPr>
          <a:xfrm rot="-10800000">
            <a:off x="-1641693" y="8376271"/>
            <a:ext cx="8312586" cy="6736658"/>
          </a:xfrm>
          <a:custGeom>
            <a:avLst/>
            <a:gdLst/>
            <a:ahLst/>
            <a:cxnLst/>
            <a:rect l="l" t="t" r="r" b="b"/>
            <a:pathLst>
              <a:path w="8312586" h="6736658">
                <a:moveTo>
                  <a:pt x="0" y="0"/>
                </a:moveTo>
                <a:lnTo>
                  <a:pt x="8312586" y="0"/>
                </a:lnTo>
                <a:lnTo>
                  <a:pt x="8312586" y="6736658"/>
                </a:lnTo>
                <a:lnTo>
                  <a:pt x="0" y="6736658"/>
                </a:lnTo>
                <a:lnTo>
                  <a:pt x="0" y="0"/>
                </a:lnTo>
                <a:close/>
              </a:path>
            </a:pathLst>
          </a:custGeom>
          <a:blipFill>
            <a:blip r:embed="rId4"/>
            <a:stretch>
              <a:fillRect/>
            </a:stretch>
          </a:blipFill>
        </p:spPr>
      </p:sp>
      <p:sp>
        <p:nvSpPr>
          <p:cNvPr id="8" name="Freeform 8"/>
          <p:cNvSpPr/>
          <p:nvPr/>
        </p:nvSpPr>
        <p:spPr>
          <a:xfrm rot="-10800000">
            <a:off x="-3447210" y="1908103"/>
            <a:ext cx="5146086" cy="7347571"/>
          </a:xfrm>
          <a:custGeom>
            <a:avLst/>
            <a:gdLst/>
            <a:ahLst/>
            <a:cxnLst/>
            <a:rect l="l" t="t" r="r" b="b"/>
            <a:pathLst>
              <a:path w="5146086" h="7347571">
                <a:moveTo>
                  <a:pt x="0" y="0"/>
                </a:moveTo>
                <a:lnTo>
                  <a:pt x="5146087" y="0"/>
                </a:lnTo>
                <a:lnTo>
                  <a:pt x="5146087" y="7347571"/>
                </a:lnTo>
                <a:lnTo>
                  <a:pt x="0" y="7347571"/>
                </a:lnTo>
                <a:lnTo>
                  <a:pt x="0" y="0"/>
                </a:lnTo>
                <a:close/>
              </a:path>
            </a:pathLst>
          </a:custGeom>
          <a:blipFill>
            <a:blip r:embed="rId5"/>
            <a:stretch>
              <a:fillRect/>
            </a:stretch>
          </a:blipFill>
        </p:spPr>
      </p:sp>
      <p:sp>
        <p:nvSpPr>
          <p:cNvPr id="9" name="TextBox 9"/>
          <p:cNvSpPr txBox="1"/>
          <p:nvPr/>
        </p:nvSpPr>
        <p:spPr>
          <a:xfrm>
            <a:off x="4042688" y="463479"/>
            <a:ext cx="10202623" cy="1387474"/>
          </a:xfrm>
          <a:prstGeom prst="rect">
            <a:avLst/>
          </a:prstGeom>
        </p:spPr>
        <p:txBody>
          <a:bodyPr lIns="0" tIns="0" rIns="0" bIns="0" rtlCol="0" anchor="t">
            <a:spAutoFit/>
          </a:bodyPr>
          <a:lstStyle/>
          <a:p>
            <a:pPr algn="ctr" rtl="1">
              <a:lnSpc>
                <a:spcPts val="11200"/>
              </a:lnSpc>
            </a:pPr>
            <a:r>
              <a:rPr lang="ar-EG" sz="8000">
                <a:solidFill>
                  <a:srgbClr val="020101"/>
                </a:solidFill>
                <a:latin typeface="Neirizi"/>
                <a:ea typeface="Neirizi"/>
                <a:cs typeface="Neirizi"/>
                <a:sym typeface="Neirizi"/>
                <a:rtl/>
              </a:rPr>
              <a:t>التحولات  الفكرية  للمراهق</a:t>
            </a:r>
          </a:p>
        </p:txBody>
      </p:sp>
      <p:sp>
        <p:nvSpPr>
          <p:cNvPr id="10" name="TextBox 10"/>
          <p:cNvSpPr txBox="1"/>
          <p:nvPr/>
        </p:nvSpPr>
        <p:spPr>
          <a:xfrm>
            <a:off x="2051302" y="4148587"/>
            <a:ext cx="13778238" cy="3601086"/>
          </a:xfrm>
          <a:prstGeom prst="rect">
            <a:avLst/>
          </a:prstGeom>
        </p:spPr>
        <p:txBody>
          <a:bodyPr lIns="0" tIns="0" rIns="0" bIns="0" rtlCol="0" anchor="t">
            <a:spAutoFit/>
          </a:bodyPr>
          <a:lstStyle/>
          <a:p>
            <a:pPr marL="0" lvl="0" indent="0" algn="just" rtl="1">
              <a:lnSpc>
                <a:spcPts val="5739"/>
              </a:lnSpc>
              <a:spcBef>
                <a:spcPct val="0"/>
              </a:spcBef>
            </a:pPr>
            <a:r>
              <a:rPr lang="ar-EG" sz="4099" u="none" strike="noStrike">
                <a:solidFill>
                  <a:srgbClr val="020101"/>
                </a:solidFill>
                <a:latin typeface="29LT Riwaya"/>
                <a:ea typeface="29LT Riwaya"/>
                <a:cs typeface="29LT Riwaya"/>
                <a:sym typeface="29LT Riwaya"/>
                <a:rtl/>
              </a:rPr>
              <a:t>خلال المراهقة، تتطوّر القدرة على حلّ المشكلات بشكل ملحوظ، حيث يصبح المراهق قادرًا على تحليل المواقف المعقدة، تحديد المشكلات بدقة، ووضع فرضيات متعددة للحل. كما يزداد لديه استعداد لتجربة حلول مختلفة، تقييم نتائجها، واختيار الأنسب، مما يعزز استقلاليته في التفكير ويجعل التعلم العملي والتطبيقي أكثر فعالية.</a:t>
            </a:r>
          </a:p>
        </p:txBody>
      </p:sp>
      <p:sp>
        <p:nvSpPr>
          <p:cNvPr id="11" name="TextBox 11"/>
          <p:cNvSpPr txBox="1"/>
          <p:nvPr/>
        </p:nvSpPr>
        <p:spPr>
          <a:xfrm>
            <a:off x="4335853" y="2624930"/>
            <a:ext cx="11386642" cy="962660"/>
          </a:xfrm>
          <a:prstGeom prst="rect">
            <a:avLst/>
          </a:prstGeom>
        </p:spPr>
        <p:txBody>
          <a:bodyPr lIns="0" tIns="0" rIns="0" bIns="0" rtlCol="0" anchor="t">
            <a:spAutoFit/>
          </a:bodyPr>
          <a:lstStyle/>
          <a:p>
            <a:pPr algn="r" rtl="1">
              <a:lnSpc>
                <a:spcPts val="7840"/>
              </a:lnSpc>
            </a:pPr>
            <a:r>
              <a:rPr lang="ar-EG" sz="5600">
                <a:solidFill>
                  <a:srgbClr val="020101"/>
                </a:solidFill>
                <a:latin typeface="Neirizi"/>
                <a:ea typeface="Neirizi"/>
                <a:cs typeface="Neirizi"/>
                <a:sym typeface="Neirizi"/>
                <a:rtl/>
              </a:rPr>
              <a:t>تطوّر القدرة على حلّ المشكلات</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666" b="-38666"/>
            </a:stretch>
          </a:blipFill>
        </p:spPr>
      </p:sp>
      <p:sp>
        <p:nvSpPr>
          <p:cNvPr id="3" name="Freeform 3"/>
          <p:cNvSpPr/>
          <p:nvPr/>
        </p:nvSpPr>
        <p:spPr>
          <a:xfrm>
            <a:off x="15981939" y="6431770"/>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4" name="Freeform 4"/>
          <p:cNvSpPr/>
          <p:nvPr/>
        </p:nvSpPr>
        <p:spPr>
          <a:xfrm rot="-10800000">
            <a:off x="-2137486" y="-2884054"/>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5" name="Freeform 5"/>
          <p:cNvSpPr/>
          <p:nvPr/>
        </p:nvSpPr>
        <p:spPr>
          <a:xfrm rot="-10800000" flipH="1" flipV="1">
            <a:off x="11673246" y="-4828555"/>
            <a:ext cx="8312586" cy="6736658"/>
          </a:xfrm>
          <a:custGeom>
            <a:avLst/>
            <a:gdLst/>
            <a:ahLst/>
            <a:cxnLst/>
            <a:rect l="l" t="t" r="r" b="b"/>
            <a:pathLst>
              <a:path w="8312586" h="6736658">
                <a:moveTo>
                  <a:pt x="8312586" y="6736658"/>
                </a:moveTo>
                <a:lnTo>
                  <a:pt x="0" y="6736658"/>
                </a:lnTo>
                <a:lnTo>
                  <a:pt x="0" y="0"/>
                </a:lnTo>
                <a:lnTo>
                  <a:pt x="8312586" y="0"/>
                </a:lnTo>
                <a:lnTo>
                  <a:pt x="8312586" y="6736658"/>
                </a:lnTo>
                <a:close/>
              </a:path>
            </a:pathLst>
          </a:custGeom>
          <a:blipFill>
            <a:blip r:embed="rId4"/>
            <a:stretch>
              <a:fillRect/>
            </a:stretch>
          </a:blipFill>
        </p:spPr>
      </p:sp>
      <p:sp>
        <p:nvSpPr>
          <p:cNvPr id="6" name="Freeform 6"/>
          <p:cNvSpPr/>
          <p:nvPr/>
        </p:nvSpPr>
        <p:spPr>
          <a:xfrm>
            <a:off x="16626589" y="1028700"/>
            <a:ext cx="5146086" cy="7347571"/>
          </a:xfrm>
          <a:custGeom>
            <a:avLst/>
            <a:gdLst/>
            <a:ahLst/>
            <a:cxnLst/>
            <a:rect l="l" t="t" r="r" b="b"/>
            <a:pathLst>
              <a:path w="5146086" h="7347571">
                <a:moveTo>
                  <a:pt x="0" y="0"/>
                </a:moveTo>
                <a:lnTo>
                  <a:pt x="5146086" y="0"/>
                </a:lnTo>
                <a:lnTo>
                  <a:pt x="5146086" y="7347571"/>
                </a:lnTo>
                <a:lnTo>
                  <a:pt x="0" y="7347571"/>
                </a:lnTo>
                <a:lnTo>
                  <a:pt x="0" y="0"/>
                </a:lnTo>
                <a:close/>
              </a:path>
            </a:pathLst>
          </a:custGeom>
          <a:blipFill>
            <a:blip r:embed="rId5"/>
            <a:stretch>
              <a:fillRect/>
            </a:stretch>
          </a:blipFill>
        </p:spPr>
      </p:sp>
      <p:sp>
        <p:nvSpPr>
          <p:cNvPr id="7" name="Freeform 7"/>
          <p:cNvSpPr/>
          <p:nvPr/>
        </p:nvSpPr>
        <p:spPr>
          <a:xfrm rot="-10800000">
            <a:off x="-1641693" y="8376271"/>
            <a:ext cx="8312586" cy="6736658"/>
          </a:xfrm>
          <a:custGeom>
            <a:avLst/>
            <a:gdLst/>
            <a:ahLst/>
            <a:cxnLst/>
            <a:rect l="l" t="t" r="r" b="b"/>
            <a:pathLst>
              <a:path w="8312586" h="6736658">
                <a:moveTo>
                  <a:pt x="0" y="0"/>
                </a:moveTo>
                <a:lnTo>
                  <a:pt x="8312586" y="0"/>
                </a:lnTo>
                <a:lnTo>
                  <a:pt x="8312586" y="6736658"/>
                </a:lnTo>
                <a:lnTo>
                  <a:pt x="0" y="6736658"/>
                </a:lnTo>
                <a:lnTo>
                  <a:pt x="0" y="0"/>
                </a:lnTo>
                <a:close/>
              </a:path>
            </a:pathLst>
          </a:custGeom>
          <a:blipFill>
            <a:blip r:embed="rId4"/>
            <a:stretch>
              <a:fillRect/>
            </a:stretch>
          </a:blipFill>
        </p:spPr>
      </p:sp>
      <p:sp>
        <p:nvSpPr>
          <p:cNvPr id="8" name="Freeform 8"/>
          <p:cNvSpPr/>
          <p:nvPr/>
        </p:nvSpPr>
        <p:spPr>
          <a:xfrm rot="-10800000">
            <a:off x="-3447210" y="1908103"/>
            <a:ext cx="5146086" cy="7347571"/>
          </a:xfrm>
          <a:custGeom>
            <a:avLst/>
            <a:gdLst/>
            <a:ahLst/>
            <a:cxnLst/>
            <a:rect l="l" t="t" r="r" b="b"/>
            <a:pathLst>
              <a:path w="5146086" h="7347571">
                <a:moveTo>
                  <a:pt x="0" y="0"/>
                </a:moveTo>
                <a:lnTo>
                  <a:pt x="5146087" y="0"/>
                </a:lnTo>
                <a:lnTo>
                  <a:pt x="5146087" y="7347571"/>
                </a:lnTo>
                <a:lnTo>
                  <a:pt x="0" y="7347571"/>
                </a:lnTo>
                <a:lnTo>
                  <a:pt x="0" y="0"/>
                </a:lnTo>
                <a:close/>
              </a:path>
            </a:pathLst>
          </a:custGeom>
          <a:blipFill>
            <a:blip r:embed="rId5"/>
            <a:stretch>
              <a:fillRect/>
            </a:stretch>
          </a:blipFill>
        </p:spPr>
      </p:sp>
      <p:sp>
        <p:nvSpPr>
          <p:cNvPr id="9" name="TextBox 9"/>
          <p:cNvSpPr txBox="1"/>
          <p:nvPr/>
        </p:nvSpPr>
        <p:spPr>
          <a:xfrm>
            <a:off x="4042688" y="463479"/>
            <a:ext cx="10202623" cy="1387474"/>
          </a:xfrm>
          <a:prstGeom prst="rect">
            <a:avLst/>
          </a:prstGeom>
        </p:spPr>
        <p:txBody>
          <a:bodyPr lIns="0" tIns="0" rIns="0" bIns="0" rtlCol="0" anchor="t">
            <a:spAutoFit/>
          </a:bodyPr>
          <a:lstStyle/>
          <a:p>
            <a:pPr algn="ctr" rtl="1">
              <a:lnSpc>
                <a:spcPts val="11200"/>
              </a:lnSpc>
            </a:pPr>
            <a:r>
              <a:rPr lang="ar-EG" sz="8000">
                <a:solidFill>
                  <a:srgbClr val="020101"/>
                </a:solidFill>
                <a:latin typeface="Neirizi"/>
                <a:ea typeface="Neirizi"/>
                <a:cs typeface="Neirizi"/>
                <a:sym typeface="Neirizi"/>
                <a:rtl/>
              </a:rPr>
              <a:t>التحولات  الفكرية  للمراهق</a:t>
            </a:r>
          </a:p>
        </p:txBody>
      </p:sp>
      <p:sp>
        <p:nvSpPr>
          <p:cNvPr id="10" name="TextBox 10"/>
          <p:cNvSpPr txBox="1"/>
          <p:nvPr/>
        </p:nvSpPr>
        <p:spPr>
          <a:xfrm>
            <a:off x="2051302" y="3954927"/>
            <a:ext cx="13778238" cy="3601086"/>
          </a:xfrm>
          <a:prstGeom prst="rect">
            <a:avLst/>
          </a:prstGeom>
        </p:spPr>
        <p:txBody>
          <a:bodyPr lIns="0" tIns="0" rIns="0" bIns="0" rtlCol="0" anchor="t">
            <a:spAutoFit/>
          </a:bodyPr>
          <a:lstStyle/>
          <a:p>
            <a:pPr marL="0" lvl="0" indent="0" algn="just" rtl="1">
              <a:lnSpc>
                <a:spcPts val="5739"/>
              </a:lnSpc>
              <a:spcBef>
                <a:spcPct val="0"/>
              </a:spcBef>
            </a:pPr>
            <a:r>
              <a:rPr lang="ar-EG" sz="4099" u="none" strike="noStrike">
                <a:solidFill>
                  <a:srgbClr val="020101"/>
                </a:solidFill>
                <a:latin typeface="29LT Riwaya"/>
                <a:ea typeface="29LT Riwaya"/>
                <a:cs typeface="29LT Riwaya"/>
                <a:sym typeface="29LT Riwaya"/>
                <a:rtl/>
              </a:rPr>
              <a:t>خلال المراهقة، يبدأ تشكّل الهوية الفكرية، حيث يسعى المراهق لتكوين معتقداته الخاصة وقيمه الشخصية. يبدأ في تبنّي آراء مستقلة، مقارنة المعتقدات المختلفة، وتقييم ما يتوافق مع قناعاته. يساعد هذا التطور على بناء شعور بالذات والفردية، ويؤهّله لاتخاذ قرارات مسؤولة والتفاعل النقدي مع المجتمع والمدرسة بشكل واعٍ.</a:t>
            </a:r>
          </a:p>
        </p:txBody>
      </p:sp>
      <p:sp>
        <p:nvSpPr>
          <p:cNvPr id="11" name="TextBox 11"/>
          <p:cNvSpPr txBox="1"/>
          <p:nvPr/>
        </p:nvSpPr>
        <p:spPr>
          <a:xfrm>
            <a:off x="4335853" y="2431269"/>
            <a:ext cx="11386642" cy="962660"/>
          </a:xfrm>
          <a:prstGeom prst="rect">
            <a:avLst/>
          </a:prstGeom>
        </p:spPr>
        <p:txBody>
          <a:bodyPr lIns="0" tIns="0" rIns="0" bIns="0" rtlCol="0" anchor="t">
            <a:spAutoFit/>
          </a:bodyPr>
          <a:lstStyle/>
          <a:p>
            <a:pPr algn="r" rtl="1">
              <a:lnSpc>
                <a:spcPts val="7840"/>
              </a:lnSpc>
            </a:pPr>
            <a:r>
              <a:rPr lang="ar-EG" sz="5600">
                <a:solidFill>
                  <a:srgbClr val="020101"/>
                </a:solidFill>
                <a:latin typeface="Neirizi"/>
                <a:ea typeface="Neirizi"/>
                <a:cs typeface="Neirizi"/>
                <a:sym typeface="Neirizi"/>
                <a:rtl/>
              </a:rPr>
              <a:t>تشكّل الهوية الفكرية</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666" b="-38666"/>
            </a:stretch>
          </a:blipFill>
        </p:spPr>
      </p:sp>
      <p:sp>
        <p:nvSpPr>
          <p:cNvPr id="3" name="Freeform 3"/>
          <p:cNvSpPr/>
          <p:nvPr/>
        </p:nvSpPr>
        <p:spPr>
          <a:xfrm>
            <a:off x="16272366" y="6351518"/>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4" name="Freeform 4"/>
          <p:cNvSpPr/>
          <p:nvPr/>
        </p:nvSpPr>
        <p:spPr>
          <a:xfrm rot="-10800000">
            <a:off x="-2137486" y="-2884054"/>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5" name="Freeform 5"/>
          <p:cNvSpPr/>
          <p:nvPr/>
        </p:nvSpPr>
        <p:spPr>
          <a:xfrm rot="-10800000" flipH="1" flipV="1">
            <a:off x="11673246" y="-4828555"/>
            <a:ext cx="8312586" cy="6736658"/>
          </a:xfrm>
          <a:custGeom>
            <a:avLst/>
            <a:gdLst/>
            <a:ahLst/>
            <a:cxnLst/>
            <a:rect l="l" t="t" r="r" b="b"/>
            <a:pathLst>
              <a:path w="8312586" h="6736658">
                <a:moveTo>
                  <a:pt x="8312586" y="6736658"/>
                </a:moveTo>
                <a:lnTo>
                  <a:pt x="0" y="6736658"/>
                </a:lnTo>
                <a:lnTo>
                  <a:pt x="0" y="0"/>
                </a:lnTo>
                <a:lnTo>
                  <a:pt x="8312586" y="0"/>
                </a:lnTo>
                <a:lnTo>
                  <a:pt x="8312586" y="6736658"/>
                </a:lnTo>
                <a:close/>
              </a:path>
            </a:pathLst>
          </a:custGeom>
          <a:blipFill>
            <a:blip r:embed="rId4"/>
            <a:stretch>
              <a:fillRect/>
            </a:stretch>
          </a:blipFill>
        </p:spPr>
      </p:sp>
      <p:sp>
        <p:nvSpPr>
          <p:cNvPr id="6" name="Freeform 6"/>
          <p:cNvSpPr/>
          <p:nvPr/>
        </p:nvSpPr>
        <p:spPr>
          <a:xfrm>
            <a:off x="16750860" y="1037411"/>
            <a:ext cx="5146086" cy="7347571"/>
          </a:xfrm>
          <a:custGeom>
            <a:avLst/>
            <a:gdLst/>
            <a:ahLst/>
            <a:cxnLst/>
            <a:rect l="l" t="t" r="r" b="b"/>
            <a:pathLst>
              <a:path w="5146086" h="7347571">
                <a:moveTo>
                  <a:pt x="0" y="0"/>
                </a:moveTo>
                <a:lnTo>
                  <a:pt x="5146086" y="0"/>
                </a:lnTo>
                <a:lnTo>
                  <a:pt x="5146086" y="7347571"/>
                </a:lnTo>
                <a:lnTo>
                  <a:pt x="0" y="7347571"/>
                </a:lnTo>
                <a:lnTo>
                  <a:pt x="0" y="0"/>
                </a:lnTo>
                <a:close/>
              </a:path>
            </a:pathLst>
          </a:custGeom>
          <a:blipFill>
            <a:blip r:embed="rId5"/>
            <a:stretch>
              <a:fillRect/>
            </a:stretch>
          </a:blipFill>
        </p:spPr>
      </p:sp>
      <p:sp>
        <p:nvSpPr>
          <p:cNvPr id="7" name="Freeform 7"/>
          <p:cNvSpPr/>
          <p:nvPr/>
        </p:nvSpPr>
        <p:spPr>
          <a:xfrm rot="-10800000">
            <a:off x="-2104991" y="8378898"/>
            <a:ext cx="8312586" cy="6736658"/>
          </a:xfrm>
          <a:custGeom>
            <a:avLst/>
            <a:gdLst/>
            <a:ahLst/>
            <a:cxnLst/>
            <a:rect l="l" t="t" r="r" b="b"/>
            <a:pathLst>
              <a:path w="8312586" h="6736658">
                <a:moveTo>
                  <a:pt x="0" y="0"/>
                </a:moveTo>
                <a:lnTo>
                  <a:pt x="8312586" y="0"/>
                </a:lnTo>
                <a:lnTo>
                  <a:pt x="8312586" y="6736658"/>
                </a:lnTo>
                <a:lnTo>
                  <a:pt x="0" y="6736658"/>
                </a:lnTo>
                <a:lnTo>
                  <a:pt x="0" y="0"/>
                </a:lnTo>
                <a:close/>
              </a:path>
            </a:pathLst>
          </a:custGeom>
          <a:blipFill>
            <a:blip r:embed="rId4"/>
            <a:stretch>
              <a:fillRect/>
            </a:stretch>
          </a:blipFill>
        </p:spPr>
      </p:sp>
      <p:sp>
        <p:nvSpPr>
          <p:cNvPr id="8" name="Freeform 8"/>
          <p:cNvSpPr/>
          <p:nvPr/>
        </p:nvSpPr>
        <p:spPr>
          <a:xfrm rot="-10800000">
            <a:off x="-3591492" y="1908103"/>
            <a:ext cx="5146086" cy="7347571"/>
          </a:xfrm>
          <a:custGeom>
            <a:avLst/>
            <a:gdLst/>
            <a:ahLst/>
            <a:cxnLst/>
            <a:rect l="l" t="t" r="r" b="b"/>
            <a:pathLst>
              <a:path w="5146086" h="7347571">
                <a:moveTo>
                  <a:pt x="0" y="0"/>
                </a:moveTo>
                <a:lnTo>
                  <a:pt x="5146087" y="0"/>
                </a:lnTo>
                <a:lnTo>
                  <a:pt x="5146087" y="7347571"/>
                </a:lnTo>
                <a:lnTo>
                  <a:pt x="0" y="7347571"/>
                </a:lnTo>
                <a:lnTo>
                  <a:pt x="0" y="0"/>
                </a:lnTo>
                <a:close/>
              </a:path>
            </a:pathLst>
          </a:custGeom>
          <a:blipFill>
            <a:blip r:embed="rId5"/>
            <a:stretch>
              <a:fillRect/>
            </a:stretch>
          </a:blipFill>
        </p:spPr>
      </p:sp>
      <p:sp>
        <p:nvSpPr>
          <p:cNvPr id="9" name="TextBox 9"/>
          <p:cNvSpPr txBox="1"/>
          <p:nvPr/>
        </p:nvSpPr>
        <p:spPr>
          <a:xfrm>
            <a:off x="4042688" y="463479"/>
            <a:ext cx="10202623" cy="1387474"/>
          </a:xfrm>
          <a:prstGeom prst="rect">
            <a:avLst/>
          </a:prstGeom>
        </p:spPr>
        <p:txBody>
          <a:bodyPr lIns="0" tIns="0" rIns="0" bIns="0" rtlCol="0" anchor="t">
            <a:spAutoFit/>
          </a:bodyPr>
          <a:lstStyle/>
          <a:p>
            <a:pPr algn="ctr" rtl="1">
              <a:lnSpc>
                <a:spcPts val="11200"/>
              </a:lnSpc>
            </a:pPr>
            <a:r>
              <a:rPr lang="ar-EG" sz="8000">
                <a:solidFill>
                  <a:srgbClr val="020101"/>
                </a:solidFill>
                <a:latin typeface="Neirizi"/>
                <a:ea typeface="Neirizi"/>
                <a:cs typeface="Neirizi"/>
                <a:sym typeface="Neirizi"/>
                <a:rtl/>
              </a:rPr>
              <a:t>التحولات  الفكرية  للمراهق</a:t>
            </a:r>
          </a:p>
        </p:txBody>
      </p:sp>
      <p:sp>
        <p:nvSpPr>
          <p:cNvPr id="10" name="TextBox 10"/>
          <p:cNvSpPr txBox="1"/>
          <p:nvPr/>
        </p:nvSpPr>
        <p:spPr>
          <a:xfrm>
            <a:off x="2051302" y="4072246"/>
            <a:ext cx="13778238" cy="3601086"/>
          </a:xfrm>
          <a:prstGeom prst="rect">
            <a:avLst/>
          </a:prstGeom>
        </p:spPr>
        <p:txBody>
          <a:bodyPr lIns="0" tIns="0" rIns="0" bIns="0" rtlCol="0" anchor="t">
            <a:spAutoFit/>
          </a:bodyPr>
          <a:lstStyle/>
          <a:p>
            <a:pPr marL="0" lvl="0" indent="0" algn="just" rtl="1">
              <a:lnSpc>
                <a:spcPts val="5739"/>
              </a:lnSpc>
              <a:spcBef>
                <a:spcPct val="0"/>
              </a:spcBef>
            </a:pPr>
            <a:r>
              <a:rPr lang="ar-EG" sz="4099" u="none" strike="noStrike">
                <a:solidFill>
                  <a:srgbClr val="020101"/>
                </a:solidFill>
                <a:latin typeface="29LT Riwaya"/>
                <a:ea typeface="29LT Riwaya"/>
                <a:cs typeface="29LT Riwaya"/>
                <a:sym typeface="29LT Riwaya"/>
                <a:rtl/>
              </a:rPr>
              <a:t>خلال المراهقة، يزداد وعي الفرد بالقيم والمعايير الاجتماعية، حيث يصبح أكثر حساسية تجاه العدالة، الأخلاق، والسلوكيات المقبولة أو المرفوضة في المجتمع. يبدأ بالمقارنة بين ما يراه صوابًا وما يمارسه الآخرون، ويتأثر بسلوك الأقران والمعلّمين، مما يعزز قدرته على التمييز بين الصواب والخطأ واتخاذ مواقف متوازنة اجتماعياً وأخلاقياً.</a:t>
            </a:r>
          </a:p>
        </p:txBody>
      </p:sp>
      <p:sp>
        <p:nvSpPr>
          <p:cNvPr id="11" name="TextBox 11"/>
          <p:cNvSpPr txBox="1"/>
          <p:nvPr/>
        </p:nvSpPr>
        <p:spPr>
          <a:xfrm>
            <a:off x="4335853" y="2548588"/>
            <a:ext cx="11386642" cy="962660"/>
          </a:xfrm>
          <a:prstGeom prst="rect">
            <a:avLst/>
          </a:prstGeom>
        </p:spPr>
        <p:txBody>
          <a:bodyPr lIns="0" tIns="0" rIns="0" bIns="0" rtlCol="0" anchor="t">
            <a:spAutoFit/>
          </a:bodyPr>
          <a:lstStyle/>
          <a:p>
            <a:pPr algn="r" rtl="1">
              <a:lnSpc>
                <a:spcPts val="7840"/>
              </a:lnSpc>
            </a:pPr>
            <a:r>
              <a:rPr lang="ar-EG" sz="5600">
                <a:solidFill>
                  <a:srgbClr val="020101"/>
                </a:solidFill>
                <a:latin typeface="Neirizi"/>
                <a:ea typeface="Neirizi"/>
                <a:cs typeface="Neirizi"/>
                <a:sym typeface="Neirizi"/>
                <a:rtl/>
              </a:rPr>
              <a:t>الحساسية للقيم والمعايير الاجتماعية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666" b="-38666"/>
            </a:stretch>
          </a:blipFill>
        </p:spPr>
      </p:sp>
      <p:sp>
        <p:nvSpPr>
          <p:cNvPr id="3" name="Freeform 3"/>
          <p:cNvSpPr/>
          <p:nvPr/>
        </p:nvSpPr>
        <p:spPr>
          <a:xfrm>
            <a:off x="15981939" y="6431770"/>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4" name="Freeform 4"/>
          <p:cNvSpPr/>
          <p:nvPr/>
        </p:nvSpPr>
        <p:spPr>
          <a:xfrm rot="-10800000">
            <a:off x="-2137486" y="-2884054"/>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5" name="Freeform 5"/>
          <p:cNvSpPr/>
          <p:nvPr/>
        </p:nvSpPr>
        <p:spPr>
          <a:xfrm rot="-10800000" flipH="1" flipV="1">
            <a:off x="11673246" y="-4828555"/>
            <a:ext cx="8312586" cy="6736658"/>
          </a:xfrm>
          <a:custGeom>
            <a:avLst/>
            <a:gdLst/>
            <a:ahLst/>
            <a:cxnLst/>
            <a:rect l="l" t="t" r="r" b="b"/>
            <a:pathLst>
              <a:path w="8312586" h="6736658">
                <a:moveTo>
                  <a:pt x="8312586" y="6736658"/>
                </a:moveTo>
                <a:lnTo>
                  <a:pt x="0" y="6736658"/>
                </a:lnTo>
                <a:lnTo>
                  <a:pt x="0" y="0"/>
                </a:lnTo>
                <a:lnTo>
                  <a:pt x="8312586" y="0"/>
                </a:lnTo>
                <a:lnTo>
                  <a:pt x="8312586" y="6736658"/>
                </a:lnTo>
                <a:close/>
              </a:path>
            </a:pathLst>
          </a:custGeom>
          <a:blipFill>
            <a:blip r:embed="rId4"/>
            <a:stretch>
              <a:fillRect/>
            </a:stretch>
          </a:blipFill>
        </p:spPr>
      </p:sp>
      <p:sp>
        <p:nvSpPr>
          <p:cNvPr id="6" name="Freeform 6"/>
          <p:cNvSpPr/>
          <p:nvPr/>
        </p:nvSpPr>
        <p:spPr>
          <a:xfrm>
            <a:off x="16626589" y="1028700"/>
            <a:ext cx="5146086" cy="7347571"/>
          </a:xfrm>
          <a:custGeom>
            <a:avLst/>
            <a:gdLst/>
            <a:ahLst/>
            <a:cxnLst/>
            <a:rect l="l" t="t" r="r" b="b"/>
            <a:pathLst>
              <a:path w="5146086" h="7347571">
                <a:moveTo>
                  <a:pt x="0" y="0"/>
                </a:moveTo>
                <a:lnTo>
                  <a:pt x="5146086" y="0"/>
                </a:lnTo>
                <a:lnTo>
                  <a:pt x="5146086" y="7347571"/>
                </a:lnTo>
                <a:lnTo>
                  <a:pt x="0" y="7347571"/>
                </a:lnTo>
                <a:lnTo>
                  <a:pt x="0" y="0"/>
                </a:lnTo>
                <a:close/>
              </a:path>
            </a:pathLst>
          </a:custGeom>
          <a:blipFill>
            <a:blip r:embed="rId5"/>
            <a:stretch>
              <a:fillRect/>
            </a:stretch>
          </a:blipFill>
        </p:spPr>
      </p:sp>
      <p:sp>
        <p:nvSpPr>
          <p:cNvPr id="7" name="Freeform 7"/>
          <p:cNvSpPr/>
          <p:nvPr/>
        </p:nvSpPr>
        <p:spPr>
          <a:xfrm rot="-10800000">
            <a:off x="-1641693" y="8376271"/>
            <a:ext cx="8312586" cy="6736658"/>
          </a:xfrm>
          <a:custGeom>
            <a:avLst/>
            <a:gdLst/>
            <a:ahLst/>
            <a:cxnLst/>
            <a:rect l="l" t="t" r="r" b="b"/>
            <a:pathLst>
              <a:path w="8312586" h="6736658">
                <a:moveTo>
                  <a:pt x="0" y="0"/>
                </a:moveTo>
                <a:lnTo>
                  <a:pt x="8312586" y="0"/>
                </a:lnTo>
                <a:lnTo>
                  <a:pt x="8312586" y="6736658"/>
                </a:lnTo>
                <a:lnTo>
                  <a:pt x="0" y="6736658"/>
                </a:lnTo>
                <a:lnTo>
                  <a:pt x="0" y="0"/>
                </a:lnTo>
                <a:close/>
              </a:path>
            </a:pathLst>
          </a:custGeom>
          <a:blipFill>
            <a:blip r:embed="rId4"/>
            <a:stretch>
              <a:fillRect/>
            </a:stretch>
          </a:blipFill>
        </p:spPr>
      </p:sp>
      <p:sp>
        <p:nvSpPr>
          <p:cNvPr id="8" name="Freeform 8"/>
          <p:cNvSpPr/>
          <p:nvPr/>
        </p:nvSpPr>
        <p:spPr>
          <a:xfrm rot="-10800000">
            <a:off x="-3447210" y="1908103"/>
            <a:ext cx="5146086" cy="7347571"/>
          </a:xfrm>
          <a:custGeom>
            <a:avLst/>
            <a:gdLst/>
            <a:ahLst/>
            <a:cxnLst/>
            <a:rect l="l" t="t" r="r" b="b"/>
            <a:pathLst>
              <a:path w="5146086" h="7347571">
                <a:moveTo>
                  <a:pt x="0" y="0"/>
                </a:moveTo>
                <a:lnTo>
                  <a:pt x="5146087" y="0"/>
                </a:lnTo>
                <a:lnTo>
                  <a:pt x="5146087" y="7347571"/>
                </a:lnTo>
                <a:lnTo>
                  <a:pt x="0" y="7347571"/>
                </a:lnTo>
                <a:lnTo>
                  <a:pt x="0" y="0"/>
                </a:lnTo>
                <a:close/>
              </a:path>
            </a:pathLst>
          </a:custGeom>
          <a:blipFill>
            <a:blip r:embed="rId5"/>
            <a:stretch>
              <a:fillRect/>
            </a:stretch>
          </a:blipFill>
        </p:spPr>
      </p:sp>
      <p:sp>
        <p:nvSpPr>
          <p:cNvPr id="9" name="TextBox 9"/>
          <p:cNvSpPr txBox="1"/>
          <p:nvPr/>
        </p:nvSpPr>
        <p:spPr>
          <a:xfrm>
            <a:off x="4042688" y="463479"/>
            <a:ext cx="10202623" cy="1387474"/>
          </a:xfrm>
          <a:prstGeom prst="rect">
            <a:avLst/>
          </a:prstGeom>
        </p:spPr>
        <p:txBody>
          <a:bodyPr lIns="0" tIns="0" rIns="0" bIns="0" rtlCol="0" anchor="t">
            <a:spAutoFit/>
          </a:bodyPr>
          <a:lstStyle/>
          <a:p>
            <a:pPr algn="ctr" rtl="1">
              <a:lnSpc>
                <a:spcPts val="11200"/>
              </a:lnSpc>
            </a:pPr>
            <a:r>
              <a:rPr lang="ar-EG" sz="8000">
                <a:solidFill>
                  <a:srgbClr val="020101"/>
                </a:solidFill>
                <a:latin typeface="Neirizi"/>
                <a:ea typeface="Neirizi"/>
                <a:cs typeface="Neirizi"/>
                <a:sym typeface="Neirizi"/>
                <a:rtl/>
              </a:rPr>
              <a:t>التحولات  الفكرية  للمراهق</a:t>
            </a:r>
          </a:p>
        </p:txBody>
      </p:sp>
      <p:sp>
        <p:nvSpPr>
          <p:cNvPr id="10" name="TextBox 10"/>
          <p:cNvSpPr txBox="1"/>
          <p:nvPr/>
        </p:nvSpPr>
        <p:spPr>
          <a:xfrm>
            <a:off x="2051302" y="4110417"/>
            <a:ext cx="13778238" cy="3601086"/>
          </a:xfrm>
          <a:prstGeom prst="rect">
            <a:avLst/>
          </a:prstGeom>
        </p:spPr>
        <p:txBody>
          <a:bodyPr lIns="0" tIns="0" rIns="0" bIns="0" rtlCol="0" anchor="t">
            <a:spAutoFit/>
          </a:bodyPr>
          <a:lstStyle/>
          <a:p>
            <a:pPr marL="0" lvl="0" indent="0" algn="just" rtl="1">
              <a:lnSpc>
                <a:spcPts val="5739"/>
              </a:lnSpc>
              <a:spcBef>
                <a:spcPct val="0"/>
              </a:spcBef>
            </a:pPr>
            <a:r>
              <a:rPr lang="ar-EG" sz="4099" u="none" strike="noStrike" dirty="0">
                <a:solidFill>
                  <a:srgbClr val="020101"/>
                </a:solidFill>
                <a:latin typeface="29LT Riwaya"/>
                <a:ea typeface="29LT Riwaya"/>
                <a:cs typeface="29LT Riwaya"/>
                <a:sym typeface="29LT Riwaya"/>
                <a:rtl/>
              </a:rPr>
              <a:t>خلال المراهقة، يبدأ التفكير في المستقبل والتخطيط بشكل متزايد، حيث ينظر المراهق إلى أهدافه التعليمية والمهنية والحياتية. يصبح قادرًا على تصور الخيارات المتاحة، تقييم المخاطر والفوائد، ووضع خطط لتحقيق طموحاته. هذا التطور يعزز المسؤولية الذاتية، الاستقلالية في اتخاذ القرار، والقدرة على تنظيم الوقت والموارد للوصول إلى أهدافه المستقبلية.</a:t>
            </a:r>
          </a:p>
        </p:txBody>
      </p:sp>
      <p:sp>
        <p:nvSpPr>
          <p:cNvPr id="11" name="TextBox 11"/>
          <p:cNvSpPr txBox="1"/>
          <p:nvPr/>
        </p:nvSpPr>
        <p:spPr>
          <a:xfrm>
            <a:off x="4335853" y="2586759"/>
            <a:ext cx="11386642" cy="962660"/>
          </a:xfrm>
          <a:prstGeom prst="rect">
            <a:avLst/>
          </a:prstGeom>
        </p:spPr>
        <p:txBody>
          <a:bodyPr lIns="0" tIns="0" rIns="0" bIns="0" rtlCol="0" anchor="t">
            <a:spAutoFit/>
          </a:bodyPr>
          <a:lstStyle/>
          <a:p>
            <a:pPr algn="r" rtl="1">
              <a:lnSpc>
                <a:spcPts val="7840"/>
              </a:lnSpc>
            </a:pPr>
            <a:r>
              <a:rPr lang="ar-EG" sz="5600">
                <a:solidFill>
                  <a:srgbClr val="020101"/>
                </a:solidFill>
                <a:latin typeface="Neirizi"/>
                <a:ea typeface="Neirizi"/>
                <a:cs typeface="Neirizi"/>
                <a:sym typeface="Neirizi"/>
                <a:rtl/>
              </a:rPr>
              <a:t>التفكير في المستقبل والتخطيط</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666" b="-38666"/>
            </a:stretch>
          </a:blipFill>
        </p:spPr>
      </p:sp>
      <p:sp>
        <p:nvSpPr>
          <p:cNvPr id="3" name="Freeform 3"/>
          <p:cNvSpPr/>
          <p:nvPr/>
        </p:nvSpPr>
        <p:spPr>
          <a:xfrm>
            <a:off x="15981939" y="6431770"/>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4" name="Freeform 4"/>
          <p:cNvSpPr/>
          <p:nvPr/>
        </p:nvSpPr>
        <p:spPr>
          <a:xfrm rot="-10800000">
            <a:off x="-2137486" y="-2884054"/>
            <a:ext cx="5959136" cy="6736658"/>
          </a:xfrm>
          <a:custGeom>
            <a:avLst/>
            <a:gdLst/>
            <a:ahLst/>
            <a:cxnLst/>
            <a:rect l="l" t="t" r="r" b="b"/>
            <a:pathLst>
              <a:path w="5959136" h="6736658">
                <a:moveTo>
                  <a:pt x="0" y="0"/>
                </a:moveTo>
                <a:lnTo>
                  <a:pt x="5959136" y="0"/>
                </a:lnTo>
                <a:lnTo>
                  <a:pt x="5959136" y="6736658"/>
                </a:lnTo>
                <a:lnTo>
                  <a:pt x="0" y="6736658"/>
                </a:lnTo>
                <a:lnTo>
                  <a:pt x="0" y="0"/>
                </a:lnTo>
                <a:close/>
              </a:path>
            </a:pathLst>
          </a:custGeom>
          <a:blipFill>
            <a:blip r:embed="rId3"/>
            <a:stretch>
              <a:fillRect/>
            </a:stretch>
          </a:blipFill>
        </p:spPr>
      </p:sp>
      <p:sp>
        <p:nvSpPr>
          <p:cNvPr id="5" name="Freeform 5"/>
          <p:cNvSpPr/>
          <p:nvPr/>
        </p:nvSpPr>
        <p:spPr>
          <a:xfrm rot="-10800000" flipH="1" flipV="1">
            <a:off x="11673246" y="-4828555"/>
            <a:ext cx="8312586" cy="6736658"/>
          </a:xfrm>
          <a:custGeom>
            <a:avLst/>
            <a:gdLst/>
            <a:ahLst/>
            <a:cxnLst/>
            <a:rect l="l" t="t" r="r" b="b"/>
            <a:pathLst>
              <a:path w="8312586" h="6736658">
                <a:moveTo>
                  <a:pt x="8312586" y="6736658"/>
                </a:moveTo>
                <a:lnTo>
                  <a:pt x="0" y="6736658"/>
                </a:lnTo>
                <a:lnTo>
                  <a:pt x="0" y="0"/>
                </a:lnTo>
                <a:lnTo>
                  <a:pt x="8312586" y="0"/>
                </a:lnTo>
                <a:lnTo>
                  <a:pt x="8312586" y="6736658"/>
                </a:lnTo>
                <a:close/>
              </a:path>
            </a:pathLst>
          </a:custGeom>
          <a:blipFill>
            <a:blip r:embed="rId4"/>
            <a:stretch>
              <a:fillRect/>
            </a:stretch>
          </a:blipFill>
        </p:spPr>
      </p:sp>
      <p:sp>
        <p:nvSpPr>
          <p:cNvPr id="6" name="Freeform 6"/>
          <p:cNvSpPr/>
          <p:nvPr/>
        </p:nvSpPr>
        <p:spPr>
          <a:xfrm>
            <a:off x="16626589" y="1028700"/>
            <a:ext cx="5146086" cy="7347571"/>
          </a:xfrm>
          <a:custGeom>
            <a:avLst/>
            <a:gdLst/>
            <a:ahLst/>
            <a:cxnLst/>
            <a:rect l="l" t="t" r="r" b="b"/>
            <a:pathLst>
              <a:path w="5146086" h="7347571">
                <a:moveTo>
                  <a:pt x="0" y="0"/>
                </a:moveTo>
                <a:lnTo>
                  <a:pt x="5146086" y="0"/>
                </a:lnTo>
                <a:lnTo>
                  <a:pt x="5146086" y="7347571"/>
                </a:lnTo>
                <a:lnTo>
                  <a:pt x="0" y="7347571"/>
                </a:lnTo>
                <a:lnTo>
                  <a:pt x="0" y="0"/>
                </a:lnTo>
                <a:close/>
              </a:path>
            </a:pathLst>
          </a:custGeom>
          <a:blipFill>
            <a:blip r:embed="rId5"/>
            <a:stretch>
              <a:fillRect/>
            </a:stretch>
          </a:blipFill>
        </p:spPr>
      </p:sp>
      <p:sp>
        <p:nvSpPr>
          <p:cNvPr id="7" name="Freeform 7"/>
          <p:cNvSpPr/>
          <p:nvPr/>
        </p:nvSpPr>
        <p:spPr>
          <a:xfrm rot="-10800000">
            <a:off x="-1641693" y="8376271"/>
            <a:ext cx="8312586" cy="6736658"/>
          </a:xfrm>
          <a:custGeom>
            <a:avLst/>
            <a:gdLst/>
            <a:ahLst/>
            <a:cxnLst/>
            <a:rect l="l" t="t" r="r" b="b"/>
            <a:pathLst>
              <a:path w="8312586" h="6736658">
                <a:moveTo>
                  <a:pt x="0" y="0"/>
                </a:moveTo>
                <a:lnTo>
                  <a:pt x="8312586" y="0"/>
                </a:lnTo>
                <a:lnTo>
                  <a:pt x="8312586" y="6736658"/>
                </a:lnTo>
                <a:lnTo>
                  <a:pt x="0" y="6736658"/>
                </a:lnTo>
                <a:lnTo>
                  <a:pt x="0" y="0"/>
                </a:lnTo>
                <a:close/>
              </a:path>
            </a:pathLst>
          </a:custGeom>
          <a:blipFill>
            <a:blip r:embed="rId4"/>
            <a:stretch>
              <a:fillRect/>
            </a:stretch>
          </a:blipFill>
        </p:spPr>
      </p:sp>
      <p:sp>
        <p:nvSpPr>
          <p:cNvPr id="8" name="Freeform 8"/>
          <p:cNvSpPr/>
          <p:nvPr/>
        </p:nvSpPr>
        <p:spPr>
          <a:xfrm rot="-10800000">
            <a:off x="-3447210" y="1908103"/>
            <a:ext cx="5146086" cy="7347571"/>
          </a:xfrm>
          <a:custGeom>
            <a:avLst/>
            <a:gdLst/>
            <a:ahLst/>
            <a:cxnLst/>
            <a:rect l="l" t="t" r="r" b="b"/>
            <a:pathLst>
              <a:path w="5146086" h="7347571">
                <a:moveTo>
                  <a:pt x="0" y="0"/>
                </a:moveTo>
                <a:lnTo>
                  <a:pt x="5146087" y="0"/>
                </a:lnTo>
                <a:lnTo>
                  <a:pt x="5146087" y="7347571"/>
                </a:lnTo>
                <a:lnTo>
                  <a:pt x="0" y="7347571"/>
                </a:lnTo>
                <a:lnTo>
                  <a:pt x="0" y="0"/>
                </a:lnTo>
                <a:close/>
              </a:path>
            </a:pathLst>
          </a:custGeom>
          <a:blipFill>
            <a:blip r:embed="rId5"/>
            <a:stretch>
              <a:fillRect/>
            </a:stretch>
          </a:blipFill>
        </p:spPr>
      </p:sp>
      <p:sp>
        <p:nvSpPr>
          <p:cNvPr id="9" name="TextBox 9"/>
          <p:cNvSpPr txBox="1"/>
          <p:nvPr/>
        </p:nvSpPr>
        <p:spPr>
          <a:xfrm>
            <a:off x="4042688" y="463479"/>
            <a:ext cx="10202623" cy="1387474"/>
          </a:xfrm>
          <a:prstGeom prst="rect">
            <a:avLst/>
          </a:prstGeom>
        </p:spPr>
        <p:txBody>
          <a:bodyPr lIns="0" tIns="0" rIns="0" bIns="0" rtlCol="0" anchor="t">
            <a:spAutoFit/>
          </a:bodyPr>
          <a:lstStyle/>
          <a:p>
            <a:pPr algn="ctr" rtl="1">
              <a:lnSpc>
                <a:spcPts val="11200"/>
              </a:lnSpc>
            </a:pPr>
            <a:r>
              <a:rPr lang="ar-EG" sz="8000">
                <a:solidFill>
                  <a:srgbClr val="020101"/>
                </a:solidFill>
                <a:latin typeface="Neirizi"/>
                <a:ea typeface="Neirizi"/>
                <a:cs typeface="Neirizi"/>
                <a:sym typeface="Neirizi"/>
                <a:rtl/>
              </a:rPr>
              <a:t>التحولات  الفكرية  للمراهق</a:t>
            </a:r>
          </a:p>
        </p:txBody>
      </p:sp>
      <p:sp>
        <p:nvSpPr>
          <p:cNvPr id="10" name="TextBox 10"/>
          <p:cNvSpPr txBox="1"/>
          <p:nvPr/>
        </p:nvSpPr>
        <p:spPr>
          <a:xfrm>
            <a:off x="2514600" y="3065767"/>
            <a:ext cx="13778238" cy="5116785"/>
          </a:xfrm>
          <a:prstGeom prst="rect">
            <a:avLst/>
          </a:prstGeom>
        </p:spPr>
        <p:txBody>
          <a:bodyPr lIns="0" tIns="0" rIns="0" bIns="0" rtlCol="0" anchor="t">
            <a:spAutoFit/>
          </a:bodyPr>
          <a:lstStyle/>
          <a:p>
            <a:pPr marL="0" lvl="0" indent="0" algn="just" rtl="1">
              <a:lnSpc>
                <a:spcPts val="5739"/>
              </a:lnSpc>
              <a:spcBef>
                <a:spcPct val="0"/>
              </a:spcBef>
            </a:pPr>
            <a:r>
              <a:rPr lang="ar-SA" sz="4099" dirty="0">
                <a:solidFill>
                  <a:srgbClr val="020101"/>
                </a:solidFill>
                <a:latin typeface="29LT Riwaya"/>
                <a:ea typeface="29LT Riwaya"/>
                <a:cs typeface="29LT Riwaya"/>
                <a:sym typeface="29LT Riwaya"/>
                <a:rtl/>
              </a:rPr>
              <a:t>ي</a:t>
            </a:r>
            <a:r>
              <a:rPr lang="ar-EG" sz="4099" u="none" strike="noStrike">
                <a:solidFill>
                  <a:srgbClr val="020101"/>
                </a:solidFill>
                <a:latin typeface="29LT Riwaya"/>
                <a:ea typeface="29LT Riwaya"/>
                <a:cs typeface="29LT Riwaya"/>
                <a:sym typeface="29LT Riwaya"/>
                <a:rtl/>
              </a:rPr>
              <a:t>مكن </a:t>
            </a:r>
            <a:r>
              <a:rPr lang="ar-EG" sz="4099" u="none" strike="noStrike" dirty="0">
                <a:solidFill>
                  <a:srgbClr val="020101"/>
                </a:solidFill>
                <a:latin typeface="29LT Riwaya"/>
                <a:ea typeface="29LT Riwaya"/>
                <a:cs typeface="29LT Riwaya"/>
                <a:sym typeface="29LT Riwaya"/>
                <a:rtl/>
              </a:rPr>
              <a:t>القول إن التحوّلات الفكرية التي يمرّ بها المراهق تمثّل مرحلة أساسية في بناء شخصيته وتحديد ملامح هويته الفكرية. فانتقاله إلى التفكير المجرّد، وتنامي قدرته على التفكير النقدي وحلّ المشكلات، إلى جانب وعيه المتزايد بالقيم الاجتماعية والتخطيط للمستقبل، كلّها مؤشرات على نضجه العقلي واستعداده للاندماج الواعي في المجتمع. ومن هنا تبرز أهمية دور الأسرة والمدرسة في توجيه هذا النمو الفكري ودعمه، بما يساعد المراهق على تحقيق التوازن وبناء شخصية متزنة وقادرة على اتخاذ قرارات سليمة.</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666" b="-38666"/>
            </a:stretch>
          </a:blipFill>
        </p:spPr>
      </p:sp>
      <p:sp>
        <p:nvSpPr>
          <p:cNvPr id="3" name="Freeform 3"/>
          <p:cNvSpPr/>
          <p:nvPr/>
        </p:nvSpPr>
        <p:spPr>
          <a:xfrm>
            <a:off x="15716342" y="3971823"/>
            <a:ext cx="5146086" cy="7347571"/>
          </a:xfrm>
          <a:custGeom>
            <a:avLst/>
            <a:gdLst/>
            <a:ahLst/>
            <a:cxnLst/>
            <a:rect l="l" t="t" r="r" b="b"/>
            <a:pathLst>
              <a:path w="5146086" h="7347571">
                <a:moveTo>
                  <a:pt x="0" y="0"/>
                </a:moveTo>
                <a:lnTo>
                  <a:pt x="5146087" y="0"/>
                </a:lnTo>
                <a:lnTo>
                  <a:pt x="5146087" y="7347571"/>
                </a:lnTo>
                <a:lnTo>
                  <a:pt x="0" y="7347571"/>
                </a:lnTo>
                <a:lnTo>
                  <a:pt x="0" y="0"/>
                </a:lnTo>
                <a:close/>
              </a:path>
            </a:pathLst>
          </a:custGeom>
          <a:blipFill>
            <a:blip r:embed="rId3"/>
            <a:stretch>
              <a:fillRect/>
            </a:stretch>
          </a:blipFill>
        </p:spPr>
      </p:sp>
      <p:sp>
        <p:nvSpPr>
          <p:cNvPr id="4" name="Freeform 4"/>
          <p:cNvSpPr/>
          <p:nvPr/>
        </p:nvSpPr>
        <p:spPr>
          <a:xfrm rot="-10800000">
            <a:off x="-2573043" y="-978514"/>
            <a:ext cx="5146086" cy="7347571"/>
          </a:xfrm>
          <a:custGeom>
            <a:avLst/>
            <a:gdLst/>
            <a:ahLst/>
            <a:cxnLst/>
            <a:rect l="l" t="t" r="r" b="b"/>
            <a:pathLst>
              <a:path w="5146086" h="7347571">
                <a:moveTo>
                  <a:pt x="0" y="0"/>
                </a:moveTo>
                <a:lnTo>
                  <a:pt x="5146086" y="0"/>
                </a:lnTo>
                <a:lnTo>
                  <a:pt x="5146086" y="7347571"/>
                </a:lnTo>
                <a:lnTo>
                  <a:pt x="0" y="7347571"/>
                </a:lnTo>
                <a:lnTo>
                  <a:pt x="0" y="0"/>
                </a:lnTo>
                <a:close/>
              </a:path>
            </a:pathLst>
          </a:custGeom>
          <a:blipFill>
            <a:blip r:embed="rId3"/>
            <a:stretch>
              <a:fillRect/>
            </a:stretch>
          </a:blipFill>
        </p:spPr>
      </p:sp>
      <p:sp>
        <p:nvSpPr>
          <p:cNvPr id="5" name="Freeform 5"/>
          <p:cNvSpPr/>
          <p:nvPr/>
        </p:nvSpPr>
        <p:spPr>
          <a:xfrm rot="-10800000" flipH="1" flipV="1">
            <a:off x="11673246" y="-4828555"/>
            <a:ext cx="8312586" cy="6736658"/>
          </a:xfrm>
          <a:custGeom>
            <a:avLst/>
            <a:gdLst/>
            <a:ahLst/>
            <a:cxnLst/>
            <a:rect l="l" t="t" r="r" b="b"/>
            <a:pathLst>
              <a:path w="8312586" h="6736658">
                <a:moveTo>
                  <a:pt x="8312586" y="6736658"/>
                </a:moveTo>
                <a:lnTo>
                  <a:pt x="0" y="6736658"/>
                </a:lnTo>
                <a:lnTo>
                  <a:pt x="0" y="0"/>
                </a:lnTo>
                <a:lnTo>
                  <a:pt x="8312586" y="0"/>
                </a:lnTo>
                <a:lnTo>
                  <a:pt x="8312586" y="6736658"/>
                </a:lnTo>
                <a:close/>
              </a:path>
            </a:pathLst>
          </a:custGeom>
          <a:blipFill>
            <a:blip r:embed="rId4"/>
            <a:stretch>
              <a:fillRect/>
            </a:stretch>
          </a:blipFill>
        </p:spPr>
      </p:sp>
      <p:sp>
        <p:nvSpPr>
          <p:cNvPr id="6" name="Freeform 6"/>
          <p:cNvSpPr/>
          <p:nvPr/>
        </p:nvSpPr>
        <p:spPr>
          <a:xfrm rot="-10800000">
            <a:off x="-1641693" y="8376271"/>
            <a:ext cx="8312586" cy="6736658"/>
          </a:xfrm>
          <a:custGeom>
            <a:avLst/>
            <a:gdLst/>
            <a:ahLst/>
            <a:cxnLst/>
            <a:rect l="l" t="t" r="r" b="b"/>
            <a:pathLst>
              <a:path w="8312586" h="6736658">
                <a:moveTo>
                  <a:pt x="0" y="0"/>
                </a:moveTo>
                <a:lnTo>
                  <a:pt x="8312586" y="0"/>
                </a:lnTo>
                <a:lnTo>
                  <a:pt x="8312586" y="6736658"/>
                </a:lnTo>
                <a:lnTo>
                  <a:pt x="0" y="6736658"/>
                </a:lnTo>
                <a:lnTo>
                  <a:pt x="0" y="0"/>
                </a:lnTo>
                <a:close/>
              </a:path>
            </a:pathLst>
          </a:custGeom>
          <a:blipFill>
            <a:blip r:embed="rId4"/>
            <a:stretch>
              <a:fillRect/>
            </a:stretch>
          </a:blipFill>
        </p:spPr>
      </p:sp>
      <p:sp>
        <p:nvSpPr>
          <p:cNvPr id="7" name="TextBox 7"/>
          <p:cNvSpPr txBox="1"/>
          <p:nvPr/>
        </p:nvSpPr>
        <p:spPr>
          <a:xfrm>
            <a:off x="2924083" y="3336564"/>
            <a:ext cx="12439835" cy="3230246"/>
          </a:xfrm>
          <a:prstGeom prst="rect">
            <a:avLst/>
          </a:prstGeom>
        </p:spPr>
        <p:txBody>
          <a:bodyPr lIns="0" tIns="0" rIns="0" bIns="0" rtlCol="0" anchor="t">
            <a:spAutoFit/>
          </a:bodyPr>
          <a:lstStyle/>
          <a:p>
            <a:pPr algn="ctr" rtl="1">
              <a:lnSpc>
                <a:spcPts val="26179"/>
              </a:lnSpc>
            </a:pPr>
            <a:r>
              <a:rPr lang="ar-EG" sz="18699">
                <a:solidFill>
                  <a:srgbClr val="020101"/>
                </a:solidFill>
                <a:latin typeface="Neirizi"/>
                <a:ea typeface="Neirizi"/>
                <a:cs typeface="Neirizi"/>
                <a:sym typeface="Neirizi"/>
                <a:rtl/>
              </a:rPr>
              <a:t>شكرًا    لكم</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TotalTime>
  <Words>1157</Words>
  <Application>Microsoft Office PowerPoint</Application>
  <PresentationFormat>Custom</PresentationFormat>
  <Paragraphs>70</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Neirizi</vt:lpstr>
      <vt:lpstr>29LT Riwaya</vt:lpstr>
      <vt:lpstr>29LT Riwaya 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عرض تقديمي لمشروع الأزهار الجمالي باللون البني</dc:title>
  <cp:lastModifiedBy>Said Abenna</cp:lastModifiedBy>
  <cp:revision>10</cp:revision>
  <dcterms:created xsi:type="dcterms:W3CDTF">2006-08-16T00:00:00Z</dcterms:created>
  <dcterms:modified xsi:type="dcterms:W3CDTF">2026-01-29T18:52:02Z</dcterms:modified>
  <dc:identifier>DAG_nJLXzwQ</dc:identifier>
</cp:coreProperties>
</file>
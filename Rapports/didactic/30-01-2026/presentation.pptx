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2" r:id="rId4"/>
    <p:sldId id="304" r:id="rId5"/>
    <p:sldId id="305" r:id="rId6"/>
    <p:sldId id="306" r:id="rId7"/>
    <p:sldId id="307" r:id="rId8"/>
  </p:sldIdLst>
  <p:sldSz cx="18288000" cy="10287000"/>
  <p:notesSz cx="6858000" cy="9144000"/>
  <p:embeddedFontLst>
    <p:embeddedFont>
      <p:font typeface="IreneFlorentina" panose="020B0604020202020204" charset="0"/>
      <p:regular r:id="rId9"/>
    </p:embeddedFont>
    <p:embeddedFont>
      <p:font typeface="Open Sans Bold" panose="020B0806030504020204" pitchFamily="34" charset="0"/>
      <p:regular r:id="rId10"/>
      <p:bold r:id="rId11"/>
    </p:embeddedFont>
    <p:embeddedFont>
      <p:font typeface="Quicksand" panose="020B0604020202020204" charset="0"/>
      <p:regular r:id="rId12"/>
    </p:embeddedFont>
    <p:embeddedFont>
      <p:font typeface="Quicksand Medium"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E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8" d="100"/>
          <a:sy n="58" d="100"/>
        </p:scale>
        <p:origin x="68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descr="Une image contenant bleu vert, conception&#10;&#10;Le contenu généré par l’IA peut être incorrect.">
            <a:extLst>
              <a:ext uri="{FF2B5EF4-FFF2-40B4-BE49-F238E27FC236}">
                <a16:creationId xmlns:a16="http://schemas.microsoft.com/office/drawing/2014/main" id="{F66A1A89-2D9A-E503-2033-DDD038847321}"/>
              </a:ext>
            </a:extLst>
          </p:cNvPr>
          <p:cNvPicPr>
            <a:picLocks noChangeAspect="1"/>
          </p:cNvPicPr>
          <p:nvPr/>
        </p:nvPicPr>
        <p:blipFill>
          <a:blip r:embed="rId2"/>
          <a:stretch>
            <a:fillRect/>
          </a:stretch>
        </p:blipFill>
        <p:spPr>
          <a:xfrm>
            <a:off x="10519477" y="9029700"/>
            <a:ext cx="3653723" cy="1066800"/>
          </a:xfrm>
          <a:prstGeom prst="rect">
            <a:avLst/>
          </a:prstGeom>
        </p:spPr>
      </p:pic>
      <p:pic>
        <p:nvPicPr>
          <p:cNvPr id="15" name="Image 14" descr="Une image contenant bleu vert, conception&#10;&#10;Le contenu généré par l’IA peut être incorrect.">
            <a:extLst>
              <a:ext uri="{FF2B5EF4-FFF2-40B4-BE49-F238E27FC236}">
                <a16:creationId xmlns:a16="http://schemas.microsoft.com/office/drawing/2014/main" id="{0E1D00D9-0F6D-A877-9FB3-B10BD2AC4DAF}"/>
              </a:ext>
            </a:extLst>
          </p:cNvPr>
          <p:cNvPicPr>
            <a:picLocks noChangeAspect="1"/>
          </p:cNvPicPr>
          <p:nvPr/>
        </p:nvPicPr>
        <p:blipFill>
          <a:blip r:embed="rId2"/>
          <a:stretch>
            <a:fillRect/>
          </a:stretch>
        </p:blipFill>
        <p:spPr>
          <a:xfrm>
            <a:off x="10519477" y="5875663"/>
            <a:ext cx="4343400" cy="828555"/>
          </a:xfrm>
          <a:prstGeom prst="rect">
            <a:avLst/>
          </a:prstGeom>
        </p:spPr>
      </p:pic>
      <p:pic>
        <p:nvPicPr>
          <p:cNvPr id="13" name="Image 12" descr="Une image contenant bleu vert, conception&#10;&#10;Le contenu généré par l’IA peut être incorrect.">
            <a:extLst>
              <a:ext uri="{FF2B5EF4-FFF2-40B4-BE49-F238E27FC236}">
                <a16:creationId xmlns:a16="http://schemas.microsoft.com/office/drawing/2014/main" id="{00B8830E-A20F-D70E-0511-813A7A03F4CC}"/>
              </a:ext>
            </a:extLst>
          </p:cNvPr>
          <p:cNvPicPr>
            <a:picLocks noChangeAspect="1"/>
          </p:cNvPicPr>
          <p:nvPr/>
        </p:nvPicPr>
        <p:blipFill>
          <a:blip r:embed="rId2"/>
          <a:stretch>
            <a:fillRect/>
          </a:stretch>
        </p:blipFill>
        <p:spPr>
          <a:xfrm>
            <a:off x="634005" y="5829300"/>
            <a:ext cx="4343400" cy="828554"/>
          </a:xfrm>
          <a:prstGeom prst="rect">
            <a:avLst/>
          </a:prstGeom>
        </p:spPr>
      </p:pic>
      <p:pic>
        <p:nvPicPr>
          <p:cNvPr id="11" name="Image 10" descr="Une image contenant Rectangle, capture d’écran, conception&#10;&#10;Le contenu généré par l’IA peut être incorrect.">
            <a:extLst>
              <a:ext uri="{FF2B5EF4-FFF2-40B4-BE49-F238E27FC236}">
                <a16:creationId xmlns:a16="http://schemas.microsoft.com/office/drawing/2014/main" id="{1AF03469-95E4-8CCB-900B-80E3178A8D07}"/>
              </a:ext>
            </a:extLst>
          </p:cNvPr>
          <p:cNvPicPr>
            <a:picLocks noChangeAspect="1"/>
          </p:cNvPicPr>
          <p:nvPr/>
        </p:nvPicPr>
        <p:blipFill>
          <a:blip r:embed="rId3"/>
          <a:stretch>
            <a:fillRect/>
          </a:stretch>
        </p:blipFill>
        <p:spPr>
          <a:xfrm>
            <a:off x="381000" y="3009900"/>
            <a:ext cx="17526000" cy="2659882"/>
          </a:xfrm>
          <a:prstGeom prst="rect">
            <a:avLst/>
          </a:prstGeom>
        </p:spPr>
      </p:pic>
      <p:sp>
        <p:nvSpPr>
          <p:cNvPr id="2" name="Freeform 2"/>
          <p:cNvSpPr/>
          <p:nvPr/>
        </p:nvSpPr>
        <p:spPr>
          <a:xfrm rot="4619462">
            <a:off x="18956533" y="6161484"/>
            <a:ext cx="3252501" cy="7579981"/>
          </a:xfrm>
          <a:custGeom>
            <a:avLst/>
            <a:gdLst/>
            <a:ahLst/>
            <a:cxnLst/>
            <a:rect l="l" t="t" r="r" b="b"/>
            <a:pathLst>
              <a:path w="3252501" h="7579981">
                <a:moveTo>
                  <a:pt x="0" y="0"/>
                </a:moveTo>
                <a:lnTo>
                  <a:pt x="3252501" y="0"/>
                </a:lnTo>
                <a:lnTo>
                  <a:pt x="3252501" y="7579981"/>
                </a:lnTo>
                <a:lnTo>
                  <a:pt x="0" y="75799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noProof="0" dirty="0"/>
          </a:p>
        </p:txBody>
      </p:sp>
      <p:sp>
        <p:nvSpPr>
          <p:cNvPr id="3" name="Freeform 3"/>
          <p:cNvSpPr/>
          <p:nvPr/>
        </p:nvSpPr>
        <p:spPr>
          <a:xfrm>
            <a:off x="4764510" y="107703"/>
            <a:ext cx="7449447" cy="2844766"/>
          </a:xfrm>
          <a:custGeom>
            <a:avLst/>
            <a:gdLst/>
            <a:ahLst/>
            <a:cxnLst/>
            <a:rect l="l" t="t" r="r" b="b"/>
            <a:pathLst>
              <a:path w="7449447" h="2844766">
                <a:moveTo>
                  <a:pt x="0" y="0"/>
                </a:moveTo>
                <a:lnTo>
                  <a:pt x="7449448" y="0"/>
                </a:lnTo>
                <a:lnTo>
                  <a:pt x="7449448" y="2844766"/>
                </a:lnTo>
                <a:lnTo>
                  <a:pt x="0" y="2844766"/>
                </a:lnTo>
                <a:lnTo>
                  <a:pt x="0" y="0"/>
                </a:lnTo>
                <a:close/>
              </a:path>
            </a:pathLst>
          </a:custGeom>
          <a:blipFill>
            <a:blip r:embed="rId6"/>
            <a:stretch>
              <a:fillRect t="-6934" b="-6740"/>
            </a:stretch>
          </a:blipFill>
        </p:spPr>
        <p:txBody>
          <a:bodyPr/>
          <a:lstStyle/>
          <a:p>
            <a:endParaRPr lang="fr-FR" noProof="0" dirty="0"/>
          </a:p>
        </p:txBody>
      </p:sp>
      <p:sp>
        <p:nvSpPr>
          <p:cNvPr id="4" name="TextBox 4"/>
          <p:cNvSpPr txBox="1"/>
          <p:nvPr/>
        </p:nvSpPr>
        <p:spPr>
          <a:xfrm>
            <a:off x="530942" y="3345682"/>
            <a:ext cx="17226116" cy="2266950"/>
          </a:xfrm>
          <a:prstGeom prst="rect">
            <a:avLst/>
          </a:prstGeom>
        </p:spPr>
        <p:txBody>
          <a:bodyPr lIns="0" tIns="0" rIns="0" bIns="0" rtlCol="0" anchor="t">
            <a:spAutoFit/>
          </a:bodyPr>
          <a:lstStyle/>
          <a:p>
            <a:pPr marL="0" lvl="0" indent="0" algn="ctr">
              <a:lnSpc>
                <a:spcPts val="5880"/>
              </a:lnSpc>
              <a:spcBef>
                <a:spcPct val="0"/>
              </a:spcBef>
            </a:pPr>
            <a:r>
              <a:rPr lang="fr-FR" sz="4900" noProof="0" dirty="0">
                <a:solidFill>
                  <a:srgbClr val="1F244A"/>
                </a:solidFill>
                <a:latin typeface="IreneFlorentina"/>
                <a:ea typeface="IreneFlorentina"/>
                <a:cs typeface="IreneFlorentina"/>
                <a:sym typeface="IreneFlorentina"/>
              </a:rPr>
              <a:t>INTRODUCTION A LA DIDACTIQUE DISCIPLINAIRE (L'ÉPISTÉMOLOGIE ET L'HISTOIRE DES SCIENCES PHYSIQUE-CHIMIE)</a:t>
            </a:r>
          </a:p>
        </p:txBody>
      </p:sp>
      <p:sp>
        <p:nvSpPr>
          <p:cNvPr id="5" name="TextBox 5"/>
          <p:cNvSpPr txBox="1"/>
          <p:nvPr/>
        </p:nvSpPr>
        <p:spPr>
          <a:xfrm>
            <a:off x="10726993" y="5905910"/>
            <a:ext cx="3928368" cy="707136"/>
          </a:xfrm>
          <a:prstGeom prst="rect">
            <a:avLst/>
          </a:prstGeom>
        </p:spPr>
        <p:txBody>
          <a:bodyPr lIns="0" tIns="0" rIns="0" bIns="0" rtlCol="0" anchor="t">
            <a:spAutoFit/>
          </a:bodyPr>
          <a:lstStyle/>
          <a:p>
            <a:pPr algn="ctr">
              <a:lnSpc>
                <a:spcPts val="5652"/>
              </a:lnSpc>
              <a:spcBef>
                <a:spcPct val="0"/>
              </a:spcBef>
            </a:pPr>
            <a:r>
              <a:rPr lang="fr-FR" sz="3600" noProof="0" dirty="0">
                <a:solidFill>
                  <a:srgbClr val="1F244A"/>
                </a:solidFill>
                <a:latin typeface="IreneFlorentina"/>
                <a:ea typeface="IreneFlorentina"/>
                <a:cs typeface="IreneFlorentina"/>
                <a:sym typeface="IreneFlorentina"/>
              </a:rPr>
              <a:t>Encadré par : </a:t>
            </a:r>
          </a:p>
        </p:txBody>
      </p:sp>
      <p:sp>
        <p:nvSpPr>
          <p:cNvPr id="6" name="TextBox 6"/>
          <p:cNvSpPr txBox="1"/>
          <p:nvPr/>
        </p:nvSpPr>
        <p:spPr>
          <a:xfrm>
            <a:off x="11353800" y="6915370"/>
            <a:ext cx="5505649" cy="707136"/>
          </a:xfrm>
          <a:prstGeom prst="rect">
            <a:avLst/>
          </a:prstGeom>
        </p:spPr>
        <p:txBody>
          <a:bodyPr lIns="0" tIns="0" rIns="0" bIns="0" rtlCol="0" anchor="t">
            <a:spAutoFit/>
          </a:bodyPr>
          <a:lstStyle/>
          <a:p>
            <a:pPr algn="ctr">
              <a:lnSpc>
                <a:spcPts val="5652"/>
              </a:lnSpc>
              <a:spcBef>
                <a:spcPct val="0"/>
              </a:spcBef>
            </a:pPr>
            <a:r>
              <a:rPr lang="fr-FR" sz="3600" noProof="0" dirty="0">
                <a:solidFill>
                  <a:srgbClr val="1F244A"/>
                </a:solidFill>
                <a:latin typeface="IreneFlorentina"/>
                <a:ea typeface="IreneFlorentina"/>
                <a:cs typeface="IreneFlorentina"/>
                <a:sym typeface="IreneFlorentina"/>
              </a:rPr>
              <a:t>Pr. Lahcen EZ-ZARIY</a:t>
            </a:r>
          </a:p>
        </p:txBody>
      </p:sp>
      <p:sp>
        <p:nvSpPr>
          <p:cNvPr id="7" name="TextBox 7"/>
          <p:cNvSpPr txBox="1"/>
          <p:nvPr/>
        </p:nvSpPr>
        <p:spPr>
          <a:xfrm>
            <a:off x="623119" y="5917432"/>
            <a:ext cx="4141391" cy="707136"/>
          </a:xfrm>
          <a:prstGeom prst="rect">
            <a:avLst/>
          </a:prstGeom>
        </p:spPr>
        <p:txBody>
          <a:bodyPr lIns="0" tIns="0" rIns="0" bIns="0" rtlCol="0" anchor="t">
            <a:spAutoFit/>
          </a:bodyPr>
          <a:lstStyle/>
          <a:p>
            <a:pPr algn="ctr">
              <a:lnSpc>
                <a:spcPts val="5652"/>
              </a:lnSpc>
              <a:spcBef>
                <a:spcPct val="0"/>
              </a:spcBef>
            </a:pPr>
            <a:r>
              <a:rPr lang="fr-FR" sz="3600" noProof="0" dirty="0">
                <a:solidFill>
                  <a:srgbClr val="1F244A"/>
                </a:solidFill>
                <a:latin typeface="IreneFlorentina"/>
                <a:ea typeface="IreneFlorentina"/>
                <a:cs typeface="IreneFlorentina"/>
                <a:sym typeface="IreneFlorentina"/>
              </a:rPr>
              <a:t>Présenté par : </a:t>
            </a:r>
          </a:p>
        </p:txBody>
      </p:sp>
      <p:sp>
        <p:nvSpPr>
          <p:cNvPr id="8" name="TextBox 8"/>
          <p:cNvSpPr txBox="1"/>
          <p:nvPr/>
        </p:nvSpPr>
        <p:spPr>
          <a:xfrm>
            <a:off x="1140386" y="6643618"/>
            <a:ext cx="8384614" cy="3535679"/>
          </a:xfrm>
          <a:prstGeom prst="rect">
            <a:avLst/>
          </a:prstGeom>
        </p:spPr>
        <p:txBody>
          <a:bodyPr wrap="square" lIns="0" tIns="0" rIns="0" bIns="0" rtlCol="0" anchor="t">
            <a:spAutoFit/>
          </a:bodyPr>
          <a:lstStyle/>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HNINI ZAKARIA</a:t>
            </a:r>
          </a:p>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ABENNA SAID </a:t>
            </a:r>
          </a:p>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HARBOUNI MOHAMED-AMINE </a:t>
            </a:r>
          </a:p>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ELADDANI YASSINE</a:t>
            </a:r>
          </a:p>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OUYIDIR ILHAM</a:t>
            </a:r>
          </a:p>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SIRAGE-EDDINE FATIMA EZZAHRA</a:t>
            </a:r>
          </a:p>
        </p:txBody>
      </p:sp>
      <p:sp>
        <p:nvSpPr>
          <p:cNvPr id="9" name="TextBox 9"/>
          <p:cNvSpPr txBox="1"/>
          <p:nvPr/>
        </p:nvSpPr>
        <p:spPr>
          <a:xfrm>
            <a:off x="10736328" y="9064379"/>
            <a:ext cx="3227884" cy="887095"/>
          </a:xfrm>
          <a:prstGeom prst="rect">
            <a:avLst/>
          </a:prstGeom>
        </p:spPr>
        <p:txBody>
          <a:bodyPr lIns="0" tIns="0" rIns="0" bIns="0" rtlCol="0" anchor="t">
            <a:spAutoFit/>
          </a:bodyPr>
          <a:lstStyle/>
          <a:p>
            <a:pPr algn="ctr">
              <a:lnSpc>
                <a:spcPts val="7279"/>
              </a:lnSpc>
            </a:pPr>
            <a:r>
              <a:rPr lang="fr-FR" sz="5199" b="1" noProof="0" dirty="0">
                <a:solidFill>
                  <a:srgbClr val="1F244A"/>
                </a:solidFill>
                <a:latin typeface="Open Sans Bold"/>
                <a:ea typeface="Open Sans Bold"/>
                <a:cs typeface="Open Sans Bold"/>
                <a:sym typeface="Open Sans Bold"/>
              </a:rPr>
              <a:t>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2">
            <a:extLst>
              <a:ext uri="{FF2B5EF4-FFF2-40B4-BE49-F238E27FC236}">
                <a16:creationId xmlns:a16="http://schemas.microsoft.com/office/drawing/2014/main" id="{96FA4EF2-5D08-E996-7978-34663E473450}"/>
              </a:ext>
            </a:extLst>
          </p:cNvPr>
          <p:cNvSpPr/>
          <p:nvPr/>
        </p:nvSpPr>
        <p:spPr>
          <a:xfrm>
            <a:off x="6400800" y="346714"/>
            <a:ext cx="4439069" cy="1143000"/>
          </a:xfrm>
          <a:custGeom>
            <a:avLst/>
            <a:gdLst/>
            <a:ahLst/>
            <a:cxnLst/>
            <a:rect l="l" t="t" r="r" b="b"/>
            <a:pathLst>
              <a:path w="7315200" h="1330036">
                <a:moveTo>
                  <a:pt x="0" y="0"/>
                </a:moveTo>
                <a:lnTo>
                  <a:pt x="7315200" y="0"/>
                </a:lnTo>
                <a:lnTo>
                  <a:pt x="7315200" y="1330036"/>
                </a:lnTo>
                <a:lnTo>
                  <a:pt x="0" y="13300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fr-FR" noProof="0" dirty="0"/>
          </a:p>
        </p:txBody>
      </p:sp>
      <p:grpSp>
        <p:nvGrpSpPr>
          <p:cNvPr id="2" name="Group 2"/>
          <p:cNvGrpSpPr/>
          <p:nvPr/>
        </p:nvGrpSpPr>
        <p:grpSpPr>
          <a:xfrm>
            <a:off x="1414991" y="1543766"/>
            <a:ext cx="771999" cy="771999"/>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grpSp>
        <p:nvGrpSpPr>
          <p:cNvPr id="4" name="Group 4"/>
          <p:cNvGrpSpPr/>
          <p:nvPr/>
        </p:nvGrpSpPr>
        <p:grpSpPr>
          <a:xfrm>
            <a:off x="1414991" y="2447702"/>
            <a:ext cx="771999" cy="771999"/>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grpSp>
        <p:nvGrpSpPr>
          <p:cNvPr id="6" name="Group 6"/>
          <p:cNvGrpSpPr/>
          <p:nvPr/>
        </p:nvGrpSpPr>
        <p:grpSpPr>
          <a:xfrm>
            <a:off x="1414991" y="5007383"/>
            <a:ext cx="771999" cy="771999"/>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grpSp>
        <p:nvGrpSpPr>
          <p:cNvPr id="8" name="Group 8"/>
          <p:cNvGrpSpPr/>
          <p:nvPr/>
        </p:nvGrpSpPr>
        <p:grpSpPr>
          <a:xfrm>
            <a:off x="1414991" y="3727543"/>
            <a:ext cx="771999" cy="771999"/>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sp>
        <p:nvSpPr>
          <p:cNvPr id="10" name="Freeform 10"/>
          <p:cNvSpPr/>
          <p:nvPr/>
        </p:nvSpPr>
        <p:spPr>
          <a:xfrm>
            <a:off x="13781961" y="3651504"/>
            <a:ext cx="3916104" cy="2997599"/>
          </a:xfrm>
          <a:custGeom>
            <a:avLst/>
            <a:gdLst/>
            <a:ahLst/>
            <a:cxnLst/>
            <a:rect l="l" t="t" r="r" b="b"/>
            <a:pathLst>
              <a:path w="3916104" h="2997599">
                <a:moveTo>
                  <a:pt x="0" y="0"/>
                </a:moveTo>
                <a:lnTo>
                  <a:pt x="3916104" y="0"/>
                </a:lnTo>
                <a:lnTo>
                  <a:pt x="3916104" y="2997600"/>
                </a:lnTo>
                <a:lnTo>
                  <a:pt x="0" y="2997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noProof="0" dirty="0"/>
          </a:p>
        </p:txBody>
      </p:sp>
      <p:sp>
        <p:nvSpPr>
          <p:cNvPr id="11" name="TextBox 11"/>
          <p:cNvSpPr txBox="1"/>
          <p:nvPr/>
        </p:nvSpPr>
        <p:spPr>
          <a:xfrm>
            <a:off x="2760146" y="1352550"/>
            <a:ext cx="8573367" cy="760093"/>
          </a:xfrm>
          <a:prstGeom prst="rect">
            <a:avLst/>
          </a:prstGeom>
        </p:spPr>
        <p:txBody>
          <a:bodyPr lIns="0" tIns="0" rIns="0" bIns="0" rtlCol="0" anchor="t">
            <a:spAutoFit/>
          </a:bodyPr>
          <a:lstStyle/>
          <a:p>
            <a:pPr algn="l">
              <a:lnSpc>
                <a:spcPts val="6600"/>
              </a:lnSpc>
            </a:pPr>
            <a:r>
              <a:rPr lang="fr-FR" sz="3300" noProof="0" dirty="0">
                <a:solidFill>
                  <a:srgbClr val="000000"/>
                </a:solidFill>
                <a:latin typeface="Quicksand Medium"/>
                <a:ea typeface="Quicksand Medium"/>
                <a:cs typeface="Quicksand Medium"/>
                <a:sym typeface="Quicksand Medium"/>
              </a:rPr>
              <a:t>introduction</a:t>
            </a:r>
          </a:p>
        </p:txBody>
      </p:sp>
      <p:sp>
        <p:nvSpPr>
          <p:cNvPr id="12" name="TextBox 12"/>
          <p:cNvSpPr txBox="1"/>
          <p:nvPr/>
        </p:nvSpPr>
        <p:spPr>
          <a:xfrm>
            <a:off x="1528385" y="1695416"/>
            <a:ext cx="545211" cy="476284"/>
          </a:xfrm>
          <a:prstGeom prst="rect">
            <a:avLst/>
          </a:prstGeom>
        </p:spPr>
        <p:txBody>
          <a:bodyPr lIns="0" tIns="0" rIns="0" bIns="0" rtlCol="0" anchor="t">
            <a:spAutoFit/>
          </a:bodyPr>
          <a:lstStyle/>
          <a:p>
            <a:pPr algn="ctr">
              <a:lnSpc>
                <a:spcPts val="4239"/>
              </a:lnSpc>
            </a:pPr>
            <a:r>
              <a:rPr lang="fr-FR" sz="2700" noProof="0" dirty="0">
                <a:solidFill>
                  <a:srgbClr val="FFFFFF"/>
                </a:solidFill>
                <a:latin typeface="IreneFlorentina"/>
                <a:ea typeface="IreneFlorentina"/>
                <a:cs typeface="IreneFlorentina"/>
                <a:sym typeface="IreneFlorentina"/>
              </a:rPr>
              <a:t>1</a:t>
            </a:r>
          </a:p>
        </p:txBody>
      </p:sp>
      <p:sp>
        <p:nvSpPr>
          <p:cNvPr id="13" name="TextBox 13"/>
          <p:cNvSpPr txBox="1"/>
          <p:nvPr/>
        </p:nvSpPr>
        <p:spPr>
          <a:xfrm>
            <a:off x="2760146" y="2256487"/>
            <a:ext cx="8573367"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Didactique et pédagogie</a:t>
            </a:r>
          </a:p>
        </p:txBody>
      </p:sp>
      <p:sp>
        <p:nvSpPr>
          <p:cNvPr id="14" name="TextBox 14"/>
          <p:cNvSpPr txBox="1"/>
          <p:nvPr/>
        </p:nvSpPr>
        <p:spPr>
          <a:xfrm>
            <a:off x="1528385" y="2533616"/>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u="none" noProof="0" dirty="0">
                <a:solidFill>
                  <a:srgbClr val="FFFFFF"/>
                </a:solidFill>
                <a:latin typeface="IreneFlorentina"/>
                <a:ea typeface="IreneFlorentina"/>
                <a:cs typeface="IreneFlorentina"/>
                <a:sym typeface="IreneFlorentina"/>
              </a:rPr>
              <a:t>2</a:t>
            </a:r>
          </a:p>
        </p:txBody>
      </p:sp>
      <p:sp>
        <p:nvSpPr>
          <p:cNvPr id="15" name="TextBox 15"/>
          <p:cNvSpPr txBox="1"/>
          <p:nvPr/>
        </p:nvSpPr>
        <p:spPr>
          <a:xfrm>
            <a:off x="2760146" y="4816168"/>
            <a:ext cx="11301818"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l'épistémologie et l'histoire des sciences(PC)</a:t>
            </a:r>
          </a:p>
        </p:txBody>
      </p:sp>
      <p:sp>
        <p:nvSpPr>
          <p:cNvPr id="16" name="TextBox 16"/>
          <p:cNvSpPr txBox="1"/>
          <p:nvPr/>
        </p:nvSpPr>
        <p:spPr>
          <a:xfrm>
            <a:off x="1528385" y="5124416"/>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u="none" noProof="0" dirty="0">
                <a:solidFill>
                  <a:srgbClr val="FFFFFF"/>
                </a:solidFill>
                <a:latin typeface="IreneFlorentina"/>
                <a:ea typeface="IreneFlorentina"/>
                <a:cs typeface="IreneFlorentina"/>
                <a:sym typeface="IreneFlorentina"/>
              </a:rPr>
              <a:t>4</a:t>
            </a:r>
          </a:p>
        </p:txBody>
      </p:sp>
      <p:sp>
        <p:nvSpPr>
          <p:cNvPr id="17" name="TextBox 17"/>
          <p:cNvSpPr txBox="1"/>
          <p:nvPr/>
        </p:nvSpPr>
        <p:spPr>
          <a:xfrm>
            <a:off x="2760146" y="3536327"/>
            <a:ext cx="9237044"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Différence et Utilité de la didactique </a:t>
            </a:r>
          </a:p>
        </p:txBody>
      </p:sp>
      <p:sp>
        <p:nvSpPr>
          <p:cNvPr id="18" name="TextBox 18"/>
          <p:cNvSpPr txBox="1"/>
          <p:nvPr/>
        </p:nvSpPr>
        <p:spPr>
          <a:xfrm>
            <a:off x="1528385" y="3829016"/>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u="none" noProof="0" dirty="0">
                <a:solidFill>
                  <a:srgbClr val="FFFFFF"/>
                </a:solidFill>
                <a:latin typeface="IreneFlorentina"/>
                <a:ea typeface="IreneFlorentina"/>
                <a:cs typeface="IreneFlorentina"/>
                <a:sym typeface="IreneFlorentina"/>
              </a:rPr>
              <a:t>3</a:t>
            </a:r>
          </a:p>
        </p:txBody>
      </p:sp>
      <p:sp>
        <p:nvSpPr>
          <p:cNvPr id="19" name="TextBox 19"/>
          <p:cNvSpPr txBox="1"/>
          <p:nvPr/>
        </p:nvSpPr>
        <p:spPr>
          <a:xfrm>
            <a:off x="6561784" y="400766"/>
            <a:ext cx="3698543" cy="1090042"/>
          </a:xfrm>
          <a:prstGeom prst="rect">
            <a:avLst/>
          </a:prstGeom>
        </p:spPr>
        <p:txBody>
          <a:bodyPr lIns="0" tIns="0" rIns="0" bIns="0" rtlCol="0" anchor="t">
            <a:spAutoFit/>
          </a:bodyPr>
          <a:lstStyle/>
          <a:p>
            <a:pPr marL="0" lvl="0" indent="0" algn="ctr">
              <a:lnSpc>
                <a:spcPts val="8520"/>
              </a:lnSpc>
              <a:spcBef>
                <a:spcPct val="0"/>
              </a:spcBef>
            </a:pPr>
            <a:r>
              <a:rPr lang="fr-FR" sz="7100" noProof="0" dirty="0">
                <a:solidFill>
                  <a:srgbClr val="000000"/>
                </a:solidFill>
                <a:latin typeface="IreneFlorentina"/>
                <a:ea typeface="IreneFlorentina"/>
                <a:cs typeface="IreneFlorentina"/>
                <a:sym typeface="IreneFlorentina"/>
              </a:rPr>
              <a:t>PLAN</a:t>
            </a:r>
          </a:p>
        </p:txBody>
      </p:sp>
      <p:grpSp>
        <p:nvGrpSpPr>
          <p:cNvPr id="20" name="Group 20"/>
          <p:cNvGrpSpPr/>
          <p:nvPr/>
        </p:nvGrpSpPr>
        <p:grpSpPr>
          <a:xfrm>
            <a:off x="1414991" y="6179794"/>
            <a:ext cx="771999" cy="771999"/>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sp>
        <p:nvSpPr>
          <p:cNvPr id="22" name="TextBox 22"/>
          <p:cNvSpPr txBox="1"/>
          <p:nvPr/>
        </p:nvSpPr>
        <p:spPr>
          <a:xfrm>
            <a:off x="2760146" y="5988579"/>
            <a:ext cx="12186722"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Nature et caractéristiques de la science </a:t>
            </a:r>
          </a:p>
        </p:txBody>
      </p:sp>
      <p:sp>
        <p:nvSpPr>
          <p:cNvPr id="23" name="TextBox 23"/>
          <p:cNvSpPr txBox="1"/>
          <p:nvPr/>
        </p:nvSpPr>
        <p:spPr>
          <a:xfrm>
            <a:off x="1528385" y="6267416"/>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noProof="0" dirty="0">
                <a:solidFill>
                  <a:srgbClr val="FFFFFF"/>
                </a:solidFill>
                <a:latin typeface="IreneFlorentina"/>
                <a:ea typeface="IreneFlorentina"/>
                <a:cs typeface="IreneFlorentina"/>
                <a:sym typeface="IreneFlorentina"/>
              </a:rPr>
              <a:t>5</a:t>
            </a:r>
          </a:p>
        </p:txBody>
      </p:sp>
      <p:grpSp>
        <p:nvGrpSpPr>
          <p:cNvPr id="24" name="Group 24"/>
          <p:cNvGrpSpPr/>
          <p:nvPr/>
        </p:nvGrpSpPr>
        <p:grpSpPr>
          <a:xfrm>
            <a:off x="1414991" y="7189918"/>
            <a:ext cx="771999" cy="771999"/>
            <a:chOff x="0" y="0"/>
            <a:chExt cx="6350000" cy="6350000"/>
          </a:xfrm>
        </p:grpSpPr>
        <p:sp>
          <p:nvSpPr>
            <p:cNvPr id="25" name="Freeform 2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sp>
        <p:nvSpPr>
          <p:cNvPr id="26" name="TextBox 26"/>
          <p:cNvSpPr txBox="1"/>
          <p:nvPr/>
        </p:nvSpPr>
        <p:spPr>
          <a:xfrm>
            <a:off x="2760146" y="6998702"/>
            <a:ext cx="11301818"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Paradigme et caractéristiques de la science</a:t>
            </a:r>
          </a:p>
        </p:txBody>
      </p:sp>
      <p:sp>
        <p:nvSpPr>
          <p:cNvPr id="27" name="TextBox 27"/>
          <p:cNvSpPr txBox="1"/>
          <p:nvPr/>
        </p:nvSpPr>
        <p:spPr>
          <a:xfrm>
            <a:off x="1528385" y="7334216"/>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noProof="0" dirty="0">
                <a:solidFill>
                  <a:srgbClr val="FFFFFF"/>
                </a:solidFill>
                <a:latin typeface="IreneFlorentina"/>
                <a:ea typeface="IreneFlorentina"/>
                <a:cs typeface="IreneFlorentina"/>
                <a:sym typeface="IreneFlorentina"/>
              </a:rPr>
              <a:t>6</a:t>
            </a:r>
          </a:p>
        </p:txBody>
      </p:sp>
      <p:grpSp>
        <p:nvGrpSpPr>
          <p:cNvPr id="28" name="Group 28"/>
          <p:cNvGrpSpPr/>
          <p:nvPr/>
        </p:nvGrpSpPr>
        <p:grpSpPr>
          <a:xfrm>
            <a:off x="1414991" y="8133367"/>
            <a:ext cx="771999" cy="771999"/>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sp>
        <p:nvSpPr>
          <p:cNvPr id="30" name="TextBox 30"/>
          <p:cNvSpPr txBox="1"/>
          <p:nvPr/>
        </p:nvSpPr>
        <p:spPr>
          <a:xfrm>
            <a:off x="2760146" y="8075284"/>
            <a:ext cx="10675012"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L’Énergie (Histoire, Découverte et Mesure)</a:t>
            </a:r>
          </a:p>
        </p:txBody>
      </p:sp>
      <p:sp>
        <p:nvSpPr>
          <p:cNvPr id="31" name="TextBox 31"/>
          <p:cNvSpPr txBox="1"/>
          <p:nvPr/>
        </p:nvSpPr>
        <p:spPr>
          <a:xfrm>
            <a:off x="1528385" y="8218730"/>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noProof="0" dirty="0">
                <a:solidFill>
                  <a:srgbClr val="FFFFFF"/>
                </a:solidFill>
                <a:latin typeface="IreneFlorentina"/>
                <a:ea typeface="IreneFlorentina"/>
                <a:cs typeface="IreneFlorentina"/>
                <a:sym typeface="IreneFlorentina"/>
              </a:rPr>
              <a:t>7</a:t>
            </a:r>
          </a:p>
        </p:txBody>
      </p:sp>
      <p:grpSp>
        <p:nvGrpSpPr>
          <p:cNvPr id="32" name="Group 32"/>
          <p:cNvGrpSpPr/>
          <p:nvPr/>
        </p:nvGrpSpPr>
        <p:grpSpPr>
          <a:xfrm>
            <a:off x="1414991" y="9076816"/>
            <a:ext cx="771999" cy="771999"/>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sp>
        <p:nvSpPr>
          <p:cNvPr id="34" name="TextBox 34"/>
          <p:cNvSpPr txBox="1"/>
          <p:nvPr/>
        </p:nvSpPr>
        <p:spPr>
          <a:xfrm>
            <a:off x="2760146" y="9018733"/>
            <a:ext cx="10675012" cy="760093"/>
          </a:xfrm>
          <a:prstGeom prst="rect">
            <a:avLst/>
          </a:prstGeom>
        </p:spPr>
        <p:txBody>
          <a:bodyPr lIns="0" tIns="0" rIns="0" bIns="0" rtlCol="0" anchor="t">
            <a:spAutoFit/>
          </a:bodyPr>
          <a:lstStyle/>
          <a:p>
            <a:pPr marL="0" lvl="1" indent="0" algn="l">
              <a:lnSpc>
                <a:spcPts val="6600"/>
              </a:lnSpc>
              <a:spcBef>
                <a:spcPct val="0"/>
              </a:spcBef>
            </a:pPr>
            <a:r>
              <a:rPr lang="fr-FR" sz="3300" b="1" noProof="0" dirty="0">
                <a:solidFill>
                  <a:srgbClr val="000000"/>
                </a:solidFill>
                <a:latin typeface="Quicksand Medium"/>
                <a:ea typeface="Quicksand Medium"/>
                <a:cs typeface="Quicksand Medium"/>
                <a:sym typeface="Quicksand Medium"/>
              </a:rPr>
              <a:t>conclusion</a:t>
            </a:r>
          </a:p>
        </p:txBody>
      </p:sp>
      <p:sp>
        <p:nvSpPr>
          <p:cNvPr id="35" name="TextBox 35"/>
          <p:cNvSpPr txBox="1"/>
          <p:nvPr/>
        </p:nvSpPr>
        <p:spPr>
          <a:xfrm>
            <a:off x="1528385" y="9162179"/>
            <a:ext cx="545211" cy="530351"/>
          </a:xfrm>
          <a:prstGeom prst="rect">
            <a:avLst/>
          </a:prstGeom>
        </p:spPr>
        <p:txBody>
          <a:bodyPr lIns="0" tIns="0" rIns="0" bIns="0" rtlCol="0" anchor="t">
            <a:spAutoFit/>
          </a:bodyPr>
          <a:lstStyle/>
          <a:p>
            <a:pPr marL="0" lvl="1" indent="0" algn="ctr">
              <a:lnSpc>
                <a:spcPts val="4239"/>
              </a:lnSpc>
              <a:spcBef>
                <a:spcPct val="0"/>
              </a:spcBef>
            </a:pPr>
            <a:r>
              <a:rPr lang="fr-FR" sz="2700" noProof="0" dirty="0">
                <a:solidFill>
                  <a:srgbClr val="FFFFFF"/>
                </a:solidFill>
                <a:latin typeface="IreneFlorentina"/>
                <a:ea typeface="IreneFlorentina"/>
                <a:cs typeface="IreneFlorentina"/>
                <a:sym typeface="IreneFlorentina"/>
              </a:rPr>
              <a:t>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descr="Une image contenant bleu vert, conception&#10;&#10;Le contenu généré par l’IA peut être incorrect.">
            <a:extLst>
              <a:ext uri="{FF2B5EF4-FFF2-40B4-BE49-F238E27FC236}">
                <a16:creationId xmlns:a16="http://schemas.microsoft.com/office/drawing/2014/main" id="{DDC9526A-EAB0-59C4-BD4F-4C96BB75C906}"/>
              </a:ext>
            </a:extLst>
          </p:cNvPr>
          <p:cNvPicPr>
            <a:picLocks noChangeAspect="1"/>
          </p:cNvPicPr>
          <p:nvPr/>
        </p:nvPicPr>
        <p:blipFill>
          <a:blip r:embed="rId2"/>
          <a:stretch>
            <a:fillRect/>
          </a:stretch>
        </p:blipFill>
        <p:spPr>
          <a:xfrm>
            <a:off x="1028701" y="1943100"/>
            <a:ext cx="4921818" cy="1066800"/>
          </a:xfrm>
          <a:prstGeom prst="rect">
            <a:avLst/>
          </a:prstGeom>
        </p:spPr>
      </p:pic>
      <p:pic>
        <p:nvPicPr>
          <p:cNvPr id="10" name="Image 9" descr="Une image contenant Rectangle, capture d’écran, conception&#10;&#10;Le contenu généré par l’IA peut être incorrect.">
            <a:extLst>
              <a:ext uri="{FF2B5EF4-FFF2-40B4-BE49-F238E27FC236}">
                <a16:creationId xmlns:a16="http://schemas.microsoft.com/office/drawing/2014/main" id="{E95061BA-3F3F-474A-31B4-9D3F5F7AB97F}"/>
              </a:ext>
            </a:extLst>
          </p:cNvPr>
          <p:cNvPicPr>
            <a:picLocks noChangeAspect="1"/>
          </p:cNvPicPr>
          <p:nvPr/>
        </p:nvPicPr>
        <p:blipFill>
          <a:blip r:embed="rId3"/>
          <a:stretch>
            <a:fillRect/>
          </a:stretch>
        </p:blipFill>
        <p:spPr>
          <a:xfrm>
            <a:off x="5638800" y="455291"/>
            <a:ext cx="7315200" cy="1333500"/>
          </a:xfrm>
          <a:prstGeom prst="rect">
            <a:avLst/>
          </a:prstGeom>
        </p:spPr>
      </p:pic>
      <p:sp>
        <p:nvSpPr>
          <p:cNvPr id="2" name="TextBox 2"/>
          <p:cNvSpPr txBox="1"/>
          <p:nvPr/>
        </p:nvSpPr>
        <p:spPr>
          <a:xfrm>
            <a:off x="5838171" y="563563"/>
            <a:ext cx="6916457" cy="1077218"/>
          </a:xfrm>
          <a:prstGeom prst="rect">
            <a:avLst/>
          </a:prstGeom>
        </p:spPr>
        <p:txBody>
          <a:bodyPr wrap="square" lIns="0" tIns="0" rIns="0" bIns="0" rtlCol="0" anchor="t">
            <a:spAutoFit/>
          </a:bodyPr>
          <a:lstStyle/>
          <a:p>
            <a:pPr lvl="0" algn="ctr">
              <a:lnSpc>
                <a:spcPts val="8400"/>
              </a:lnSpc>
              <a:spcBef>
                <a:spcPct val="0"/>
              </a:spcBef>
            </a:pPr>
            <a:r>
              <a:rPr lang="fr-FR" sz="7000" noProof="0" dirty="0">
                <a:solidFill>
                  <a:srgbClr val="000000"/>
                </a:solidFill>
                <a:latin typeface="IreneFlorentina"/>
              </a:rPr>
              <a:t>Programmes</a:t>
            </a:r>
            <a:endParaRPr lang="fr-FR" sz="7000" noProof="0" dirty="0">
              <a:solidFill>
                <a:srgbClr val="000000"/>
              </a:solidFill>
              <a:latin typeface="IreneFlorentina"/>
              <a:sym typeface="IreneFlorentina"/>
            </a:endParaRPr>
          </a:p>
        </p:txBody>
      </p:sp>
      <p:sp>
        <p:nvSpPr>
          <p:cNvPr id="3" name="TextBox 3"/>
          <p:cNvSpPr txBox="1"/>
          <p:nvPr/>
        </p:nvSpPr>
        <p:spPr>
          <a:xfrm rot="84779">
            <a:off x="1351774" y="2139379"/>
            <a:ext cx="4590906" cy="692305"/>
          </a:xfrm>
          <a:prstGeom prst="rect">
            <a:avLst/>
          </a:prstGeom>
        </p:spPr>
        <p:txBody>
          <a:bodyPr wrap="square" lIns="0" tIns="0" rIns="0" bIns="0" rtlCol="0" anchor="t">
            <a:spAutoFit/>
          </a:bodyPr>
          <a:lstStyle/>
          <a:p>
            <a:pPr algn="ctr">
              <a:lnSpc>
                <a:spcPts val="6020"/>
              </a:lnSpc>
            </a:pPr>
            <a:r>
              <a:rPr lang="fr-FR" sz="4300" noProof="0" dirty="0">
                <a:solidFill>
                  <a:schemeClr val="accent1">
                    <a:lumMod val="75000"/>
                  </a:schemeClr>
                </a:solidFill>
                <a:latin typeface="IreneFlorentina"/>
              </a:rPr>
              <a:t>Définitions</a:t>
            </a:r>
            <a:endParaRPr lang="fr-FR" sz="4300" noProof="0" dirty="0">
              <a:solidFill>
                <a:schemeClr val="accent1">
                  <a:lumMod val="75000"/>
                </a:schemeClr>
              </a:solidFill>
              <a:latin typeface="IreneFlorentina"/>
              <a:ea typeface="IreneFlorentina"/>
              <a:cs typeface="IreneFlorentina"/>
              <a:sym typeface="IreneFlorentina"/>
            </a:endParaRPr>
          </a:p>
        </p:txBody>
      </p:sp>
      <p:sp>
        <p:nvSpPr>
          <p:cNvPr id="4" name="TextBox 4"/>
          <p:cNvSpPr txBox="1"/>
          <p:nvPr/>
        </p:nvSpPr>
        <p:spPr>
          <a:xfrm>
            <a:off x="995749" y="3535484"/>
            <a:ext cx="16230600" cy="2758832"/>
          </a:xfrm>
          <a:prstGeom prst="rect">
            <a:avLst/>
          </a:prstGeom>
        </p:spPr>
        <p:txBody>
          <a:bodyPr lIns="0" tIns="0" rIns="0" bIns="0" rtlCol="0" anchor="t">
            <a:spAutoFit/>
          </a:bodyPr>
          <a:lstStyle/>
          <a:p>
            <a:pPr lvl="0" algn="just">
              <a:lnSpc>
                <a:spcPts val="5549"/>
              </a:lnSpc>
              <a:spcBef>
                <a:spcPct val="0"/>
              </a:spcBef>
            </a:pPr>
            <a:r>
              <a:rPr lang="fr-FR" sz="3699" noProof="0" dirty="0">
                <a:solidFill>
                  <a:srgbClr val="000000"/>
                </a:solidFill>
                <a:latin typeface="Quicksand"/>
              </a:rPr>
              <a:t>Les programmes pédagogiques représentent un cadre officiel qui organise et structure les apprentissages scolaires. Ils définissent les objectifs éducatifs à atteindre, les contenus à enseigner et les compétences que l’apprenant doit acquérir à chaque niveau d’enseignement.</a:t>
            </a:r>
            <a:endParaRPr lang="fr-FR" sz="3699" noProof="0" dirty="0">
              <a:solidFill>
                <a:srgbClr val="000000"/>
              </a:solidFill>
              <a:latin typeface="Quicksand"/>
              <a:sym typeface="Quicksand"/>
            </a:endParaRPr>
          </a:p>
        </p:txBody>
      </p:sp>
      <p:sp>
        <p:nvSpPr>
          <p:cNvPr id="11" name="TextBox 4">
            <a:extLst>
              <a:ext uri="{FF2B5EF4-FFF2-40B4-BE49-F238E27FC236}">
                <a16:creationId xmlns:a16="http://schemas.microsoft.com/office/drawing/2014/main" id="{CC903554-3BA9-6026-FF35-49AAB5FB3039}"/>
              </a:ext>
            </a:extLst>
          </p:cNvPr>
          <p:cNvSpPr txBox="1"/>
          <p:nvPr/>
        </p:nvSpPr>
        <p:spPr>
          <a:xfrm>
            <a:off x="995749" y="6819900"/>
            <a:ext cx="16230600" cy="1348190"/>
          </a:xfrm>
          <a:prstGeom prst="rect">
            <a:avLst/>
          </a:prstGeom>
        </p:spPr>
        <p:txBody>
          <a:bodyPr lIns="0" tIns="0" rIns="0" bIns="0" rtlCol="0" anchor="t">
            <a:spAutoFit/>
          </a:bodyPr>
          <a:lstStyle/>
          <a:p>
            <a:pPr lvl="0" algn="just">
              <a:lnSpc>
                <a:spcPts val="5549"/>
              </a:lnSpc>
              <a:spcBef>
                <a:spcPct val="0"/>
              </a:spcBef>
            </a:pPr>
            <a:r>
              <a:rPr lang="fr-FR" sz="3699" noProof="0" dirty="0">
                <a:solidFill>
                  <a:srgbClr val="000000"/>
                </a:solidFill>
                <a:latin typeface="Quicksand"/>
              </a:rPr>
              <a:t>Ces programmes servent de référence essentielle pour les enseignants et garantissent une unité et une cohérence dans le système éducatif.</a:t>
            </a:r>
            <a:endParaRPr lang="fr-FR" sz="3699" noProof="0" dirty="0">
              <a:solidFill>
                <a:srgbClr val="000000"/>
              </a:solidFill>
              <a:latin typeface="Quicksand"/>
              <a:sym typeface="Quicksan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6F85F-7BF5-8EAF-5C24-BA21A0405D8F}"/>
            </a:ext>
          </a:extLst>
        </p:cNvPr>
        <p:cNvGrpSpPr/>
        <p:nvPr/>
      </p:nvGrpSpPr>
      <p:grpSpPr>
        <a:xfrm>
          <a:off x="0" y="0"/>
          <a:ext cx="0" cy="0"/>
          <a:chOff x="0" y="0"/>
          <a:chExt cx="0" cy="0"/>
        </a:xfrm>
      </p:grpSpPr>
      <p:pic>
        <p:nvPicPr>
          <p:cNvPr id="12" name="Image 11" descr="Une image contenant bleu vert, conception&#10;&#10;Le contenu généré par l’IA peut être incorrect.">
            <a:extLst>
              <a:ext uri="{FF2B5EF4-FFF2-40B4-BE49-F238E27FC236}">
                <a16:creationId xmlns:a16="http://schemas.microsoft.com/office/drawing/2014/main" id="{E049FF39-79E7-D350-06D7-BF0B47F0C138}"/>
              </a:ext>
            </a:extLst>
          </p:cNvPr>
          <p:cNvPicPr>
            <a:picLocks noChangeAspect="1"/>
          </p:cNvPicPr>
          <p:nvPr/>
        </p:nvPicPr>
        <p:blipFill>
          <a:blip r:embed="rId2"/>
          <a:stretch>
            <a:fillRect/>
          </a:stretch>
        </p:blipFill>
        <p:spPr>
          <a:xfrm>
            <a:off x="1028700" y="1943100"/>
            <a:ext cx="5676899" cy="1066800"/>
          </a:xfrm>
          <a:prstGeom prst="rect">
            <a:avLst/>
          </a:prstGeom>
        </p:spPr>
      </p:pic>
      <p:pic>
        <p:nvPicPr>
          <p:cNvPr id="10" name="Image 9" descr="Une image contenant Rectangle, capture d’écran, conception&#10;&#10;Le contenu généré par l’IA peut être incorrect.">
            <a:extLst>
              <a:ext uri="{FF2B5EF4-FFF2-40B4-BE49-F238E27FC236}">
                <a16:creationId xmlns:a16="http://schemas.microsoft.com/office/drawing/2014/main" id="{06252154-2FAE-1C34-B46E-D5963D528AA1}"/>
              </a:ext>
            </a:extLst>
          </p:cNvPr>
          <p:cNvPicPr>
            <a:picLocks noChangeAspect="1"/>
          </p:cNvPicPr>
          <p:nvPr/>
        </p:nvPicPr>
        <p:blipFill>
          <a:blip r:embed="rId3"/>
          <a:stretch>
            <a:fillRect/>
          </a:stretch>
        </p:blipFill>
        <p:spPr>
          <a:xfrm>
            <a:off x="5638800" y="455291"/>
            <a:ext cx="7315200" cy="1333500"/>
          </a:xfrm>
          <a:prstGeom prst="rect">
            <a:avLst/>
          </a:prstGeom>
        </p:spPr>
      </p:pic>
      <p:sp>
        <p:nvSpPr>
          <p:cNvPr id="2" name="TextBox 2">
            <a:extLst>
              <a:ext uri="{FF2B5EF4-FFF2-40B4-BE49-F238E27FC236}">
                <a16:creationId xmlns:a16="http://schemas.microsoft.com/office/drawing/2014/main" id="{B78EC692-7A6C-D223-B482-D1A96C2B7F51}"/>
              </a:ext>
            </a:extLst>
          </p:cNvPr>
          <p:cNvSpPr txBox="1"/>
          <p:nvPr/>
        </p:nvSpPr>
        <p:spPr>
          <a:xfrm>
            <a:off x="5838171" y="563563"/>
            <a:ext cx="6916457" cy="1077218"/>
          </a:xfrm>
          <a:prstGeom prst="rect">
            <a:avLst/>
          </a:prstGeom>
        </p:spPr>
        <p:txBody>
          <a:bodyPr wrap="square" lIns="0" tIns="0" rIns="0" bIns="0" rtlCol="0" anchor="t">
            <a:spAutoFit/>
          </a:bodyPr>
          <a:lstStyle/>
          <a:p>
            <a:pPr lvl="0" algn="ctr">
              <a:lnSpc>
                <a:spcPts val="8400"/>
              </a:lnSpc>
              <a:spcBef>
                <a:spcPct val="0"/>
              </a:spcBef>
            </a:pPr>
            <a:r>
              <a:rPr lang="fr-FR" sz="7000" noProof="0" dirty="0">
                <a:solidFill>
                  <a:srgbClr val="000000"/>
                </a:solidFill>
                <a:latin typeface="IreneFlorentina"/>
              </a:rPr>
              <a:t>Programmes</a:t>
            </a:r>
            <a:endParaRPr lang="fr-FR" sz="7000" noProof="0" dirty="0">
              <a:solidFill>
                <a:srgbClr val="000000"/>
              </a:solidFill>
              <a:latin typeface="IreneFlorentina"/>
              <a:sym typeface="IreneFlorentina"/>
            </a:endParaRPr>
          </a:p>
        </p:txBody>
      </p:sp>
      <p:sp>
        <p:nvSpPr>
          <p:cNvPr id="3" name="TextBox 3">
            <a:extLst>
              <a:ext uri="{FF2B5EF4-FFF2-40B4-BE49-F238E27FC236}">
                <a16:creationId xmlns:a16="http://schemas.microsoft.com/office/drawing/2014/main" id="{B95B868B-1916-C484-2FC8-7FAF18938C81}"/>
              </a:ext>
            </a:extLst>
          </p:cNvPr>
          <p:cNvSpPr txBox="1"/>
          <p:nvPr/>
        </p:nvSpPr>
        <p:spPr>
          <a:xfrm rot="84779">
            <a:off x="693382" y="2130348"/>
            <a:ext cx="6271004" cy="692305"/>
          </a:xfrm>
          <a:prstGeom prst="rect">
            <a:avLst/>
          </a:prstGeom>
        </p:spPr>
        <p:txBody>
          <a:bodyPr wrap="square" lIns="0" tIns="0" rIns="0" bIns="0" rtlCol="0" anchor="t">
            <a:spAutoFit/>
          </a:bodyPr>
          <a:lstStyle/>
          <a:p>
            <a:pPr algn="ctr">
              <a:lnSpc>
                <a:spcPts val="6020"/>
              </a:lnSpc>
            </a:pPr>
            <a:r>
              <a:rPr lang="fr-FR" sz="4300" noProof="0" dirty="0">
                <a:solidFill>
                  <a:schemeClr val="accent1">
                    <a:lumMod val="75000"/>
                  </a:schemeClr>
                </a:solidFill>
                <a:latin typeface="IreneFlorentina"/>
              </a:rPr>
              <a:t>Caractéristiques</a:t>
            </a:r>
            <a:endParaRPr lang="fr-FR" sz="4300" noProof="0" dirty="0">
              <a:solidFill>
                <a:schemeClr val="accent1">
                  <a:lumMod val="75000"/>
                </a:schemeClr>
              </a:solidFill>
              <a:latin typeface="IreneFlorentina"/>
              <a:sym typeface="IreneFlorentina"/>
            </a:endParaRPr>
          </a:p>
        </p:txBody>
      </p:sp>
      <p:sp>
        <p:nvSpPr>
          <p:cNvPr id="4" name="TextBox 4">
            <a:extLst>
              <a:ext uri="{FF2B5EF4-FFF2-40B4-BE49-F238E27FC236}">
                <a16:creationId xmlns:a16="http://schemas.microsoft.com/office/drawing/2014/main" id="{97B85792-A4CA-81FD-88EB-A016D946662E}"/>
              </a:ext>
            </a:extLst>
          </p:cNvPr>
          <p:cNvSpPr txBox="1"/>
          <p:nvPr/>
        </p:nvSpPr>
        <p:spPr>
          <a:xfrm>
            <a:off x="1028700" y="3469104"/>
            <a:ext cx="16230600" cy="4874796"/>
          </a:xfrm>
          <a:prstGeom prst="rect">
            <a:avLst/>
          </a:prstGeom>
        </p:spPr>
        <p:txBody>
          <a:bodyPr lIns="0" tIns="0" rIns="0" bIns="0" rtlCol="0" anchor="t">
            <a:spAutoFit/>
          </a:bodyPr>
          <a:lstStyle/>
          <a:p>
            <a:pPr lvl="0" algn="just">
              <a:lnSpc>
                <a:spcPts val="5549"/>
              </a:lnSpc>
              <a:spcBef>
                <a:spcPct val="0"/>
              </a:spcBef>
            </a:pPr>
            <a:r>
              <a:rPr lang="fr-FR" sz="3699" noProof="0" dirty="0">
                <a:solidFill>
                  <a:srgbClr val="000000"/>
                </a:solidFill>
                <a:latin typeface="Quicksand"/>
              </a:rPr>
              <a:t>La répartition du programme de Physique-Chimie au collège au Maroc s’inscrit dans une démarche progressive visant à construire chez l’apprenant des bases scientifiques solides. Ce programme est organisé par année scolaire et par semestre, afin d’assurer une continuité et une cohérence dans les apprentissages. Il permet une transition graduelle entre la découverte des phénomènes scientifiques et leur compréhension plus approfondie.</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166527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332B8-E624-B560-DDD8-4B21B30BC6E5}"/>
            </a:ext>
          </a:extLst>
        </p:cNvPr>
        <p:cNvGrpSpPr/>
        <p:nvPr/>
      </p:nvGrpSpPr>
      <p:grpSpPr>
        <a:xfrm>
          <a:off x="0" y="0"/>
          <a:ext cx="0" cy="0"/>
          <a:chOff x="0" y="0"/>
          <a:chExt cx="0" cy="0"/>
        </a:xfrm>
      </p:grpSpPr>
      <p:pic>
        <p:nvPicPr>
          <p:cNvPr id="12" name="Image 11" descr="Une image contenant bleu vert, conception&#10;&#10;Le contenu généré par l’IA peut être incorrect.">
            <a:extLst>
              <a:ext uri="{FF2B5EF4-FFF2-40B4-BE49-F238E27FC236}">
                <a16:creationId xmlns:a16="http://schemas.microsoft.com/office/drawing/2014/main" id="{6A31B9F7-2ECF-6715-AE8C-65F04A9A7373}"/>
              </a:ext>
            </a:extLst>
          </p:cNvPr>
          <p:cNvPicPr>
            <a:picLocks noChangeAspect="1"/>
          </p:cNvPicPr>
          <p:nvPr/>
        </p:nvPicPr>
        <p:blipFill>
          <a:blip r:embed="rId2"/>
          <a:stretch>
            <a:fillRect/>
          </a:stretch>
        </p:blipFill>
        <p:spPr>
          <a:xfrm>
            <a:off x="1028700" y="1943100"/>
            <a:ext cx="6256927" cy="1066800"/>
          </a:xfrm>
          <a:prstGeom prst="rect">
            <a:avLst/>
          </a:prstGeom>
        </p:spPr>
      </p:pic>
      <p:pic>
        <p:nvPicPr>
          <p:cNvPr id="10" name="Image 9" descr="Une image contenant Rectangle, capture d’écran, conception&#10;&#10;Le contenu généré par l’IA peut être incorrect.">
            <a:extLst>
              <a:ext uri="{FF2B5EF4-FFF2-40B4-BE49-F238E27FC236}">
                <a16:creationId xmlns:a16="http://schemas.microsoft.com/office/drawing/2014/main" id="{FA47D90C-AD91-DDD5-F1C9-87BD4C022F24}"/>
              </a:ext>
            </a:extLst>
          </p:cNvPr>
          <p:cNvPicPr>
            <a:picLocks noChangeAspect="1"/>
          </p:cNvPicPr>
          <p:nvPr/>
        </p:nvPicPr>
        <p:blipFill>
          <a:blip r:embed="rId3"/>
          <a:stretch>
            <a:fillRect/>
          </a:stretch>
        </p:blipFill>
        <p:spPr>
          <a:xfrm>
            <a:off x="5638800" y="455291"/>
            <a:ext cx="7315200" cy="1333500"/>
          </a:xfrm>
          <a:prstGeom prst="rect">
            <a:avLst/>
          </a:prstGeom>
        </p:spPr>
      </p:pic>
      <p:sp>
        <p:nvSpPr>
          <p:cNvPr id="2" name="TextBox 2">
            <a:extLst>
              <a:ext uri="{FF2B5EF4-FFF2-40B4-BE49-F238E27FC236}">
                <a16:creationId xmlns:a16="http://schemas.microsoft.com/office/drawing/2014/main" id="{867CAE19-7DA8-9394-6351-A76263734198}"/>
              </a:ext>
            </a:extLst>
          </p:cNvPr>
          <p:cNvSpPr txBox="1"/>
          <p:nvPr/>
        </p:nvSpPr>
        <p:spPr>
          <a:xfrm>
            <a:off x="5838171" y="563563"/>
            <a:ext cx="6916457" cy="1077218"/>
          </a:xfrm>
          <a:prstGeom prst="rect">
            <a:avLst/>
          </a:prstGeom>
        </p:spPr>
        <p:txBody>
          <a:bodyPr wrap="square" lIns="0" tIns="0" rIns="0" bIns="0" rtlCol="0" anchor="t">
            <a:spAutoFit/>
          </a:bodyPr>
          <a:lstStyle/>
          <a:p>
            <a:pPr lvl="0" algn="ctr">
              <a:lnSpc>
                <a:spcPts val="8400"/>
              </a:lnSpc>
              <a:spcBef>
                <a:spcPct val="0"/>
              </a:spcBef>
            </a:pPr>
            <a:r>
              <a:rPr lang="fr-FR" sz="7000" noProof="0" dirty="0">
                <a:solidFill>
                  <a:srgbClr val="000000"/>
                </a:solidFill>
                <a:latin typeface="IreneFlorentina"/>
              </a:rPr>
              <a:t>Programmes</a:t>
            </a:r>
            <a:endParaRPr lang="fr-FR" sz="7000" noProof="0" dirty="0">
              <a:solidFill>
                <a:srgbClr val="000000"/>
              </a:solidFill>
              <a:latin typeface="IreneFlorentina"/>
              <a:sym typeface="IreneFlorentina"/>
            </a:endParaRPr>
          </a:p>
        </p:txBody>
      </p:sp>
      <p:sp>
        <p:nvSpPr>
          <p:cNvPr id="3" name="TextBox 3">
            <a:extLst>
              <a:ext uri="{FF2B5EF4-FFF2-40B4-BE49-F238E27FC236}">
                <a16:creationId xmlns:a16="http://schemas.microsoft.com/office/drawing/2014/main" id="{71F3F574-A683-EB72-AB59-9E0BB36C2754}"/>
              </a:ext>
            </a:extLst>
          </p:cNvPr>
          <p:cNvSpPr txBox="1"/>
          <p:nvPr/>
        </p:nvSpPr>
        <p:spPr>
          <a:xfrm rot="84779">
            <a:off x="1036286" y="2130348"/>
            <a:ext cx="6241753" cy="692305"/>
          </a:xfrm>
          <a:prstGeom prst="rect">
            <a:avLst/>
          </a:prstGeom>
        </p:spPr>
        <p:txBody>
          <a:bodyPr wrap="square" lIns="0" tIns="0" rIns="0" bIns="0" rtlCol="0" anchor="t">
            <a:spAutoFit/>
          </a:bodyPr>
          <a:lstStyle/>
          <a:p>
            <a:pPr algn="ctr">
              <a:lnSpc>
                <a:spcPts val="6020"/>
              </a:lnSpc>
            </a:pPr>
            <a:r>
              <a:rPr lang="fr-FR" sz="4300" noProof="0" dirty="0">
                <a:solidFill>
                  <a:schemeClr val="accent1">
                    <a:lumMod val="75000"/>
                  </a:schemeClr>
                </a:solidFill>
                <a:latin typeface="IreneFlorentina"/>
              </a:rPr>
              <a:t>1ère année collège</a:t>
            </a:r>
            <a:endParaRPr lang="fr-FR" sz="4300" noProof="0" dirty="0">
              <a:solidFill>
                <a:schemeClr val="accent1">
                  <a:lumMod val="75000"/>
                </a:schemeClr>
              </a:solidFill>
              <a:latin typeface="IreneFlorentina"/>
              <a:sym typeface="IreneFlorentina"/>
            </a:endParaRPr>
          </a:p>
        </p:txBody>
      </p:sp>
      <p:sp>
        <p:nvSpPr>
          <p:cNvPr id="4" name="TextBox 4">
            <a:extLst>
              <a:ext uri="{FF2B5EF4-FFF2-40B4-BE49-F238E27FC236}">
                <a16:creationId xmlns:a16="http://schemas.microsoft.com/office/drawing/2014/main" id="{9F8C5E6E-196E-AA06-F387-9B56506CF4C8}"/>
              </a:ext>
            </a:extLst>
          </p:cNvPr>
          <p:cNvSpPr txBox="1"/>
          <p:nvPr/>
        </p:nvSpPr>
        <p:spPr>
          <a:xfrm>
            <a:off x="1022521" y="3413906"/>
            <a:ext cx="16230600" cy="2758832"/>
          </a:xfrm>
          <a:prstGeom prst="rect">
            <a:avLst/>
          </a:prstGeom>
        </p:spPr>
        <p:txBody>
          <a:bodyPr lIns="0" tIns="0" rIns="0" bIns="0" rtlCol="0" anchor="t">
            <a:spAutoFit/>
          </a:bodyPr>
          <a:lstStyle/>
          <a:p>
            <a:pPr lvl="0" algn="just">
              <a:lnSpc>
                <a:spcPts val="5549"/>
              </a:lnSpc>
              <a:spcBef>
                <a:spcPct val="0"/>
              </a:spcBef>
            </a:pPr>
            <a:r>
              <a:rPr lang="fr-FR" sz="3699" noProof="0" dirty="0">
                <a:solidFill>
                  <a:srgbClr val="000000"/>
                </a:solidFill>
                <a:latin typeface="Quicksand"/>
              </a:rPr>
              <a:t>Les apprenants découvrent la matière et ses états (solide, liquide, gaz), ainsi que les changements d’état. Ils apprennent à manipuler les instruments de mesure (masse, volume, température) et à adopter une démarche scientifique simple basée sur l’observation et l’expérimentation. </a:t>
            </a:r>
            <a:endParaRPr lang="fr-FR" sz="3699" noProof="0" dirty="0">
              <a:solidFill>
                <a:srgbClr val="000000"/>
              </a:solidFill>
              <a:latin typeface="Quicksand"/>
              <a:sym typeface="Quicksand"/>
            </a:endParaRPr>
          </a:p>
        </p:txBody>
      </p:sp>
      <p:sp>
        <p:nvSpPr>
          <p:cNvPr id="5" name="TextBox 4">
            <a:extLst>
              <a:ext uri="{FF2B5EF4-FFF2-40B4-BE49-F238E27FC236}">
                <a16:creationId xmlns:a16="http://schemas.microsoft.com/office/drawing/2014/main" id="{FEF0D07A-0157-3136-46F7-CF312890C7F1}"/>
              </a:ext>
            </a:extLst>
          </p:cNvPr>
          <p:cNvSpPr txBox="1"/>
          <p:nvPr/>
        </p:nvSpPr>
        <p:spPr>
          <a:xfrm>
            <a:off x="1022521" y="6687140"/>
            <a:ext cx="16230600" cy="2758832"/>
          </a:xfrm>
          <a:prstGeom prst="rect">
            <a:avLst/>
          </a:prstGeom>
        </p:spPr>
        <p:txBody>
          <a:bodyPr lIns="0" tIns="0" rIns="0" bIns="0" rtlCol="0" anchor="t">
            <a:spAutoFit/>
          </a:bodyPr>
          <a:lstStyle/>
          <a:p>
            <a:pPr lvl="0" algn="just">
              <a:lnSpc>
                <a:spcPts val="5549"/>
              </a:lnSpc>
              <a:spcBef>
                <a:spcPct val="0"/>
              </a:spcBef>
            </a:pPr>
            <a:r>
              <a:rPr lang="fr-FR" sz="3699" noProof="0" dirty="0">
                <a:solidFill>
                  <a:srgbClr val="000000"/>
                </a:solidFill>
                <a:latin typeface="Quicksand"/>
              </a:rPr>
              <a:t>Le programme aborde les mélanges et les méthodes de séparation (filtration, décantation, évaporation). En physique, les apprenants étudient les notions de base de l’électricité (circuit simple, générateur, récepteur) et les règles de sécurité.</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4241190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674D3-1EAC-FE12-6C56-B2A5AB74B925}"/>
            </a:ext>
          </a:extLst>
        </p:cNvPr>
        <p:cNvGrpSpPr/>
        <p:nvPr/>
      </p:nvGrpSpPr>
      <p:grpSpPr>
        <a:xfrm>
          <a:off x="0" y="0"/>
          <a:ext cx="0" cy="0"/>
          <a:chOff x="0" y="0"/>
          <a:chExt cx="0" cy="0"/>
        </a:xfrm>
      </p:grpSpPr>
      <p:pic>
        <p:nvPicPr>
          <p:cNvPr id="12" name="Image 11" descr="Une image contenant bleu vert, conception&#10;&#10;Le contenu généré par l’IA peut être incorrect.">
            <a:extLst>
              <a:ext uri="{FF2B5EF4-FFF2-40B4-BE49-F238E27FC236}">
                <a16:creationId xmlns:a16="http://schemas.microsoft.com/office/drawing/2014/main" id="{55B5CA13-EBAA-11AC-55A8-2477CE140EE2}"/>
              </a:ext>
            </a:extLst>
          </p:cNvPr>
          <p:cNvPicPr>
            <a:picLocks noChangeAspect="1"/>
          </p:cNvPicPr>
          <p:nvPr/>
        </p:nvPicPr>
        <p:blipFill>
          <a:blip r:embed="rId2"/>
          <a:stretch>
            <a:fillRect/>
          </a:stretch>
        </p:blipFill>
        <p:spPr>
          <a:xfrm>
            <a:off x="1028700" y="1943100"/>
            <a:ext cx="6753796" cy="1066800"/>
          </a:xfrm>
          <a:prstGeom prst="rect">
            <a:avLst/>
          </a:prstGeom>
        </p:spPr>
      </p:pic>
      <p:pic>
        <p:nvPicPr>
          <p:cNvPr id="10" name="Image 9" descr="Une image contenant Rectangle, capture d’écran, conception&#10;&#10;Le contenu généré par l’IA peut être incorrect.">
            <a:extLst>
              <a:ext uri="{FF2B5EF4-FFF2-40B4-BE49-F238E27FC236}">
                <a16:creationId xmlns:a16="http://schemas.microsoft.com/office/drawing/2014/main" id="{E9E770DC-8E21-D578-80DA-86E0748099CE}"/>
              </a:ext>
            </a:extLst>
          </p:cNvPr>
          <p:cNvPicPr>
            <a:picLocks noChangeAspect="1"/>
          </p:cNvPicPr>
          <p:nvPr/>
        </p:nvPicPr>
        <p:blipFill>
          <a:blip r:embed="rId3"/>
          <a:stretch>
            <a:fillRect/>
          </a:stretch>
        </p:blipFill>
        <p:spPr>
          <a:xfrm>
            <a:off x="5638800" y="455291"/>
            <a:ext cx="7315200" cy="1333500"/>
          </a:xfrm>
          <a:prstGeom prst="rect">
            <a:avLst/>
          </a:prstGeom>
        </p:spPr>
      </p:pic>
      <p:sp>
        <p:nvSpPr>
          <p:cNvPr id="2" name="TextBox 2">
            <a:extLst>
              <a:ext uri="{FF2B5EF4-FFF2-40B4-BE49-F238E27FC236}">
                <a16:creationId xmlns:a16="http://schemas.microsoft.com/office/drawing/2014/main" id="{610E3E31-B7F3-2C50-491F-620310DD6FAB}"/>
              </a:ext>
            </a:extLst>
          </p:cNvPr>
          <p:cNvSpPr txBox="1"/>
          <p:nvPr/>
        </p:nvSpPr>
        <p:spPr>
          <a:xfrm>
            <a:off x="5838171" y="563563"/>
            <a:ext cx="6916457" cy="1077218"/>
          </a:xfrm>
          <a:prstGeom prst="rect">
            <a:avLst/>
          </a:prstGeom>
        </p:spPr>
        <p:txBody>
          <a:bodyPr wrap="square" lIns="0" tIns="0" rIns="0" bIns="0" rtlCol="0" anchor="t">
            <a:spAutoFit/>
          </a:bodyPr>
          <a:lstStyle/>
          <a:p>
            <a:pPr lvl="0" algn="ctr">
              <a:lnSpc>
                <a:spcPts val="8400"/>
              </a:lnSpc>
              <a:spcBef>
                <a:spcPct val="0"/>
              </a:spcBef>
            </a:pPr>
            <a:r>
              <a:rPr lang="fr-FR" sz="7000" noProof="0" dirty="0">
                <a:solidFill>
                  <a:srgbClr val="000000"/>
                </a:solidFill>
                <a:latin typeface="IreneFlorentina"/>
              </a:rPr>
              <a:t>Programmes</a:t>
            </a:r>
            <a:endParaRPr lang="fr-FR" sz="7000" noProof="0" dirty="0">
              <a:solidFill>
                <a:srgbClr val="000000"/>
              </a:solidFill>
              <a:latin typeface="IreneFlorentina"/>
              <a:sym typeface="IreneFlorentina"/>
            </a:endParaRPr>
          </a:p>
        </p:txBody>
      </p:sp>
      <p:sp>
        <p:nvSpPr>
          <p:cNvPr id="3" name="TextBox 3">
            <a:extLst>
              <a:ext uri="{FF2B5EF4-FFF2-40B4-BE49-F238E27FC236}">
                <a16:creationId xmlns:a16="http://schemas.microsoft.com/office/drawing/2014/main" id="{9CE24FF4-FCB0-F66C-4162-F0FB0FB67CFD}"/>
              </a:ext>
            </a:extLst>
          </p:cNvPr>
          <p:cNvSpPr txBox="1"/>
          <p:nvPr/>
        </p:nvSpPr>
        <p:spPr>
          <a:xfrm rot="84779">
            <a:off x="1036211" y="2136476"/>
            <a:ext cx="6738773" cy="692305"/>
          </a:xfrm>
          <a:prstGeom prst="rect">
            <a:avLst/>
          </a:prstGeom>
        </p:spPr>
        <p:txBody>
          <a:bodyPr wrap="square" lIns="0" tIns="0" rIns="0" bIns="0" rtlCol="0" anchor="t">
            <a:spAutoFit/>
          </a:bodyPr>
          <a:lstStyle/>
          <a:p>
            <a:pPr algn="ctr">
              <a:lnSpc>
                <a:spcPts val="6020"/>
              </a:lnSpc>
            </a:pPr>
            <a:r>
              <a:rPr lang="fr-FR" sz="4300" noProof="0" dirty="0">
                <a:solidFill>
                  <a:schemeClr val="accent1">
                    <a:lumMod val="75000"/>
                  </a:schemeClr>
                </a:solidFill>
                <a:latin typeface="IreneFlorentina"/>
              </a:rPr>
              <a:t>2ème année collège</a:t>
            </a:r>
            <a:endParaRPr lang="fr-FR" sz="4300" noProof="0" dirty="0">
              <a:solidFill>
                <a:schemeClr val="accent1">
                  <a:lumMod val="75000"/>
                </a:schemeClr>
              </a:solidFill>
              <a:latin typeface="IreneFlorentina"/>
              <a:sym typeface="IreneFlorentina"/>
            </a:endParaRPr>
          </a:p>
        </p:txBody>
      </p:sp>
      <p:sp>
        <p:nvSpPr>
          <p:cNvPr id="4" name="TextBox 4">
            <a:extLst>
              <a:ext uri="{FF2B5EF4-FFF2-40B4-BE49-F238E27FC236}">
                <a16:creationId xmlns:a16="http://schemas.microsoft.com/office/drawing/2014/main" id="{1CBC01D0-B2B4-5FB9-038E-200B19FE495D}"/>
              </a:ext>
            </a:extLst>
          </p:cNvPr>
          <p:cNvSpPr txBox="1"/>
          <p:nvPr/>
        </p:nvSpPr>
        <p:spPr>
          <a:xfrm>
            <a:off x="1028699" y="3553260"/>
            <a:ext cx="16230600" cy="2053511"/>
          </a:xfrm>
          <a:prstGeom prst="rect">
            <a:avLst/>
          </a:prstGeom>
        </p:spPr>
        <p:txBody>
          <a:bodyPr lIns="0" tIns="0" rIns="0" bIns="0" rtlCol="0" anchor="t">
            <a:spAutoFit/>
          </a:bodyPr>
          <a:lstStyle/>
          <a:p>
            <a:pPr lvl="0" algn="just">
              <a:lnSpc>
                <a:spcPts val="5549"/>
              </a:lnSpc>
              <a:spcBef>
                <a:spcPct val="0"/>
              </a:spcBef>
            </a:pPr>
            <a:r>
              <a:rPr lang="fr-FR" sz="3699" noProof="0" dirty="0">
                <a:solidFill>
                  <a:srgbClr val="000000"/>
                </a:solidFill>
                <a:latin typeface="Quicksand"/>
              </a:rPr>
              <a:t>abordent les notions liées à la lumière (sources lumineuses, propagation rectiligne) et à l’énergie. Le raisonnement scientifique et l’exploitation des résultats expérimentaux sont renforcés.</a:t>
            </a:r>
            <a:endParaRPr lang="fr-FR" sz="3699" noProof="0" dirty="0">
              <a:solidFill>
                <a:srgbClr val="000000"/>
              </a:solidFill>
              <a:latin typeface="Quicksand"/>
              <a:sym typeface="Quicksand"/>
            </a:endParaRPr>
          </a:p>
        </p:txBody>
      </p:sp>
      <p:sp>
        <p:nvSpPr>
          <p:cNvPr id="5" name="TextBox 4">
            <a:extLst>
              <a:ext uri="{FF2B5EF4-FFF2-40B4-BE49-F238E27FC236}">
                <a16:creationId xmlns:a16="http://schemas.microsoft.com/office/drawing/2014/main" id="{B15F4FB6-4B15-82A8-F00D-079DD055490E}"/>
              </a:ext>
            </a:extLst>
          </p:cNvPr>
          <p:cNvSpPr txBox="1"/>
          <p:nvPr/>
        </p:nvSpPr>
        <p:spPr>
          <a:xfrm>
            <a:off x="989570" y="6150131"/>
            <a:ext cx="16230600" cy="2053511"/>
          </a:xfrm>
          <a:prstGeom prst="rect">
            <a:avLst/>
          </a:prstGeom>
        </p:spPr>
        <p:txBody>
          <a:bodyPr lIns="0" tIns="0" rIns="0" bIns="0" rtlCol="0" anchor="t">
            <a:spAutoFit/>
          </a:bodyPr>
          <a:lstStyle/>
          <a:p>
            <a:pPr lvl="0" algn="just">
              <a:lnSpc>
                <a:spcPts val="5549"/>
              </a:lnSpc>
              <a:spcBef>
                <a:spcPct val="0"/>
              </a:spcBef>
            </a:pPr>
            <a:r>
              <a:rPr lang="fr-FR" sz="3699" noProof="0" dirty="0">
                <a:solidFill>
                  <a:srgbClr val="000000"/>
                </a:solidFill>
                <a:latin typeface="Quicksand"/>
              </a:rPr>
              <a:t>Les apprenants étudient les forces, leurs effets sur le mouvement et l’équilibre des objets. Les activités expérimentales occupent une place importante dans l’apprentissage.</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4061221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8F98D-C325-6ABE-A43A-D3730218254E}"/>
            </a:ext>
          </a:extLst>
        </p:cNvPr>
        <p:cNvGrpSpPr/>
        <p:nvPr/>
      </p:nvGrpSpPr>
      <p:grpSpPr>
        <a:xfrm>
          <a:off x="0" y="0"/>
          <a:ext cx="0" cy="0"/>
          <a:chOff x="0" y="0"/>
          <a:chExt cx="0" cy="0"/>
        </a:xfrm>
      </p:grpSpPr>
      <p:pic>
        <p:nvPicPr>
          <p:cNvPr id="12" name="Image 11" descr="Une image contenant bleu vert, conception&#10;&#10;Le contenu généré par l’IA peut être incorrect.">
            <a:extLst>
              <a:ext uri="{FF2B5EF4-FFF2-40B4-BE49-F238E27FC236}">
                <a16:creationId xmlns:a16="http://schemas.microsoft.com/office/drawing/2014/main" id="{81EF44DD-22F2-8B8F-DB50-211030777246}"/>
              </a:ext>
            </a:extLst>
          </p:cNvPr>
          <p:cNvPicPr>
            <a:picLocks noChangeAspect="1"/>
          </p:cNvPicPr>
          <p:nvPr/>
        </p:nvPicPr>
        <p:blipFill>
          <a:blip r:embed="rId2"/>
          <a:stretch>
            <a:fillRect/>
          </a:stretch>
        </p:blipFill>
        <p:spPr>
          <a:xfrm>
            <a:off x="1028700" y="1943100"/>
            <a:ext cx="6753796" cy="1066800"/>
          </a:xfrm>
          <a:prstGeom prst="rect">
            <a:avLst/>
          </a:prstGeom>
        </p:spPr>
      </p:pic>
      <p:pic>
        <p:nvPicPr>
          <p:cNvPr id="10" name="Image 9" descr="Une image contenant Rectangle, capture d’écran, conception&#10;&#10;Le contenu généré par l’IA peut être incorrect.">
            <a:extLst>
              <a:ext uri="{FF2B5EF4-FFF2-40B4-BE49-F238E27FC236}">
                <a16:creationId xmlns:a16="http://schemas.microsoft.com/office/drawing/2014/main" id="{B36E7F19-2EE4-4BEA-9350-C2B9A9658138}"/>
              </a:ext>
            </a:extLst>
          </p:cNvPr>
          <p:cNvPicPr>
            <a:picLocks noChangeAspect="1"/>
          </p:cNvPicPr>
          <p:nvPr/>
        </p:nvPicPr>
        <p:blipFill>
          <a:blip r:embed="rId3"/>
          <a:stretch>
            <a:fillRect/>
          </a:stretch>
        </p:blipFill>
        <p:spPr>
          <a:xfrm>
            <a:off x="5638800" y="455291"/>
            <a:ext cx="7315200" cy="1333500"/>
          </a:xfrm>
          <a:prstGeom prst="rect">
            <a:avLst/>
          </a:prstGeom>
        </p:spPr>
      </p:pic>
      <p:sp>
        <p:nvSpPr>
          <p:cNvPr id="2" name="TextBox 2">
            <a:extLst>
              <a:ext uri="{FF2B5EF4-FFF2-40B4-BE49-F238E27FC236}">
                <a16:creationId xmlns:a16="http://schemas.microsoft.com/office/drawing/2014/main" id="{26229B7C-979A-F2DF-D9C9-62357E00B965}"/>
              </a:ext>
            </a:extLst>
          </p:cNvPr>
          <p:cNvSpPr txBox="1"/>
          <p:nvPr/>
        </p:nvSpPr>
        <p:spPr>
          <a:xfrm>
            <a:off x="5838171" y="563563"/>
            <a:ext cx="6916457" cy="1077218"/>
          </a:xfrm>
          <a:prstGeom prst="rect">
            <a:avLst/>
          </a:prstGeom>
        </p:spPr>
        <p:txBody>
          <a:bodyPr wrap="square" lIns="0" tIns="0" rIns="0" bIns="0" rtlCol="0" anchor="t">
            <a:spAutoFit/>
          </a:bodyPr>
          <a:lstStyle/>
          <a:p>
            <a:pPr lvl="0" algn="ctr">
              <a:lnSpc>
                <a:spcPts val="8400"/>
              </a:lnSpc>
              <a:spcBef>
                <a:spcPct val="0"/>
              </a:spcBef>
            </a:pPr>
            <a:r>
              <a:rPr lang="fr-FR" sz="7000" noProof="0" dirty="0">
                <a:solidFill>
                  <a:srgbClr val="000000"/>
                </a:solidFill>
                <a:latin typeface="IreneFlorentina"/>
              </a:rPr>
              <a:t>Programmes</a:t>
            </a:r>
            <a:endParaRPr lang="fr-FR" sz="7000" noProof="0" dirty="0">
              <a:solidFill>
                <a:srgbClr val="000000"/>
              </a:solidFill>
              <a:latin typeface="IreneFlorentina"/>
              <a:sym typeface="IreneFlorentina"/>
            </a:endParaRPr>
          </a:p>
        </p:txBody>
      </p:sp>
      <p:sp>
        <p:nvSpPr>
          <p:cNvPr id="3" name="TextBox 3">
            <a:extLst>
              <a:ext uri="{FF2B5EF4-FFF2-40B4-BE49-F238E27FC236}">
                <a16:creationId xmlns:a16="http://schemas.microsoft.com/office/drawing/2014/main" id="{066B2479-65E5-057B-7A90-A087FB30DEC3}"/>
              </a:ext>
            </a:extLst>
          </p:cNvPr>
          <p:cNvSpPr txBox="1"/>
          <p:nvPr/>
        </p:nvSpPr>
        <p:spPr>
          <a:xfrm rot="84779">
            <a:off x="1036211" y="2136476"/>
            <a:ext cx="6738773" cy="692305"/>
          </a:xfrm>
          <a:prstGeom prst="rect">
            <a:avLst/>
          </a:prstGeom>
        </p:spPr>
        <p:txBody>
          <a:bodyPr wrap="square" lIns="0" tIns="0" rIns="0" bIns="0" rtlCol="0" anchor="t">
            <a:spAutoFit/>
          </a:bodyPr>
          <a:lstStyle/>
          <a:p>
            <a:pPr algn="ctr">
              <a:lnSpc>
                <a:spcPts val="6020"/>
              </a:lnSpc>
            </a:pPr>
            <a:r>
              <a:rPr lang="fr-FR" sz="4300" noProof="0" dirty="0">
                <a:solidFill>
                  <a:schemeClr val="accent1">
                    <a:lumMod val="75000"/>
                  </a:schemeClr>
                </a:solidFill>
                <a:latin typeface="IreneFlorentina"/>
              </a:rPr>
              <a:t>3ème année collège</a:t>
            </a:r>
            <a:endParaRPr lang="fr-FR" sz="4300" noProof="0" dirty="0">
              <a:solidFill>
                <a:schemeClr val="accent1">
                  <a:lumMod val="75000"/>
                </a:schemeClr>
              </a:solidFill>
              <a:latin typeface="IreneFlorentina"/>
              <a:sym typeface="IreneFlorentina"/>
            </a:endParaRPr>
          </a:p>
        </p:txBody>
      </p:sp>
      <p:sp>
        <p:nvSpPr>
          <p:cNvPr id="4" name="TextBox 4">
            <a:extLst>
              <a:ext uri="{FF2B5EF4-FFF2-40B4-BE49-F238E27FC236}">
                <a16:creationId xmlns:a16="http://schemas.microsoft.com/office/drawing/2014/main" id="{7E8EE5AB-F4DE-1B5E-24E9-59402C7861DF}"/>
              </a:ext>
            </a:extLst>
          </p:cNvPr>
          <p:cNvSpPr txBox="1"/>
          <p:nvPr/>
        </p:nvSpPr>
        <p:spPr>
          <a:xfrm>
            <a:off x="1028699" y="3416188"/>
            <a:ext cx="16230600" cy="2053511"/>
          </a:xfrm>
          <a:prstGeom prst="rect">
            <a:avLst/>
          </a:prstGeom>
        </p:spPr>
        <p:txBody>
          <a:bodyPr lIns="0" tIns="0" rIns="0" bIns="0" rtlCol="0" anchor="t">
            <a:spAutoFit/>
          </a:bodyPr>
          <a:lstStyle/>
          <a:p>
            <a:pPr lvl="0" algn="just">
              <a:lnSpc>
                <a:spcPts val="5549"/>
              </a:lnSpc>
              <a:spcBef>
                <a:spcPct val="0"/>
              </a:spcBef>
            </a:pPr>
            <a:r>
              <a:rPr lang="fr-FR" sz="3699" noProof="0" dirty="0">
                <a:solidFill>
                  <a:srgbClr val="000000"/>
                </a:solidFill>
                <a:latin typeface="Quicksand"/>
              </a:rPr>
              <a:t>Le programme se concentre sur l’électricité (circuits en série et en dérivation, tension et intensité). En chimie, les apprenants abordent la structure de la matière et les constituants de l’atome.</a:t>
            </a:r>
            <a:endParaRPr lang="fr-FR" sz="3699" noProof="0" dirty="0">
              <a:solidFill>
                <a:srgbClr val="000000"/>
              </a:solidFill>
              <a:latin typeface="Quicksand"/>
              <a:sym typeface="Quicksand"/>
            </a:endParaRPr>
          </a:p>
        </p:txBody>
      </p:sp>
      <p:sp>
        <p:nvSpPr>
          <p:cNvPr id="6" name="TextBox 4">
            <a:extLst>
              <a:ext uri="{FF2B5EF4-FFF2-40B4-BE49-F238E27FC236}">
                <a16:creationId xmlns:a16="http://schemas.microsoft.com/office/drawing/2014/main" id="{CE23D600-3311-EE16-8DE3-A2FB5CCCAD66}"/>
              </a:ext>
            </a:extLst>
          </p:cNvPr>
          <p:cNvSpPr txBox="1"/>
          <p:nvPr/>
        </p:nvSpPr>
        <p:spPr>
          <a:xfrm>
            <a:off x="1028699" y="6066803"/>
            <a:ext cx="16230600" cy="2758832"/>
          </a:xfrm>
          <a:prstGeom prst="rect">
            <a:avLst/>
          </a:prstGeom>
        </p:spPr>
        <p:txBody>
          <a:bodyPr lIns="0" tIns="0" rIns="0" bIns="0" rtlCol="0" anchor="t">
            <a:spAutoFit/>
          </a:bodyPr>
          <a:lstStyle/>
          <a:p>
            <a:pPr lvl="0" algn="just">
              <a:lnSpc>
                <a:spcPts val="5549"/>
              </a:lnSpc>
              <a:spcBef>
                <a:spcPct val="0"/>
              </a:spcBef>
            </a:pPr>
            <a:r>
              <a:rPr lang="fr-FR" sz="3699" noProof="0" dirty="0">
                <a:solidFill>
                  <a:srgbClr val="000000"/>
                </a:solidFill>
                <a:latin typeface="Quicksand"/>
              </a:rPr>
              <a:t>l’apprenant comprend l’étude des réactions chimiques, de l’énergie et ses transformations, ainsi que des phénomènes liés au mouvement. L’objectif est de consolider les acquis et de développer l’autonomie et l’esprit critique de l’apprenant.</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2800934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TotalTime>
  <Words>444</Words>
  <Application>Microsoft Office PowerPoint</Application>
  <PresentationFormat>Custom</PresentationFormat>
  <Paragraphs>47</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IreneFlorentina</vt:lpstr>
      <vt:lpstr>Open Sans Bold</vt:lpstr>
      <vt:lpstr>Calibri</vt:lpstr>
      <vt:lpstr>Quicksand</vt:lpstr>
      <vt:lpstr>Quicksand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Pythagorean Theorem Presentation</dc:title>
  <dc:creator>zeeko</dc:creator>
  <cp:lastModifiedBy>Said Abenna</cp:lastModifiedBy>
  <cp:revision>19</cp:revision>
  <dcterms:created xsi:type="dcterms:W3CDTF">2006-08-16T00:00:00Z</dcterms:created>
  <dcterms:modified xsi:type="dcterms:W3CDTF">2026-01-25T15:22:44Z</dcterms:modified>
  <dc:identifier>DAG_KDKR_2M</dc:identifier>
</cp:coreProperties>
</file>
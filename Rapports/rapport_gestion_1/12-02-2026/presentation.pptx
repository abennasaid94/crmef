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61" r:id="rId4"/>
    <p:sldId id="262" r:id="rId5"/>
    <p:sldId id="296" r:id="rId6"/>
    <p:sldId id="297" r:id="rId7"/>
    <p:sldId id="298" r:id="rId8"/>
    <p:sldId id="299" r:id="rId9"/>
    <p:sldId id="300" r:id="rId10"/>
    <p:sldId id="302" r:id="rId11"/>
    <p:sldId id="301" r:id="rId12"/>
    <p:sldId id="303" r:id="rId13"/>
  </p:sldIdLst>
  <p:sldSz cx="18288000" cy="10287000"/>
  <p:notesSz cx="6858000" cy="9144000"/>
  <p:embeddedFontLst>
    <p:embeddedFont>
      <p:font typeface="IreneFlorentina" panose="020B0604020202020204" charset="0"/>
      <p:regular r:id="rId14"/>
    </p:embeddedFont>
    <p:embeddedFont>
      <p:font typeface="Open Sans Bold" panose="020B0806030504020204" pitchFamily="34" charset="0"/>
      <p:regular r:id="rId15"/>
      <p:bold r:id="rId16"/>
    </p:embeddedFont>
    <p:embeddedFont>
      <p:font typeface="Quicksand" panose="020B0604020202020204" charset="0"/>
      <p:regular r:id="rId17"/>
    </p:embeddedFont>
    <p:embeddedFont>
      <p:font typeface="Quicksand Medium"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EE2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8" d="100"/>
          <a:sy n="58" d="100"/>
        </p:scale>
        <p:origin x="684"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Image 16" descr="Une image contenant bleu vert, conception&#10;&#10;Le contenu généré par l’IA peut être incorrect.">
            <a:extLst>
              <a:ext uri="{FF2B5EF4-FFF2-40B4-BE49-F238E27FC236}">
                <a16:creationId xmlns:a16="http://schemas.microsoft.com/office/drawing/2014/main" id="{F66A1A89-2D9A-E503-2033-DDD038847321}"/>
              </a:ext>
            </a:extLst>
          </p:cNvPr>
          <p:cNvPicPr>
            <a:picLocks noChangeAspect="1"/>
          </p:cNvPicPr>
          <p:nvPr/>
        </p:nvPicPr>
        <p:blipFill>
          <a:blip r:embed="rId2"/>
          <a:stretch>
            <a:fillRect/>
          </a:stretch>
        </p:blipFill>
        <p:spPr>
          <a:xfrm>
            <a:off x="10519477" y="9029700"/>
            <a:ext cx="3653723" cy="1066800"/>
          </a:xfrm>
          <a:prstGeom prst="rect">
            <a:avLst/>
          </a:prstGeom>
        </p:spPr>
      </p:pic>
      <p:pic>
        <p:nvPicPr>
          <p:cNvPr id="15" name="Image 14" descr="Une image contenant bleu vert, conception&#10;&#10;Le contenu généré par l’IA peut être incorrect.">
            <a:extLst>
              <a:ext uri="{FF2B5EF4-FFF2-40B4-BE49-F238E27FC236}">
                <a16:creationId xmlns:a16="http://schemas.microsoft.com/office/drawing/2014/main" id="{0E1D00D9-0F6D-A877-9FB3-B10BD2AC4DAF}"/>
              </a:ext>
            </a:extLst>
          </p:cNvPr>
          <p:cNvPicPr>
            <a:picLocks noChangeAspect="1"/>
          </p:cNvPicPr>
          <p:nvPr/>
        </p:nvPicPr>
        <p:blipFill>
          <a:blip r:embed="rId2"/>
          <a:stretch>
            <a:fillRect/>
          </a:stretch>
        </p:blipFill>
        <p:spPr>
          <a:xfrm>
            <a:off x="10519477" y="5875663"/>
            <a:ext cx="4343400" cy="828555"/>
          </a:xfrm>
          <a:prstGeom prst="rect">
            <a:avLst/>
          </a:prstGeom>
        </p:spPr>
      </p:pic>
      <p:pic>
        <p:nvPicPr>
          <p:cNvPr id="13" name="Image 12" descr="Une image contenant bleu vert, conception&#10;&#10;Le contenu généré par l’IA peut être incorrect.">
            <a:extLst>
              <a:ext uri="{FF2B5EF4-FFF2-40B4-BE49-F238E27FC236}">
                <a16:creationId xmlns:a16="http://schemas.microsoft.com/office/drawing/2014/main" id="{00B8830E-A20F-D70E-0511-813A7A03F4CC}"/>
              </a:ext>
            </a:extLst>
          </p:cNvPr>
          <p:cNvPicPr>
            <a:picLocks noChangeAspect="1"/>
          </p:cNvPicPr>
          <p:nvPr/>
        </p:nvPicPr>
        <p:blipFill>
          <a:blip r:embed="rId2"/>
          <a:stretch>
            <a:fillRect/>
          </a:stretch>
        </p:blipFill>
        <p:spPr>
          <a:xfrm>
            <a:off x="634005" y="5829300"/>
            <a:ext cx="4343400" cy="828554"/>
          </a:xfrm>
          <a:prstGeom prst="rect">
            <a:avLst/>
          </a:prstGeom>
        </p:spPr>
      </p:pic>
      <p:pic>
        <p:nvPicPr>
          <p:cNvPr id="11" name="Image 10" descr="Une image contenant Rectangle, capture d’écran, conception&#10;&#10;Le contenu généré par l’IA peut être incorrect.">
            <a:extLst>
              <a:ext uri="{FF2B5EF4-FFF2-40B4-BE49-F238E27FC236}">
                <a16:creationId xmlns:a16="http://schemas.microsoft.com/office/drawing/2014/main" id="{1AF03469-95E4-8CCB-900B-80E3178A8D07}"/>
              </a:ext>
            </a:extLst>
          </p:cNvPr>
          <p:cNvPicPr>
            <a:picLocks noChangeAspect="1"/>
          </p:cNvPicPr>
          <p:nvPr/>
        </p:nvPicPr>
        <p:blipFill>
          <a:blip r:embed="rId3"/>
          <a:stretch>
            <a:fillRect/>
          </a:stretch>
        </p:blipFill>
        <p:spPr>
          <a:xfrm>
            <a:off x="381000" y="3009900"/>
            <a:ext cx="17526000" cy="2659882"/>
          </a:xfrm>
          <a:prstGeom prst="rect">
            <a:avLst/>
          </a:prstGeom>
        </p:spPr>
      </p:pic>
      <p:sp>
        <p:nvSpPr>
          <p:cNvPr id="2" name="Freeform 2"/>
          <p:cNvSpPr/>
          <p:nvPr/>
        </p:nvSpPr>
        <p:spPr>
          <a:xfrm rot="4619462">
            <a:off x="18956533" y="6161484"/>
            <a:ext cx="3252501" cy="7579981"/>
          </a:xfrm>
          <a:custGeom>
            <a:avLst/>
            <a:gdLst/>
            <a:ahLst/>
            <a:cxnLst/>
            <a:rect l="l" t="t" r="r" b="b"/>
            <a:pathLst>
              <a:path w="3252501" h="7579981">
                <a:moveTo>
                  <a:pt x="0" y="0"/>
                </a:moveTo>
                <a:lnTo>
                  <a:pt x="3252501" y="0"/>
                </a:lnTo>
                <a:lnTo>
                  <a:pt x="3252501" y="7579981"/>
                </a:lnTo>
                <a:lnTo>
                  <a:pt x="0" y="757998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fr-FR" noProof="0" dirty="0"/>
          </a:p>
        </p:txBody>
      </p:sp>
      <p:sp>
        <p:nvSpPr>
          <p:cNvPr id="3" name="Freeform 3"/>
          <p:cNvSpPr/>
          <p:nvPr/>
        </p:nvSpPr>
        <p:spPr>
          <a:xfrm>
            <a:off x="4764510" y="107703"/>
            <a:ext cx="7449447" cy="2844766"/>
          </a:xfrm>
          <a:custGeom>
            <a:avLst/>
            <a:gdLst/>
            <a:ahLst/>
            <a:cxnLst/>
            <a:rect l="l" t="t" r="r" b="b"/>
            <a:pathLst>
              <a:path w="7449447" h="2844766">
                <a:moveTo>
                  <a:pt x="0" y="0"/>
                </a:moveTo>
                <a:lnTo>
                  <a:pt x="7449448" y="0"/>
                </a:lnTo>
                <a:lnTo>
                  <a:pt x="7449448" y="2844766"/>
                </a:lnTo>
                <a:lnTo>
                  <a:pt x="0" y="2844766"/>
                </a:lnTo>
                <a:lnTo>
                  <a:pt x="0" y="0"/>
                </a:lnTo>
                <a:close/>
              </a:path>
            </a:pathLst>
          </a:custGeom>
          <a:blipFill>
            <a:blip r:embed="rId6"/>
            <a:stretch>
              <a:fillRect t="-6934" b="-6740"/>
            </a:stretch>
          </a:blipFill>
        </p:spPr>
        <p:txBody>
          <a:bodyPr/>
          <a:lstStyle/>
          <a:p>
            <a:endParaRPr lang="fr-FR" noProof="0" dirty="0"/>
          </a:p>
        </p:txBody>
      </p:sp>
      <p:sp>
        <p:nvSpPr>
          <p:cNvPr id="4" name="TextBox 4"/>
          <p:cNvSpPr txBox="1"/>
          <p:nvPr/>
        </p:nvSpPr>
        <p:spPr>
          <a:xfrm>
            <a:off x="530942" y="3345682"/>
            <a:ext cx="17226116" cy="2266950"/>
          </a:xfrm>
          <a:prstGeom prst="rect">
            <a:avLst/>
          </a:prstGeom>
        </p:spPr>
        <p:txBody>
          <a:bodyPr lIns="0" tIns="0" rIns="0" bIns="0" rtlCol="0" anchor="t">
            <a:spAutoFit/>
          </a:bodyPr>
          <a:lstStyle/>
          <a:p>
            <a:pPr marL="0" lvl="0" indent="0" algn="ctr">
              <a:lnSpc>
                <a:spcPts val="5880"/>
              </a:lnSpc>
              <a:spcBef>
                <a:spcPct val="0"/>
              </a:spcBef>
            </a:pPr>
            <a:r>
              <a:rPr lang="fr-FR" sz="4900" noProof="0" dirty="0">
                <a:solidFill>
                  <a:srgbClr val="1F244A"/>
                </a:solidFill>
                <a:latin typeface="IreneFlorentina"/>
                <a:ea typeface="IreneFlorentina"/>
                <a:cs typeface="IreneFlorentina"/>
                <a:sym typeface="IreneFlorentina"/>
              </a:rPr>
              <a:t>INTRODUCTION A LA DIDACTIQUE DISCIPLINAIRE (L'ÉPISTÉMOLOGIE ET L'HISTOIRE DES SCIENCES PHYSIQUE-CHIMIE)</a:t>
            </a:r>
          </a:p>
        </p:txBody>
      </p:sp>
      <p:sp>
        <p:nvSpPr>
          <p:cNvPr id="5" name="TextBox 5"/>
          <p:cNvSpPr txBox="1"/>
          <p:nvPr/>
        </p:nvSpPr>
        <p:spPr>
          <a:xfrm>
            <a:off x="10726993" y="5905910"/>
            <a:ext cx="3928368" cy="707136"/>
          </a:xfrm>
          <a:prstGeom prst="rect">
            <a:avLst/>
          </a:prstGeom>
        </p:spPr>
        <p:txBody>
          <a:bodyPr lIns="0" tIns="0" rIns="0" bIns="0" rtlCol="0" anchor="t">
            <a:spAutoFit/>
          </a:bodyPr>
          <a:lstStyle/>
          <a:p>
            <a:pPr algn="ctr">
              <a:lnSpc>
                <a:spcPts val="5652"/>
              </a:lnSpc>
              <a:spcBef>
                <a:spcPct val="0"/>
              </a:spcBef>
            </a:pPr>
            <a:r>
              <a:rPr lang="fr-FR" sz="3600" noProof="0" dirty="0">
                <a:solidFill>
                  <a:srgbClr val="1F244A"/>
                </a:solidFill>
                <a:latin typeface="IreneFlorentina"/>
                <a:ea typeface="IreneFlorentina"/>
                <a:cs typeface="IreneFlorentina"/>
                <a:sym typeface="IreneFlorentina"/>
              </a:rPr>
              <a:t>Encadré par : </a:t>
            </a:r>
          </a:p>
        </p:txBody>
      </p:sp>
      <p:sp>
        <p:nvSpPr>
          <p:cNvPr id="6" name="TextBox 6"/>
          <p:cNvSpPr txBox="1"/>
          <p:nvPr/>
        </p:nvSpPr>
        <p:spPr>
          <a:xfrm>
            <a:off x="11353800" y="6915370"/>
            <a:ext cx="5505649" cy="707136"/>
          </a:xfrm>
          <a:prstGeom prst="rect">
            <a:avLst/>
          </a:prstGeom>
        </p:spPr>
        <p:txBody>
          <a:bodyPr lIns="0" tIns="0" rIns="0" bIns="0" rtlCol="0" anchor="t">
            <a:spAutoFit/>
          </a:bodyPr>
          <a:lstStyle/>
          <a:p>
            <a:pPr algn="ctr">
              <a:lnSpc>
                <a:spcPts val="5652"/>
              </a:lnSpc>
              <a:spcBef>
                <a:spcPct val="0"/>
              </a:spcBef>
            </a:pPr>
            <a:r>
              <a:rPr lang="fr-FR" sz="3600" noProof="0" dirty="0">
                <a:solidFill>
                  <a:srgbClr val="1F244A"/>
                </a:solidFill>
                <a:latin typeface="IreneFlorentina"/>
                <a:ea typeface="IreneFlorentina"/>
                <a:cs typeface="IreneFlorentina"/>
                <a:sym typeface="IreneFlorentina"/>
              </a:rPr>
              <a:t>Pr. Lahcen EZ-ZARIY</a:t>
            </a:r>
          </a:p>
        </p:txBody>
      </p:sp>
      <p:sp>
        <p:nvSpPr>
          <p:cNvPr id="7" name="TextBox 7"/>
          <p:cNvSpPr txBox="1"/>
          <p:nvPr/>
        </p:nvSpPr>
        <p:spPr>
          <a:xfrm>
            <a:off x="623119" y="5917432"/>
            <a:ext cx="4141391" cy="707136"/>
          </a:xfrm>
          <a:prstGeom prst="rect">
            <a:avLst/>
          </a:prstGeom>
        </p:spPr>
        <p:txBody>
          <a:bodyPr lIns="0" tIns="0" rIns="0" bIns="0" rtlCol="0" anchor="t">
            <a:spAutoFit/>
          </a:bodyPr>
          <a:lstStyle/>
          <a:p>
            <a:pPr algn="ctr">
              <a:lnSpc>
                <a:spcPts val="5652"/>
              </a:lnSpc>
              <a:spcBef>
                <a:spcPct val="0"/>
              </a:spcBef>
            </a:pPr>
            <a:r>
              <a:rPr lang="fr-FR" sz="3600" noProof="0" dirty="0">
                <a:solidFill>
                  <a:srgbClr val="1F244A"/>
                </a:solidFill>
                <a:latin typeface="IreneFlorentina"/>
                <a:ea typeface="IreneFlorentina"/>
                <a:cs typeface="IreneFlorentina"/>
                <a:sym typeface="IreneFlorentina"/>
              </a:rPr>
              <a:t>Présenté par : </a:t>
            </a:r>
          </a:p>
        </p:txBody>
      </p:sp>
      <p:sp>
        <p:nvSpPr>
          <p:cNvPr id="8" name="TextBox 8"/>
          <p:cNvSpPr txBox="1"/>
          <p:nvPr/>
        </p:nvSpPr>
        <p:spPr>
          <a:xfrm>
            <a:off x="1140386" y="6643618"/>
            <a:ext cx="8384614" cy="3535679"/>
          </a:xfrm>
          <a:prstGeom prst="rect">
            <a:avLst/>
          </a:prstGeom>
        </p:spPr>
        <p:txBody>
          <a:bodyPr wrap="square" lIns="0" tIns="0" rIns="0" bIns="0" rtlCol="0" anchor="t">
            <a:spAutoFit/>
          </a:bodyPr>
          <a:lstStyle/>
          <a:p>
            <a:pPr algn="l">
              <a:lnSpc>
                <a:spcPts val="4710"/>
              </a:lnSpc>
              <a:spcBef>
                <a:spcPct val="0"/>
              </a:spcBef>
            </a:pPr>
            <a:r>
              <a:rPr lang="fr-FR" sz="3000" noProof="0" dirty="0">
                <a:solidFill>
                  <a:srgbClr val="1F244A"/>
                </a:solidFill>
                <a:latin typeface="IreneFlorentina"/>
                <a:ea typeface="IreneFlorentina"/>
                <a:cs typeface="IreneFlorentina"/>
                <a:sym typeface="IreneFlorentina"/>
              </a:rPr>
              <a:t>HNINI ZAKARIA</a:t>
            </a:r>
          </a:p>
          <a:p>
            <a:pPr algn="l">
              <a:lnSpc>
                <a:spcPts val="4710"/>
              </a:lnSpc>
              <a:spcBef>
                <a:spcPct val="0"/>
              </a:spcBef>
            </a:pPr>
            <a:r>
              <a:rPr lang="fr-FR" sz="3000" noProof="0" dirty="0">
                <a:solidFill>
                  <a:srgbClr val="1F244A"/>
                </a:solidFill>
                <a:latin typeface="IreneFlorentina"/>
                <a:ea typeface="IreneFlorentina"/>
                <a:cs typeface="IreneFlorentina"/>
                <a:sym typeface="IreneFlorentina"/>
              </a:rPr>
              <a:t>ABENNA SAID </a:t>
            </a:r>
          </a:p>
          <a:p>
            <a:pPr algn="l">
              <a:lnSpc>
                <a:spcPts val="4710"/>
              </a:lnSpc>
              <a:spcBef>
                <a:spcPct val="0"/>
              </a:spcBef>
            </a:pPr>
            <a:r>
              <a:rPr lang="fr-FR" sz="3000" noProof="0" dirty="0">
                <a:solidFill>
                  <a:srgbClr val="1F244A"/>
                </a:solidFill>
                <a:latin typeface="IreneFlorentina"/>
                <a:ea typeface="IreneFlorentina"/>
                <a:cs typeface="IreneFlorentina"/>
                <a:sym typeface="IreneFlorentina"/>
              </a:rPr>
              <a:t>HARBOUNI MOHAMED-AMINE </a:t>
            </a:r>
          </a:p>
          <a:p>
            <a:pPr algn="l">
              <a:lnSpc>
                <a:spcPts val="4710"/>
              </a:lnSpc>
              <a:spcBef>
                <a:spcPct val="0"/>
              </a:spcBef>
            </a:pPr>
            <a:r>
              <a:rPr lang="fr-FR" sz="3000" noProof="0" dirty="0">
                <a:solidFill>
                  <a:srgbClr val="1F244A"/>
                </a:solidFill>
                <a:latin typeface="IreneFlorentina"/>
                <a:ea typeface="IreneFlorentina"/>
                <a:cs typeface="IreneFlorentina"/>
                <a:sym typeface="IreneFlorentina"/>
              </a:rPr>
              <a:t>ELADDANI YASSINE</a:t>
            </a:r>
          </a:p>
          <a:p>
            <a:pPr algn="l">
              <a:lnSpc>
                <a:spcPts val="4710"/>
              </a:lnSpc>
              <a:spcBef>
                <a:spcPct val="0"/>
              </a:spcBef>
            </a:pPr>
            <a:r>
              <a:rPr lang="fr-FR" sz="3000" noProof="0" dirty="0">
                <a:solidFill>
                  <a:srgbClr val="1F244A"/>
                </a:solidFill>
                <a:latin typeface="IreneFlorentina"/>
                <a:ea typeface="IreneFlorentina"/>
                <a:cs typeface="IreneFlorentina"/>
                <a:sym typeface="IreneFlorentina"/>
              </a:rPr>
              <a:t>OUYIDIR ILHAM</a:t>
            </a:r>
          </a:p>
          <a:p>
            <a:pPr algn="l">
              <a:lnSpc>
                <a:spcPts val="4710"/>
              </a:lnSpc>
              <a:spcBef>
                <a:spcPct val="0"/>
              </a:spcBef>
            </a:pPr>
            <a:r>
              <a:rPr lang="fr-FR" sz="3000" noProof="0" dirty="0">
                <a:solidFill>
                  <a:srgbClr val="1F244A"/>
                </a:solidFill>
                <a:latin typeface="IreneFlorentina"/>
                <a:ea typeface="IreneFlorentina"/>
                <a:cs typeface="IreneFlorentina"/>
                <a:sym typeface="IreneFlorentina"/>
              </a:rPr>
              <a:t>SIRAGE-EDDINE FATIMA EZZAHRA</a:t>
            </a:r>
          </a:p>
        </p:txBody>
      </p:sp>
      <p:sp>
        <p:nvSpPr>
          <p:cNvPr id="9" name="TextBox 9"/>
          <p:cNvSpPr txBox="1"/>
          <p:nvPr/>
        </p:nvSpPr>
        <p:spPr>
          <a:xfrm>
            <a:off x="10736328" y="9064379"/>
            <a:ext cx="3227884" cy="887095"/>
          </a:xfrm>
          <a:prstGeom prst="rect">
            <a:avLst/>
          </a:prstGeom>
        </p:spPr>
        <p:txBody>
          <a:bodyPr lIns="0" tIns="0" rIns="0" bIns="0" rtlCol="0" anchor="t">
            <a:spAutoFit/>
          </a:bodyPr>
          <a:lstStyle/>
          <a:p>
            <a:pPr algn="ctr">
              <a:lnSpc>
                <a:spcPts val="7279"/>
              </a:lnSpc>
            </a:pPr>
            <a:r>
              <a:rPr lang="fr-FR" sz="5199" b="1" noProof="0" dirty="0">
                <a:solidFill>
                  <a:srgbClr val="1F244A"/>
                </a:solidFill>
                <a:latin typeface="Open Sans Bold"/>
                <a:ea typeface="Open Sans Bold"/>
                <a:cs typeface="Open Sans Bold"/>
                <a:sym typeface="Open Sans Bold"/>
              </a:rPr>
              <a:t>2025-2026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Freeform 2">
            <a:extLst>
              <a:ext uri="{FF2B5EF4-FFF2-40B4-BE49-F238E27FC236}">
                <a16:creationId xmlns:a16="http://schemas.microsoft.com/office/drawing/2014/main" id="{96FA4EF2-5D08-E996-7978-34663E473450}"/>
              </a:ext>
            </a:extLst>
          </p:cNvPr>
          <p:cNvSpPr/>
          <p:nvPr/>
        </p:nvSpPr>
        <p:spPr>
          <a:xfrm>
            <a:off x="6400800" y="346714"/>
            <a:ext cx="4439069" cy="1143000"/>
          </a:xfrm>
          <a:custGeom>
            <a:avLst/>
            <a:gdLst/>
            <a:ahLst/>
            <a:cxnLst/>
            <a:rect l="l" t="t" r="r" b="b"/>
            <a:pathLst>
              <a:path w="7315200" h="1330036">
                <a:moveTo>
                  <a:pt x="0" y="0"/>
                </a:moveTo>
                <a:lnTo>
                  <a:pt x="7315200" y="0"/>
                </a:lnTo>
                <a:lnTo>
                  <a:pt x="7315200" y="1330036"/>
                </a:lnTo>
                <a:lnTo>
                  <a:pt x="0" y="133003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fr-FR" noProof="0" dirty="0"/>
          </a:p>
        </p:txBody>
      </p:sp>
      <p:grpSp>
        <p:nvGrpSpPr>
          <p:cNvPr id="2" name="Group 2"/>
          <p:cNvGrpSpPr/>
          <p:nvPr/>
        </p:nvGrpSpPr>
        <p:grpSpPr>
          <a:xfrm>
            <a:off x="1414991" y="1543766"/>
            <a:ext cx="771999" cy="771999"/>
            <a:chOff x="0" y="0"/>
            <a:chExt cx="6350000" cy="6350000"/>
          </a:xfrm>
        </p:grpSpPr>
        <p:sp>
          <p:nvSpPr>
            <p:cNvPr id="3" name="Freeform 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txBody>
            <a:bodyPr/>
            <a:lstStyle/>
            <a:p>
              <a:endParaRPr lang="fr-FR" noProof="0" dirty="0"/>
            </a:p>
          </p:txBody>
        </p:sp>
      </p:grpSp>
      <p:grpSp>
        <p:nvGrpSpPr>
          <p:cNvPr id="4" name="Group 4"/>
          <p:cNvGrpSpPr/>
          <p:nvPr/>
        </p:nvGrpSpPr>
        <p:grpSpPr>
          <a:xfrm>
            <a:off x="1414991" y="2447702"/>
            <a:ext cx="771999" cy="771999"/>
            <a:chOff x="0" y="0"/>
            <a:chExt cx="6350000" cy="6350000"/>
          </a:xfrm>
        </p:grpSpPr>
        <p:sp>
          <p:nvSpPr>
            <p:cNvPr id="5" name="Freeform 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txBody>
            <a:bodyPr/>
            <a:lstStyle/>
            <a:p>
              <a:endParaRPr lang="fr-FR" noProof="0" dirty="0"/>
            </a:p>
          </p:txBody>
        </p:sp>
      </p:grpSp>
      <p:grpSp>
        <p:nvGrpSpPr>
          <p:cNvPr id="6" name="Group 6"/>
          <p:cNvGrpSpPr/>
          <p:nvPr/>
        </p:nvGrpSpPr>
        <p:grpSpPr>
          <a:xfrm>
            <a:off x="1414991" y="5007383"/>
            <a:ext cx="771999" cy="771999"/>
            <a:chOff x="0" y="0"/>
            <a:chExt cx="6350000" cy="6350000"/>
          </a:xfrm>
        </p:grpSpPr>
        <p:sp>
          <p:nvSpPr>
            <p:cNvPr id="7" name="Freeform 7"/>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txBody>
            <a:bodyPr/>
            <a:lstStyle/>
            <a:p>
              <a:endParaRPr lang="fr-FR" noProof="0" dirty="0"/>
            </a:p>
          </p:txBody>
        </p:sp>
      </p:grpSp>
      <p:grpSp>
        <p:nvGrpSpPr>
          <p:cNvPr id="8" name="Group 8"/>
          <p:cNvGrpSpPr/>
          <p:nvPr/>
        </p:nvGrpSpPr>
        <p:grpSpPr>
          <a:xfrm>
            <a:off x="1414991" y="3727543"/>
            <a:ext cx="771999" cy="771999"/>
            <a:chOff x="0" y="0"/>
            <a:chExt cx="6350000" cy="6350000"/>
          </a:xfrm>
        </p:grpSpPr>
        <p:sp>
          <p:nvSpPr>
            <p:cNvPr id="9" name="Freeform 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txBody>
            <a:bodyPr/>
            <a:lstStyle/>
            <a:p>
              <a:endParaRPr lang="fr-FR" noProof="0" dirty="0"/>
            </a:p>
          </p:txBody>
        </p:sp>
      </p:grpSp>
      <p:sp>
        <p:nvSpPr>
          <p:cNvPr id="10" name="Freeform 10"/>
          <p:cNvSpPr/>
          <p:nvPr/>
        </p:nvSpPr>
        <p:spPr>
          <a:xfrm>
            <a:off x="13781961" y="3651504"/>
            <a:ext cx="3916104" cy="2997599"/>
          </a:xfrm>
          <a:custGeom>
            <a:avLst/>
            <a:gdLst/>
            <a:ahLst/>
            <a:cxnLst/>
            <a:rect l="l" t="t" r="r" b="b"/>
            <a:pathLst>
              <a:path w="3916104" h="2997599">
                <a:moveTo>
                  <a:pt x="0" y="0"/>
                </a:moveTo>
                <a:lnTo>
                  <a:pt x="3916104" y="0"/>
                </a:lnTo>
                <a:lnTo>
                  <a:pt x="3916104" y="2997600"/>
                </a:lnTo>
                <a:lnTo>
                  <a:pt x="0" y="29976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fr-FR" noProof="0" dirty="0"/>
          </a:p>
        </p:txBody>
      </p:sp>
      <p:sp>
        <p:nvSpPr>
          <p:cNvPr id="11" name="TextBox 11"/>
          <p:cNvSpPr txBox="1"/>
          <p:nvPr/>
        </p:nvSpPr>
        <p:spPr>
          <a:xfrm>
            <a:off x="2760146" y="1352550"/>
            <a:ext cx="8573367" cy="760093"/>
          </a:xfrm>
          <a:prstGeom prst="rect">
            <a:avLst/>
          </a:prstGeom>
        </p:spPr>
        <p:txBody>
          <a:bodyPr lIns="0" tIns="0" rIns="0" bIns="0" rtlCol="0" anchor="t">
            <a:spAutoFit/>
          </a:bodyPr>
          <a:lstStyle/>
          <a:p>
            <a:pPr algn="l">
              <a:lnSpc>
                <a:spcPts val="6600"/>
              </a:lnSpc>
            </a:pPr>
            <a:r>
              <a:rPr lang="fr-FR" sz="3300" noProof="0" dirty="0">
                <a:solidFill>
                  <a:srgbClr val="000000"/>
                </a:solidFill>
                <a:latin typeface="Quicksand Medium"/>
                <a:ea typeface="Quicksand Medium"/>
                <a:cs typeface="Quicksand Medium"/>
                <a:sym typeface="Quicksand Medium"/>
              </a:rPr>
              <a:t>introduction</a:t>
            </a:r>
          </a:p>
        </p:txBody>
      </p:sp>
      <p:sp>
        <p:nvSpPr>
          <p:cNvPr id="12" name="TextBox 12"/>
          <p:cNvSpPr txBox="1"/>
          <p:nvPr/>
        </p:nvSpPr>
        <p:spPr>
          <a:xfrm>
            <a:off x="1528385" y="1695416"/>
            <a:ext cx="545211" cy="476284"/>
          </a:xfrm>
          <a:prstGeom prst="rect">
            <a:avLst/>
          </a:prstGeom>
        </p:spPr>
        <p:txBody>
          <a:bodyPr lIns="0" tIns="0" rIns="0" bIns="0" rtlCol="0" anchor="t">
            <a:spAutoFit/>
          </a:bodyPr>
          <a:lstStyle/>
          <a:p>
            <a:pPr algn="ctr">
              <a:lnSpc>
                <a:spcPts val="4239"/>
              </a:lnSpc>
            </a:pPr>
            <a:r>
              <a:rPr lang="fr-FR" sz="2700" noProof="0" dirty="0">
                <a:solidFill>
                  <a:srgbClr val="FFFFFF"/>
                </a:solidFill>
                <a:latin typeface="IreneFlorentina"/>
                <a:ea typeface="IreneFlorentina"/>
                <a:cs typeface="IreneFlorentina"/>
                <a:sym typeface="IreneFlorentina"/>
              </a:rPr>
              <a:t>1</a:t>
            </a:r>
          </a:p>
        </p:txBody>
      </p:sp>
      <p:sp>
        <p:nvSpPr>
          <p:cNvPr id="13" name="TextBox 13"/>
          <p:cNvSpPr txBox="1"/>
          <p:nvPr/>
        </p:nvSpPr>
        <p:spPr>
          <a:xfrm>
            <a:off x="2760146" y="2256487"/>
            <a:ext cx="8573367" cy="760093"/>
          </a:xfrm>
          <a:prstGeom prst="rect">
            <a:avLst/>
          </a:prstGeom>
        </p:spPr>
        <p:txBody>
          <a:bodyPr lIns="0" tIns="0" rIns="0" bIns="0" rtlCol="0" anchor="t">
            <a:spAutoFit/>
          </a:bodyPr>
          <a:lstStyle/>
          <a:p>
            <a:pPr marL="0" lvl="1" indent="0" algn="l">
              <a:lnSpc>
                <a:spcPts val="6600"/>
              </a:lnSpc>
              <a:spcBef>
                <a:spcPct val="0"/>
              </a:spcBef>
            </a:pPr>
            <a:r>
              <a:rPr lang="fr-FR" sz="3300" noProof="0" dirty="0">
                <a:solidFill>
                  <a:srgbClr val="000000"/>
                </a:solidFill>
                <a:latin typeface="Quicksand Medium"/>
                <a:ea typeface="Quicksand Medium"/>
                <a:cs typeface="Quicksand Medium"/>
                <a:sym typeface="Quicksand Medium"/>
              </a:rPr>
              <a:t>Didactique et pédagogie</a:t>
            </a:r>
          </a:p>
        </p:txBody>
      </p:sp>
      <p:sp>
        <p:nvSpPr>
          <p:cNvPr id="14" name="TextBox 14"/>
          <p:cNvSpPr txBox="1"/>
          <p:nvPr/>
        </p:nvSpPr>
        <p:spPr>
          <a:xfrm>
            <a:off x="1528385" y="2533616"/>
            <a:ext cx="545211" cy="476284"/>
          </a:xfrm>
          <a:prstGeom prst="rect">
            <a:avLst/>
          </a:prstGeom>
        </p:spPr>
        <p:txBody>
          <a:bodyPr lIns="0" tIns="0" rIns="0" bIns="0" rtlCol="0" anchor="t">
            <a:spAutoFit/>
          </a:bodyPr>
          <a:lstStyle/>
          <a:p>
            <a:pPr marL="0" lvl="1" indent="0" algn="ctr">
              <a:lnSpc>
                <a:spcPts val="4239"/>
              </a:lnSpc>
              <a:spcBef>
                <a:spcPct val="0"/>
              </a:spcBef>
            </a:pPr>
            <a:r>
              <a:rPr lang="fr-FR" sz="2700" u="none" noProof="0" dirty="0">
                <a:solidFill>
                  <a:srgbClr val="FFFFFF"/>
                </a:solidFill>
                <a:latin typeface="IreneFlorentina"/>
                <a:ea typeface="IreneFlorentina"/>
                <a:cs typeface="IreneFlorentina"/>
                <a:sym typeface="IreneFlorentina"/>
              </a:rPr>
              <a:t>2</a:t>
            </a:r>
          </a:p>
        </p:txBody>
      </p:sp>
      <p:sp>
        <p:nvSpPr>
          <p:cNvPr id="15" name="TextBox 15"/>
          <p:cNvSpPr txBox="1"/>
          <p:nvPr/>
        </p:nvSpPr>
        <p:spPr>
          <a:xfrm>
            <a:off x="2760146" y="4816168"/>
            <a:ext cx="11301818" cy="760093"/>
          </a:xfrm>
          <a:prstGeom prst="rect">
            <a:avLst/>
          </a:prstGeom>
        </p:spPr>
        <p:txBody>
          <a:bodyPr lIns="0" tIns="0" rIns="0" bIns="0" rtlCol="0" anchor="t">
            <a:spAutoFit/>
          </a:bodyPr>
          <a:lstStyle/>
          <a:p>
            <a:pPr marL="0" lvl="1" indent="0" algn="l">
              <a:lnSpc>
                <a:spcPts val="6600"/>
              </a:lnSpc>
              <a:spcBef>
                <a:spcPct val="0"/>
              </a:spcBef>
            </a:pPr>
            <a:r>
              <a:rPr lang="fr-FR" sz="3300" noProof="0" dirty="0">
                <a:solidFill>
                  <a:srgbClr val="000000"/>
                </a:solidFill>
                <a:latin typeface="Quicksand Medium"/>
                <a:ea typeface="Quicksand Medium"/>
                <a:cs typeface="Quicksand Medium"/>
                <a:sym typeface="Quicksand Medium"/>
              </a:rPr>
              <a:t>l'épistémologie et l'histoire des sciences(PC)</a:t>
            </a:r>
          </a:p>
        </p:txBody>
      </p:sp>
      <p:sp>
        <p:nvSpPr>
          <p:cNvPr id="16" name="TextBox 16"/>
          <p:cNvSpPr txBox="1"/>
          <p:nvPr/>
        </p:nvSpPr>
        <p:spPr>
          <a:xfrm>
            <a:off x="1528385" y="5124416"/>
            <a:ext cx="545211" cy="476284"/>
          </a:xfrm>
          <a:prstGeom prst="rect">
            <a:avLst/>
          </a:prstGeom>
        </p:spPr>
        <p:txBody>
          <a:bodyPr lIns="0" tIns="0" rIns="0" bIns="0" rtlCol="0" anchor="t">
            <a:spAutoFit/>
          </a:bodyPr>
          <a:lstStyle/>
          <a:p>
            <a:pPr marL="0" lvl="1" indent="0" algn="ctr">
              <a:lnSpc>
                <a:spcPts val="4239"/>
              </a:lnSpc>
              <a:spcBef>
                <a:spcPct val="0"/>
              </a:spcBef>
            </a:pPr>
            <a:r>
              <a:rPr lang="fr-FR" sz="2700" u="none" noProof="0" dirty="0">
                <a:solidFill>
                  <a:srgbClr val="FFFFFF"/>
                </a:solidFill>
                <a:latin typeface="IreneFlorentina"/>
                <a:ea typeface="IreneFlorentina"/>
                <a:cs typeface="IreneFlorentina"/>
                <a:sym typeface="IreneFlorentina"/>
              </a:rPr>
              <a:t>4</a:t>
            </a:r>
          </a:p>
        </p:txBody>
      </p:sp>
      <p:sp>
        <p:nvSpPr>
          <p:cNvPr id="17" name="TextBox 17"/>
          <p:cNvSpPr txBox="1"/>
          <p:nvPr/>
        </p:nvSpPr>
        <p:spPr>
          <a:xfrm>
            <a:off x="2760146" y="3536327"/>
            <a:ext cx="9237044" cy="760093"/>
          </a:xfrm>
          <a:prstGeom prst="rect">
            <a:avLst/>
          </a:prstGeom>
        </p:spPr>
        <p:txBody>
          <a:bodyPr lIns="0" tIns="0" rIns="0" bIns="0" rtlCol="0" anchor="t">
            <a:spAutoFit/>
          </a:bodyPr>
          <a:lstStyle/>
          <a:p>
            <a:pPr marL="0" lvl="1" indent="0" algn="l">
              <a:lnSpc>
                <a:spcPts val="6600"/>
              </a:lnSpc>
              <a:spcBef>
                <a:spcPct val="0"/>
              </a:spcBef>
            </a:pPr>
            <a:r>
              <a:rPr lang="fr-FR" sz="3300" noProof="0" dirty="0">
                <a:solidFill>
                  <a:srgbClr val="000000"/>
                </a:solidFill>
                <a:latin typeface="Quicksand Medium"/>
                <a:ea typeface="Quicksand Medium"/>
                <a:cs typeface="Quicksand Medium"/>
                <a:sym typeface="Quicksand Medium"/>
              </a:rPr>
              <a:t>Différence et Utilité de la didactique </a:t>
            </a:r>
          </a:p>
        </p:txBody>
      </p:sp>
      <p:sp>
        <p:nvSpPr>
          <p:cNvPr id="18" name="TextBox 18"/>
          <p:cNvSpPr txBox="1"/>
          <p:nvPr/>
        </p:nvSpPr>
        <p:spPr>
          <a:xfrm>
            <a:off x="1528385" y="3829016"/>
            <a:ext cx="545211" cy="476284"/>
          </a:xfrm>
          <a:prstGeom prst="rect">
            <a:avLst/>
          </a:prstGeom>
        </p:spPr>
        <p:txBody>
          <a:bodyPr lIns="0" tIns="0" rIns="0" bIns="0" rtlCol="0" anchor="t">
            <a:spAutoFit/>
          </a:bodyPr>
          <a:lstStyle/>
          <a:p>
            <a:pPr marL="0" lvl="1" indent="0" algn="ctr">
              <a:lnSpc>
                <a:spcPts val="4239"/>
              </a:lnSpc>
              <a:spcBef>
                <a:spcPct val="0"/>
              </a:spcBef>
            </a:pPr>
            <a:r>
              <a:rPr lang="fr-FR" sz="2700" u="none" noProof="0" dirty="0">
                <a:solidFill>
                  <a:srgbClr val="FFFFFF"/>
                </a:solidFill>
                <a:latin typeface="IreneFlorentina"/>
                <a:ea typeface="IreneFlorentina"/>
                <a:cs typeface="IreneFlorentina"/>
                <a:sym typeface="IreneFlorentina"/>
              </a:rPr>
              <a:t>3</a:t>
            </a:r>
          </a:p>
        </p:txBody>
      </p:sp>
      <p:sp>
        <p:nvSpPr>
          <p:cNvPr id="19" name="TextBox 19"/>
          <p:cNvSpPr txBox="1"/>
          <p:nvPr/>
        </p:nvSpPr>
        <p:spPr>
          <a:xfrm>
            <a:off x="6561784" y="400766"/>
            <a:ext cx="3698543" cy="1090042"/>
          </a:xfrm>
          <a:prstGeom prst="rect">
            <a:avLst/>
          </a:prstGeom>
        </p:spPr>
        <p:txBody>
          <a:bodyPr lIns="0" tIns="0" rIns="0" bIns="0" rtlCol="0" anchor="t">
            <a:spAutoFit/>
          </a:bodyPr>
          <a:lstStyle/>
          <a:p>
            <a:pPr marL="0" lvl="0" indent="0" algn="ctr">
              <a:lnSpc>
                <a:spcPts val="8520"/>
              </a:lnSpc>
              <a:spcBef>
                <a:spcPct val="0"/>
              </a:spcBef>
            </a:pPr>
            <a:r>
              <a:rPr lang="fr-FR" sz="7100" noProof="0" dirty="0">
                <a:solidFill>
                  <a:srgbClr val="000000"/>
                </a:solidFill>
                <a:latin typeface="IreneFlorentina"/>
                <a:ea typeface="IreneFlorentina"/>
                <a:cs typeface="IreneFlorentina"/>
                <a:sym typeface="IreneFlorentina"/>
              </a:rPr>
              <a:t>PLAN</a:t>
            </a:r>
          </a:p>
        </p:txBody>
      </p:sp>
      <p:grpSp>
        <p:nvGrpSpPr>
          <p:cNvPr id="20" name="Group 20"/>
          <p:cNvGrpSpPr/>
          <p:nvPr/>
        </p:nvGrpSpPr>
        <p:grpSpPr>
          <a:xfrm>
            <a:off x="1414991" y="6179794"/>
            <a:ext cx="771999" cy="771999"/>
            <a:chOff x="0" y="0"/>
            <a:chExt cx="6350000" cy="6350000"/>
          </a:xfrm>
        </p:grpSpPr>
        <p:sp>
          <p:nvSpPr>
            <p:cNvPr id="21" name="Freeform 21"/>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txBody>
            <a:bodyPr/>
            <a:lstStyle/>
            <a:p>
              <a:endParaRPr lang="fr-FR" noProof="0" dirty="0"/>
            </a:p>
          </p:txBody>
        </p:sp>
      </p:grpSp>
      <p:sp>
        <p:nvSpPr>
          <p:cNvPr id="22" name="TextBox 22"/>
          <p:cNvSpPr txBox="1"/>
          <p:nvPr/>
        </p:nvSpPr>
        <p:spPr>
          <a:xfrm>
            <a:off x="2760146" y="5988579"/>
            <a:ext cx="12186722" cy="760093"/>
          </a:xfrm>
          <a:prstGeom prst="rect">
            <a:avLst/>
          </a:prstGeom>
        </p:spPr>
        <p:txBody>
          <a:bodyPr lIns="0" tIns="0" rIns="0" bIns="0" rtlCol="0" anchor="t">
            <a:spAutoFit/>
          </a:bodyPr>
          <a:lstStyle/>
          <a:p>
            <a:pPr marL="0" lvl="1" indent="0" algn="l">
              <a:lnSpc>
                <a:spcPts val="6600"/>
              </a:lnSpc>
              <a:spcBef>
                <a:spcPct val="0"/>
              </a:spcBef>
            </a:pPr>
            <a:r>
              <a:rPr lang="fr-FR" sz="3300" noProof="0" dirty="0">
                <a:solidFill>
                  <a:srgbClr val="000000"/>
                </a:solidFill>
                <a:latin typeface="Quicksand Medium"/>
                <a:ea typeface="Quicksand Medium"/>
                <a:cs typeface="Quicksand Medium"/>
                <a:sym typeface="Quicksand Medium"/>
              </a:rPr>
              <a:t>Nature et caractéristiques de la science </a:t>
            </a:r>
          </a:p>
        </p:txBody>
      </p:sp>
      <p:sp>
        <p:nvSpPr>
          <p:cNvPr id="23" name="TextBox 23"/>
          <p:cNvSpPr txBox="1"/>
          <p:nvPr/>
        </p:nvSpPr>
        <p:spPr>
          <a:xfrm>
            <a:off x="1528385" y="6267416"/>
            <a:ext cx="545211" cy="476284"/>
          </a:xfrm>
          <a:prstGeom prst="rect">
            <a:avLst/>
          </a:prstGeom>
        </p:spPr>
        <p:txBody>
          <a:bodyPr lIns="0" tIns="0" rIns="0" bIns="0" rtlCol="0" anchor="t">
            <a:spAutoFit/>
          </a:bodyPr>
          <a:lstStyle/>
          <a:p>
            <a:pPr marL="0" lvl="1" indent="0" algn="ctr">
              <a:lnSpc>
                <a:spcPts val="4239"/>
              </a:lnSpc>
              <a:spcBef>
                <a:spcPct val="0"/>
              </a:spcBef>
            </a:pPr>
            <a:r>
              <a:rPr lang="fr-FR" sz="2700" noProof="0" dirty="0">
                <a:solidFill>
                  <a:srgbClr val="FFFFFF"/>
                </a:solidFill>
                <a:latin typeface="IreneFlorentina"/>
                <a:ea typeface="IreneFlorentina"/>
                <a:cs typeface="IreneFlorentina"/>
                <a:sym typeface="IreneFlorentina"/>
              </a:rPr>
              <a:t>5</a:t>
            </a:r>
          </a:p>
        </p:txBody>
      </p:sp>
      <p:grpSp>
        <p:nvGrpSpPr>
          <p:cNvPr id="24" name="Group 24"/>
          <p:cNvGrpSpPr/>
          <p:nvPr/>
        </p:nvGrpSpPr>
        <p:grpSpPr>
          <a:xfrm>
            <a:off x="1414991" y="7189918"/>
            <a:ext cx="771999" cy="771999"/>
            <a:chOff x="0" y="0"/>
            <a:chExt cx="6350000" cy="6350000"/>
          </a:xfrm>
        </p:grpSpPr>
        <p:sp>
          <p:nvSpPr>
            <p:cNvPr id="25" name="Freeform 25"/>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txBody>
            <a:bodyPr/>
            <a:lstStyle/>
            <a:p>
              <a:endParaRPr lang="fr-FR" noProof="0" dirty="0"/>
            </a:p>
          </p:txBody>
        </p:sp>
      </p:grpSp>
      <p:sp>
        <p:nvSpPr>
          <p:cNvPr id="26" name="TextBox 26"/>
          <p:cNvSpPr txBox="1"/>
          <p:nvPr/>
        </p:nvSpPr>
        <p:spPr>
          <a:xfrm>
            <a:off x="2760146" y="6998702"/>
            <a:ext cx="11301818" cy="760093"/>
          </a:xfrm>
          <a:prstGeom prst="rect">
            <a:avLst/>
          </a:prstGeom>
        </p:spPr>
        <p:txBody>
          <a:bodyPr lIns="0" tIns="0" rIns="0" bIns="0" rtlCol="0" anchor="t">
            <a:spAutoFit/>
          </a:bodyPr>
          <a:lstStyle/>
          <a:p>
            <a:pPr marL="0" lvl="1" indent="0" algn="l">
              <a:lnSpc>
                <a:spcPts val="6600"/>
              </a:lnSpc>
              <a:spcBef>
                <a:spcPct val="0"/>
              </a:spcBef>
            </a:pPr>
            <a:r>
              <a:rPr lang="fr-FR" sz="3300" noProof="0" dirty="0">
                <a:solidFill>
                  <a:srgbClr val="000000"/>
                </a:solidFill>
                <a:latin typeface="Quicksand Medium"/>
                <a:ea typeface="Quicksand Medium"/>
                <a:cs typeface="Quicksand Medium"/>
                <a:sym typeface="Quicksand Medium"/>
              </a:rPr>
              <a:t>Paradigme et caractéristiques de la science</a:t>
            </a:r>
          </a:p>
        </p:txBody>
      </p:sp>
      <p:sp>
        <p:nvSpPr>
          <p:cNvPr id="27" name="TextBox 27"/>
          <p:cNvSpPr txBox="1"/>
          <p:nvPr/>
        </p:nvSpPr>
        <p:spPr>
          <a:xfrm>
            <a:off x="1528385" y="7334216"/>
            <a:ext cx="545211" cy="476284"/>
          </a:xfrm>
          <a:prstGeom prst="rect">
            <a:avLst/>
          </a:prstGeom>
        </p:spPr>
        <p:txBody>
          <a:bodyPr lIns="0" tIns="0" rIns="0" bIns="0" rtlCol="0" anchor="t">
            <a:spAutoFit/>
          </a:bodyPr>
          <a:lstStyle/>
          <a:p>
            <a:pPr marL="0" lvl="1" indent="0" algn="ctr">
              <a:lnSpc>
                <a:spcPts val="4239"/>
              </a:lnSpc>
              <a:spcBef>
                <a:spcPct val="0"/>
              </a:spcBef>
            </a:pPr>
            <a:r>
              <a:rPr lang="fr-FR" sz="2700" noProof="0" dirty="0">
                <a:solidFill>
                  <a:srgbClr val="FFFFFF"/>
                </a:solidFill>
                <a:latin typeface="IreneFlorentina"/>
                <a:ea typeface="IreneFlorentina"/>
                <a:cs typeface="IreneFlorentina"/>
                <a:sym typeface="IreneFlorentina"/>
              </a:rPr>
              <a:t>6</a:t>
            </a:r>
          </a:p>
        </p:txBody>
      </p:sp>
      <p:grpSp>
        <p:nvGrpSpPr>
          <p:cNvPr id="28" name="Group 28"/>
          <p:cNvGrpSpPr/>
          <p:nvPr/>
        </p:nvGrpSpPr>
        <p:grpSpPr>
          <a:xfrm>
            <a:off x="1414991" y="8133367"/>
            <a:ext cx="771999" cy="771999"/>
            <a:chOff x="0" y="0"/>
            <a:chExt cx="6350000" cy="6350000"/>
          </a:xfrm>
        </p:grpSpPr>
        <p:sp>
          <p:nvSpPr>
            <p:cNvPr id="29" name="Freeform 29"/>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txBody>
            <a:bodyPr/>
            <a:lstStyle/>
            <a:p>
              <a:endParaRPr lang="fr-FR" noProof="0" dirty="0"/>
            </a:p>
          </p:txBody>
        </p:sp>
      </p:grpSp>
      <p:sp>
        <p:nvSpPr>
          <p:cNvPr id="30" name="TextBox 30"/>
          <p:cNvSpPr txBox="1"/>
          <p:nvPr/>
        </p:nvSpPr>
        <p:spPr>
          <a:xfrm>
            <a:off x="2760146" y="8075284"/>
            <a:ext cx="10675012" cy="760093"/>
          </a:xfrm>
          <a:prstGeom prst="rect">
            <a:avLst/>
          </a:prstGeom>
        </p:spPr>
        <p:txBody>
          <a:bodyPr lIns="0" tIns="0" rIns="0" bIns="0" rtlCol="0" anchor="t">
            <a:spAutoFit/>
          </a:bodyPr>
          <a:lstStyle/>
          <a:p>
            <a:pPr marL="0" lvl="1" indent="0" algn="l">
              <a:lnSpc>
                <a:spcPts val="6600"/>
              </a:lnSpc>
              <a:spcBef>
                <a:spcPct val="0"/>
              </a:spcBef>
            </a:pPr>
            <a:r>
              <a:rPr lang="fr-FR" sz="3300" noProof="0" dirty="0">
                <a:solidFill>
                  <a:srgbClr val="000000"/>
                </a:solidFill>
                <a:latin typeface="Quicksand Medium"/>
                <a:ea typeface="Quicksand Medium"/>
                <a:cs typeface="Quicksand Medium"/>
                <a:sym typeface="Quicksand Medium"/>
              </a:rPr>
              <a:t>L’Énergie (Histoire, Découverte et Mesure)</a:t>
            </a:r>
          </a:p>
        </p:txBody>
      </p:sp>
      <p:sp>
        <p:nvSpPr>
          <p:cNvPr id="31" name="TextBox 31"/>
          <p:cNvSpPr txBox="1"/>
          <p:nvPr/>
        </p:nvSpPr>
        <p:spPr>
          <a:xfrm>
            <a:off x="1528385" y="8218730"/>
            <a:ext cx="545211" cy="476284"/>
          </a:xfrm>
          <a:prstGeom prst="rect">
            <a:avLst/>
          </a:prstGeom>
        </p:spPr>
        <p:txBody>
          <a:bodyPr lIns="0" tIns="0" rIns="0" bIns="0" rtlCol="0" anchor="t">
            <a:spAutoFit/>
          </a:bodyPr>
          <a:lstStyle/>
          <a:p>
            <a:pPr marL="0" lvl="1" indent="0" algn="ctr">
              <a:lnSpc>
                <a:spcPts val="4239"/>
              </a:lnSpc>
              <a:spcBef>
                <a:spcPct val="0"/>
              </a:spcBef>
            </a:pPr>
            <a:r>
              <a:rPr lang="fr-FR" sz="2700" noProof="0" dirty="0">
                <a:solidFill>
                  <a:srgbClr val="FFFFFF"/>
                </a:solidFill>
                <a:latin typeface="IreneFlorentina"/>
                <a:ea typeface="IreneFlorentina"/>
                <a:cs typeface="IreneFlorentina"/>
                <a:sym typeface="IreneFlorentina"/>
              </a:rPr>
              <a:t>7</a:t>
            </a:r>
          </a:p>
        </p:txBody>
      </p:sp>
      <p:grpSp>
        <p:nvGrpSpPr>
          <p:cNvPr id="32" name="Group 32"/>
          <p:cNvGrpSpPr/>
          <p:nvPr/>
        </p:nvGrpSpPr>
        <p:grpSpPr>
          <a:xfrm>
            <a:off x="1414991" y="9076816"/>
            <a:ext cx="771999" cy="771999"/>
            <a:chOff x="0" y="0"/>
            <a:chExt cx="6350000" cy="6350000"/>
          </a:xfrm>
        </p:grpSpPr>
        <p:sp>
          <p:nvSpPr>
            <p:cNvPr id="33" name="Freeform 33"/>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000000"/>
            </a:solidFill>
          </p:spPr>
          <p:txBody>
            <a:bodyPr/>
            <a:lstStyle/>
            <a:p>
              <a:endParaRPr lang="fr-FR" noProof="0" dirty="0"/>
            </a:p>
          </p:txBody>
        </p:sp>
      </p:grpSp>
      <p:sp>
        <p:nvSpPr>
          <p:cNvPr id="34" name="TextBox 34"/>
          <p:cNvSpPr txBox="1"/>
          <p:nvPr/>
        </p:nvSpPr>
        <p:spPr>
          <a:xfrm>
            <a:off x="2760146" y="9018733"/>
            <a:ext cx="10675012" cy="760093"/>
          </a:xfrm>
          <a:prstGeom prst="rect">
            <a:avLst/>
          </a:prstGeom>
        </p:spPr>
        <p:txBody>
          <a:bodyPr lIns="0" tIns="0" rIns="0" bIns="0" rtlCol="0" anchor="t">
            <a:spAutoFit/>
          </a:bodyPr>
          <a:lstStyle/>
          <a:p>
            <a:pPr marL="0" lvl="1" indent="0" algn="l">
              <a:lnSpc>
                <a:spcPts val="6600"/>
              </a:lnSpc>
              <a:spcBef>
                <a:spcPct val="0"/>
              </a:spcBef>
            </a:pPr>
            <a:r>
              <a:rPr lang="fr-FR" sz="3300" b="1" noProof="0" dirty="0">
                <a:solidFill>
                  <a:srgbClr val="000000"/>
                </a:solidFill>
                <a:latin typeface="Quicksand Medium"/>
                <a:ea typeface="Quicksand Medium"/>
                <a:cs typeface="Quicksand Medium"/>
                <a:sym typeface="Quicksand Medium"/>
              </a:rPr>
              <a:t>conclusion</a:t>
            </a:r>
          </a:p>
        </p:txBody>
      </p:sp>
      <p:sp>
        <p:nvSpPr>
          <p:cNvPr id="35" name="TextBox 35"/>
          <p:cNvSpPr txBox="1"/>
          <p:nvPr/>
        </p:nvSpPr>
        <p:spPr>
          <a:xfrm>
            <a:off x="1528385" y="9162179"/>
            <a:ext cx="545211" cy="530351"/>
          </a:xfrm>
          <a:prstGeom prst="rect">
            <a:avLst/>
          </a:prstGeom>
        </p:spPr>
        <p:txBody>
          <a:bodyPr lIns="0" tIns="0" rIns="0" bIns="0" rtlCol="0" anchor="t">
            <a:spAutoFit/>
          </a:bodyPr>
          <a:lstStyle/>
          <a:p>
            <a:pPr marL="0" lvl="1" indent="0" algn="ctr">
              <a:lnSpc>
                <a:spcPts val="4239"/>
              </a:lnSpc>
              <a:spcBef>
                <a:spcPct val="0"/>
              </a:spcBef>
            </a:pPr>
            <a:r>
              <a:rPr lang="fr-FR" sz="2700" noProof="0" dirty="0">
                <a:solidFill>
                  <a:srgbClr val="FFFFFF"/>
                </a:solidFill>
                <a:latin typeface="IreneFlorentina"/>
                <a:ea typeface="IreneFlorentina"/>
                <a:cs typeface="IreneFlorentina"/>
                <a:sym typeface="IreneFlorentina"/>
              </a:rPr>
              <a:t>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 8" descr="Une image contenant Rectangle, capture d’écran, conception&#10;&#10;Le contenu généré par l’IA peut être incorrect.">
            <a:extLst>
              <a:ext uri="{FF2B5EF4-FFF2-40B4-BE49-F238E27FC236}">
                <a16:creationId xmlns:a16="http://schemas.microsoft.com/office/drawing/2014/main" id="{18F9703B-0B62-B33E-21DF-CA106E2AD904}"/>
              </a:ext>
            </a:extLst>
          </p:cNvPr>
          <p:cNvPicPr>
            <a:picLocks noChangeAspect="1"/>
          </p:cNvPicPr>
          <p:nvPr/>
        </p:nvPicPr>
        <p:blipFill>
          <a:blip r:embed="rId2"/>
          <a:stretch>
            <a:fillRect/>
          </a:stretch>
        </p:blipFill>
        <p:spPr>
          <a:xfrm>
            <a:off x="5486400" y="466812"/>
            <a:ext cx="7315200" cy="1333500"/>
          </a:xfrm>
          <a:prstGeom prst="rect">
            <a:avLst/>
          </a:prstGeom>
        </p:spPr>
      </p:pic>
      <p:sp>
        <p:nvSpPr>
          <p:cNvPr id="2" name="TextBox 2"/>
          <p:cNvSpPr txBox="1"/>
          <p:nvPr/>
        </p:nvSpPr>
        <p:spPr>
          <a:xfrm>
            <a:off x="1922744" y="609600"/>
            <a:ext cx="14442513" cy="1077218"/>
          </a:xfrm>
          <a:prstGeom prst="rect">
            <a:avLst/>
          </a:prstGeom>
        </p:spPr>
        <p:txBody>
          <a:bodyPr lIns="0" tIns="0" rIns="0" bIns="0" rtlCol="0" anchor="t">
            <a:spAutoFit/>
          </a:bodyPr>
          <a:lstStyle/>
          <a:p>
            <a:pPr lvl="0" algn="ctr">
              <a:lnSpc>
                <a:spcPts val="8400"/>
              </a:lnSpc>
              <a:spcBef>
                <a:spcPct val="0"/>
              </a:spcBef>
            </a:pPr>
            <a:r>
              <a:rPr lang="fr-FR" sz="7000" noProof="0" dirty="0">
                <a:solidFill>
                  <a:srgbClr val="000000"/>
                </a:solidFill>
                <a:latin typeface="IreneFlorentina"/>
              </a:rPr>
              <a:t>Introduction</a:t>
            </a:r>
            <a:r>
              <a:rPr lang="fr-FR" sz="7200" noProof="0" dirty="0"/>
              <a:t> </a:t>
            </a:r>
            <a:endParaRPr lang="fr-FR" sz="7000" noProof="0" dirty="0">
              <a:solidFill>
                <a:srgbClr val="000000"/>
              </a:solidFill>
              <a:latin typeface="IreneFlorentina"/>
              <a:ea typeface="IreneFlorentina"/>
              <a:cs typeface="IreneFlorentina"/>
              <a:sym typeface="IreneFlorentina"/>
            </a:endParaRPr>
          </a:p>
        </p:txBody>
      </p:sp>
      <p:sp>
        <p:nvSpPr>
          <p:cNvPr id="3" name="TextBox 3"/>
          <p:cNvSpPr txBox="1"/>
          <p:nvPr/>
        </p:nvSpPr>
        <p:spPr>
          <a:xfrm>
            <a:off x="1028700" y="2552700"/>
            <a:ext cx="16497300" cy="6173228"/>
          </a:xfrm>
          <a:prstGeom prst="rect">
            <a:avLst/>
          </a:prstGeom>
        </p:spPr>
        <p:txBody>
          <a:bodyPr wrap="square" lIns="0" tIns="0" rIns="0" bIns="0" rtlCol="0" anchor="t">
            <a:spAutoFit/>
          </a:bodyPr>
          <a:lstStyle/>
          <a:p>
            <a:pPr lvl="0" algn="just">
              <a:lnSpc>
                <a:spcPts val="5399"/>
              </a:lnSpc>
              <a:spcBef>
                <a:spcPct val="0"/>
              </a:spcBef>
            </a:pPr>
            <a:r>
              <a:rPr lang="fr-FR" sz="3699" noProof="0" dirty="0">
                <a:solidFill>
                  <a:srgbClr val="000000"/>
                </a:solidFill>
                <a:latin typeface="Quicksand"/>
              </a:rPr>
              <a:t>La gestion de classe est un élément essentiel du métier d’enseignant, car elle influence directement le climat d’apprentissage et l’efficacité pédagogique. Elle regroupe les stratégies permettant d’organiser l’espace et le temps, de réguler les comportements et de favoriser la participation des apprenants. Une gestion efficace dépasse la simple application des règles et repose sur l’anticipation et l’adaptation aux besoins des apprenants. Elle vise à instaurer un climat de respect et de collaboration. Ainsi, elle contribue à l’engagement, à l’autonomie et à la réussite scolaire des apprenants.</a:t>
            </a:r>
            <a:endParaRPr lang="fr-FR" sz="3699" noProof="0" dirty="0">
              <a:solidFill>
                <a:srgbClr val="000000"/>
              </a:solidFill>
              <a:latin typeface="Quicksand"/>
              <a:sym typeface="Quicksand Medium"/>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Image 11" descr="Une image contenant bleu vert, conception&#10;&#10;Le contenu généré par l’IA peut être incorrect.">
            <a:extLst>
              <a:ext uri="{FF2B5EF4-FFF2-40B4-BE49-F238E27FC236}">
                <a16:creationId xmlns:a16="http://schemas.microsoft.com/office/drawing/2014/main" id="{DDC9526A-EAB0-59C4-BD4F-4C96BB75C906}"/>
              </a:ext>
            </a:extLst>
          </p:cNvPr>
          <p:cNvPicPr>
            <a:picLocks noChangeAspect="1"/>
          </p:cNvPicPr>
          <p:nvPr/>
        </p:nvPicPr>
        <p:blipFill>
          <a:blip r:embed="rId2"/>
          <a:stretch>
            <a:fillRect/>
          </a:stretch>
        </p:blipFill>
        <p:spPr>
          <a:xfrm>
            <a:off x="1028701" y="1943100"/>
            <a:ext cx="4921818" cy="1066800"/>
          </a:xfrm>
          <a:prstGeom prst="rect">
            <a:avLst/>
          </a:prstGeom>
        </p:spPr>
      </p:pic>
      <p:pic>
        <p:nvPicPr>
          <p:cNvPr id="10" name="Image 9" descr="Une image contenant Rectangle, capture d’écran, conception&#10;&#10;Le contenu généré par l’IA peut être incorrect.">
            <a:extLst>
              <a:ext uri="{FF2B5EF4-FFF2-40B4-BE49-F238E27FC236}">
                <a16:creationId xmlns:a16="http://schemas.microsoft.com/office/drawing/2014/main" id="{E95061BA-3F3F-474A-31B4-9D3F5F7AB97F}"/>
              </a:ext>
            </a:extLst>
          </p:cNvPr>
          <p:cNvPicPr>
            <a:picLocks noChangeAspect="1"/>
          </p:cNvPicPr>
          <p:nvPr/>
        </p:nvPicPr>
        <p:blipFill>
          <a:blip r:embed="rId3"/>
          <a:stretch>
            <a:fillRect/>
          </a:stretch>
        </p:blipFill>
        <p:spPr>
          <a:xfrm>
            <a:off x="5638800" y="455291"/>
            <a:ext cx="7315200" cy="1333500"/>
          </a:xfrm>
          <a:prstGeom prst="rect">
            <a:avLst/>
          </a:prstGeom>
        </p:spPr>
      </p:pic>
      <p:sp>
        <p:nvSpPr>
          <p:cNvPr id="2" name="TextBox 2"/>
          <p:cNvSpPr txBox="1"/>
          <p:nvPr/>
        </p:nvSpPr>
        <p:spPr>
          <a:xfrm>
            <a:off x="1922744" y="609600"/>
            <a:ext cx="14442513" cy="1077218"/>
          </a:xfrm>
          <a:prstGeom prst="rect">
            <a:avLst/>
          </a:prstGeom>
        </p:spPr>
        <p:txBody>
          <a:bodyPr lIns="0" tIns="0" rIns="0" bIns="0" rtlCol="0" anchor="t">
            <a:spAutoFit/>
          </a:bodyPr>
          <a:lstStyle/>
          <a:p>
            <a:pPr lvl="0" algn="ctr">
              <a:lnSpc>
                <a:spcPts val="8400"/>
              </a:lnSpc>
              <a:spcBef>
                <a:spcPct val="0"/>
              </a:spcBef>
            </a:pPr>
            <a:r>
              <a:rPr lang="fr-FR" sz="7000" noProof="0" dirty="0">
                <a:solidFill>
                  <a:srgbClr val="000000"/>
                </a:solidFill>
                <a:latin typeface="IreneFlorentina"/>
              </a:rPr>
              <a:t>Introduction</a:t>
            </a:r>
            <a:endParaRPr lang="fr-FR" sz="7000" noProof="0" dirty="0">
              <a:solidFill>
                <a:srgbClr val="000000"/>
              </a:solidFill>
              <a:latin typeface="IreneFlorentina"/>
              <a:ea typeface="IreneFlorentina"/>
              <a:cs typeface="IreneFlorentina"/>
              <a:sym typeface="IreneFlorentina"/>
            </a:endParaRPr>
          </a:p>
        </p:txBody>
      </p:sp>
      <p:sp>
        <p:nvSpPr>
          <p:cNvPr id="3" name="TextBox 3"/>
          <p:cNvSpPr txBox="1"/>
          <p:nvPr/>
        </p:nvSpPr>
        <p:spPr>
          <a:xfrm rot="84779">
            <a:off x="1351774" y="2139379"/>
            <a:ext cx="4590906" cy="692305"/>
          </a:xfrm>
          <a:prstGeom prst="rect">
            <a:avLst/>
          </a:prstGeom>
        </p:spPr>
        <p:txBody>
          <a:bodyPr wrap="square" lIns="0" tIns="0" rIns="0" bIns="0" rtlCol="0" anchor="t">
            <a:spAutoFit/>
          </a:bodyPr>
          <a:lstStyle/>
          <a:p>
            <a:pPr algn="ctr">
              <a:lnSpc>
                <a:spcPts val="6020"/>
              </a:lnSpc>
            </a:pPr>
            <a:r>
              <a:rPr lang="fr-FR" sz="4300" noProof="0" dirty="0">
                <a:solidFill>
                  <a:schemeClr val="accent1">
                    <a:lumMod val="75000"/>
                  </a:schemeClr>
                </a:solidFill>
                <a:latin typeface="IreneFlorentina"/>
              </a:rPr>
              <a:t>Définition</a:t>
            </a:r>
            <a:r>
              <a:rPr lang="fr-FR" sz="4300" dirty="0">
                <a:solidFill>
                  <a:schemeClr val="accent1">
                    <a:lumMod val="75000"/>
                  </a:schemeClr>
                </a:solidFill>
                <a:latin typeface="IreneFlorentina"/>
              </a:rPr>
              <a:t>s</a:t>
            </a:r>
            <a:endParaRPr lang="fr-FR" sz="4300" noProof="0" dirty="0">
              <a:solidFill>
                <a:schemeClr val="accent1">
                  <a:lumMod val="75000"/>
                </a:schemeClr>
              </a:solidFill>
              <a:latin typeface="IreneFlorentina"/>
              <a:ea typeface="IreneFlorentina"/>
              <a:cs typeface="IreneFlorentina"/>
              <a:sym typeface="IreneFlorentina"/>
            </a:endParaRPr>
          </a:p>
        </p:txBody>
      </p:sp>
      <p:sp>
        <p:nvSpPr>
          <p:cNvPr id="4" name="TextBox 4"/>
          <p:cNvSpPr txBox="1"/>
          <p:nvPr/>
        </p:nvSpPr>
        <p:spPr>
          <a:xfrm>
            <a:off x="1028700" y="3214270"/>
            <a:ext cx="16230600" cy="2758832"/>
          </a:xfrm>
          <a:prstGeom prst="rect">
            <a:avLst/>
          </a:prstGeom>
        </p:spPr>
        <p:txBody>
          <a:bodyPr lIns="0" tIns="0" rIns="0" bIns="0" rtlCol="0" anchor="t">
            <a:spAutoFit/>
          </a:bodyPr>
          <a:lstStyle/>
          <a:p>
            <a:pPr lvl="0" algn="just">
              <a:lnSpc>
                <a:spcPts val="5549"/>
              </a:lnSpc>
              <a:spcBef>
                <a:spcPct val="0"/>
              </a:spcBef>
            </a:pPr>
            <a:r>
              <a:rPr lang="fr-FR" sz="3699" noProof="0" dirty="0">
                <a:solidFill>
                  <a:srgbClr val="000000"/>
                </a:solidFill>
                <a:latin typeface="Quicksand"/>
              </a:rPr>
              <a:t>La gestion pédagogique de la classe est l’ensemble des actions, stratégies et décisions prises par l’enseignant pour organiser, animer et réguler la vie de la classe afin de favoriser les apprentissages dans un climat calme, motivant et respectueux.</a:t>
            </a:r>
            <a:endParaRPr lang="fr-FR" sz="3699" u="none" noProof="0" dirty="0">
              <a:solidFill>
                <a:srgbClr val="000000"/>
              </a:solidFill>
              <a:latin typeface="Quicksand"/>
              <a:ea typeface="Quicksand"/>
              <a:cs typeface="Quicksand"/>
              <a:sym typeface="Quicksand"/>
            </a:endParaRPr>
          </a:p>
        </p:txBody>
      </p:sp>
      <p:sp>
        <p:nvSpPr>
          <p:cNvPr id="11" name="TextBox 4">
            <a:extLst>
              <a:ext uri="{FF2B5EF4-FFF2-40B4-BE49-F238E27FC236}">
                <a16:creationId xmlns:a16="http://schemas.microsoft.com/office/drawing/2014/main" id="{CC903554-3BA9-6026-FF35-49AAB5FB3039}"/>
              </a:ext>
            </a:extLst>
          </p:cNvPr>
          <p:cNvSpPr txBox="1"/>
          <p:nvPr/>
        </p:nvSpPr>
        <p:spPr>
          <a:xfrm>
            <a:off x="1004637" y="6515100"/>
            <a:ext cx="16230600" cy="2758832"/>
          </a:xfrm>
          <a:prstGeom prst="rect">
            <a:avLst/>
          </a:prstGeom>
        </p:spPr>
        <p:txBody>
          <a:bodyPr lIns="0" tIns="0" rIns="0" bIns="0" rtlCol="0" anchor="t">
            <a:spAutoFit/>
          </a:bodyPr>
          <a:lstStyle/>
          <a:p>
            <a:pPr lvl="0" algn="just">
              <a:lnSpc>
                <a:spcPts val="5549"/>
              </a:lnSpc>
              <a:spcBef>
                <a:spcPct val="0"/>
              </a:spcBef>
            </a:pPr>
            <a:r>
              <a:rPr lang="fr-FR" sz="3699" noProof="0" dirty="0">
                <a:solidFill>
                  <a:srgbClr val="000000"/>
                </a:solidFill>
                <a:latin typeface="Quicksand"/>
              </a:rPr>
              <a:t>En physique-chimie, la gestion de classe est essentielle pour concilier apprentissage et sécurité lors des expériences. L’enseignant organise le temps, l’espace et le matériel de manière efficace. Cela crée un environnement propice aux interactions et à l’apprentissage scientifique.</a:t>
            </a:r>
            <a:endParaRPr lang="fr-FR" sz="3699" noProof="0" dirty="0">
              <a:solidFill>
                <a:srgbClr val="000000"/>
              </a:solidFill>
              <a:latin typeface="Quicksand"/>
              <a:sym typeface="Quicksan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3CAB5-FC85-3B0A-72CF-B44F02BC1D86}"/>
            </a:ext>
          </a:extLst>
        </p:cNvPr>
        <p:cNvGrpSpPr/>
        <p:nvPr/>
      </p:nvGrpSpPr>
      <p:grpSpPr>
        <a:xfrm>
          <a:off x="0" y="0"/>
          <a:ext cx="0" cy="0"/>
          <a:chOff x="0" y="0"/>
          <a:chExt cx="0" cy="0"/>
        </a:xfrm>
      </p:grpSpPr>
      <p:pic>
        <p:nvPicPr>
          <p:cNvPr id="10" name="Image 9" descr="Une image contenant Rectangle, capture d’écran, conception&#10;&#10;Le contenu généré par l’IA peut être incorrect.">
            <a:extLst>
              <a:ext uri="{FF2B5EF4-FFF2-40B4-BE49-F238E27FC236}">
                <a16:creationId xmlns:a16="http://schemas.microsoft.com/office/drawing/2014/main" id="{10B5882F-9548-D50E-437B-1982A0F632D8}"/>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836097" y="15240"/>
            <a:ext cx="12161724" cy="2216981"/>
          </a:xfrm>
          <a:prstGeom prst="rect">
            <a:avLst/>
          </a:prstGeom>
        </p:spPr>
      </p:pic>
      <p:sp>
        <p:nvSpPr>
          <p:cNvPr id="2" name="TextBox 2">
            <a:extLst>
              <a:ext uri="{FF2B5EF4-FFF2-40B4-BE49-F238E27FC236}">
                <a16:creationId xmlns:a16="http://schemas.microsoft.com/office/drawing/2014/main" id="{0643B937-C92A-934A-058F-C7A946165BC3}"/>
              </a:ext>
            </a:extLst>
          </p:cNvPr>
          <p:cNvSpPr txBox="1"/>
          <p:nvPr/>
        </p:nvSpPr>
        <p:spPr>
          <a:xfrm>
            <a:off x="4331470" y="19123"/>
            <a:ext cx="9507256" cy="2061975"/>
          </a:xfrm>
          <a:prstGeom prst="rect">
            <a:avLst/>
          </a:prstGeom>
        </p:spPr>
        <p:txBody>
          <a:bodyPr wrap="square" lIns="0" tIns="0" rIns="0" bIns="0" rtlCol="0" anchor="t">
            <a:spAutoFit/>
          </a:bodyPr>
          <a:lstStyle/>
          <a:p>
            <a:pPr lvl="0" algn="ctr">
              <a:lnSpc>
                <a:spcPts val="8400"/>
              </a:lnSpc>
              <a:spcBef>
                <a:spcPct val="0"/>
              </a:spcBef>
            </a:pPr>
            <a:r>
              <a:rPr lang="fr-FR" sz="6000" noProof="0" dirty="0">
                <a:solidFill>
                  <a:srgbClr val="000000"/>
                </a:solidFill>
                <a:latin typeface="IreneFlorentina"/>
              </a:rPr>
              <a:t>Fonctions de la gestion de classe</a:t>
            </a:r>
            <a:endParaRPr lang="fr-FR" sz="6000" noProof="0" dirty="0">
              <a:solidFill>
                <a:srgbClr val="000000"/>
              </a:solidFill>
              <a:latin typeface="IreneFlorentina"/>
              <a:sym typeface="IreneFlorentina"/>
            </a:endParaRPr>
          </a:p>
        </p:txBody>
      </p:sp>
      <p:sp>
        <p:nvSpPr>
          <p:cNvPr id="4" name="TextBox 4">
            <a:extLst>
              <a:ext uri="{FF2B5EF4-FFF2-40B4-BE49-F238E27FC236}">
                <a16:creationId xmlns:a16="http://schemas.microsoft.com/office/drawing/2014/main" id="{057CE6FD-2997-2AD6-7FCD-9DF5A0E71A7B}"/>
              </a:ext>
            </a:extLst>
          </p:cNvPr>
          <p:cNvSpPr txBox="1"/>
          <p:nvPr/>
        </p:nvSpPr>
        <p:spPr>
          <a:xfrm>
            <a:off x="1028700" y="3467100"/>
            <a:ext cx="16230600" cy="2758832"/>
          </a:xfrm>
          <a:prstGeom prst="rect">
            <a:avLst/>
          </a:prstGeom>
        </p:spPr>
        <p:txBody>
          <a:bodyPr wrap="square" lIns="0" tIns="0" rIns="0" bIns="0" rtlCol="0" anchor="t">
            <a:spAutoFit/>
          </a:bodyPr>
          <a:lstStyle/>
          <a:p>
            <a:pPr lvl="0" algn="just">
              <a:lnSpc>
                <a:spcPts val="5549"/>
              </a:lnSpc>
              <a:spcBef>
                <a:spcPct val="0"/>
              </a:spcBef>
            </a:pPr>
            <a:r>
              <a:rPr lang="fr-FR" sz="3699" noProof="0" dirty="0">
                <a:solidFill>
                  <a:srgbClr val="000000"/>
                </a:solidFill>
                <a:latin typeface="Quicksand"/>
              </a:rPr>
              <a:t>À travers ses différentes fonctions, notamment didactiques et pédagogiques, la gestion de classe permet à l’enseignant de structurer les savoirs, de réguler les interactions et de créer un environnement propice au développement des compétences des apprenants</a:t>
            </a:r>
            <a:endParaRPr lang="fr-FR" sz="3699" noProof="0" dirty="0">
              <a:solidFill>
                <a:srgbClr val="000000"/>
              </a:solidFill>
              <a:latin typeface="Quicksand"/>
              <a:sym typeface="Quicksand"/>
            </a:endParaRPr>
          </a:p>
        </p:txBody>
      </p:sp>
    </p:spTree>
    <p:extLst>
      <p:ext uri="{BB962C8B-B14F-4D97-AF65-F5344CB8AC3E}">
        <p14:creationId xmlns:p14="http://schemas.microsoft.com/office/powerpoint/2010/main" val="24073494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73D52-4BEA-A4D9-3870-E6C2EDF50D9D}"/>
            </a:ext>
          </a:extLst>
        </p:cNvPr>
        <p:cNvGrpSpPr/>
        <p:nvPr/>
      </p:nvGrpSpPr>
      <p:grpSpPr>
        <a:xfrm>
          <a:off x="0" y="0"/>
          <a:ext cx="0" cy="0"/>
          <a:chOff x="0" y="0"/>
          <a:chExt cx="0" cy="0"/>
        </a:xfrm>
      </p:grpSpPr>
      <p:pic>
        <p:nvPicPr>
          <p:cNvPr id="12" name="Image 11" descr="Une image contenant bleu vert, conception&#10;&#10;Le contenu généré par l’IA peut être incorrect.">
            <a:extLst>
              <a:ext uri="{FF2B5EF4-FFF2-40B4-BE49-F238E27FC236}">
                <a16:creationId xmlns:a16="http://schemas.microsoft.com/office/drawing/2014/main" id="{E712D4B9-113D-8DAB-35F5-66623F101E07}"/>
              </a:ext>
            </a:extLst>
          </p:cNvPr>
          <p:cNvPicPr>
            <a:picLocks noChangeAspect="1"/>
          </p:cNvPicPr>
          <p:nvPr/>
        </p:nvPicPr>
        <p:blipFill>
          <a:blip r:embed="rId2"/>
          <a:stretch>
            <a:fillRect/>
          </a:stretch>
        </p:blipFill>
        <p:spPr>
          <a:xfrm>
            <a:off x="1028700" y="2811560"/>
            <a:ext cx="7888259" cy="1066800"/>
          </a:xfrm>
          <a:prstGeom prst="rect">
            <a:avLst/>
          </a:prstGeom>
        </p:spPr>
      </p:pic>
      <p:pic>
        <p:nvPicPr>
          <p:cNvPr id="10" name="Image 9" descr="Une image contenant Rectangle, capture d’écran, conception&#10;&#10;Le contenu généré par l’IA peut être incorrect.">
            <a:extLst>
              <a:ext uri="{FF2B5EF4-FFF2-40B4-BE49-F238E27FC236}">
                <a16:creationId xmlns:a16="http://schemas.microsoft.com/office/drawing/2014/main" id="{6F93FB7E-0F65-6D10-7003-475BBD81CDF5}"/>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2836097" y="15240"/>
            <a:ext cx="12161724" cy="2216981"/>
          </a:xfrm>
          <a:prstGeom prst="rect">
            <a:avLst/>
          </a:prstGeom>
        </p:spPr>
      </p:pic>
      <p:sp>
        <p:nvSpPr>
          <p:cNvPr id="2" name="TextBox 2">
            <a:extLst>
              <a:ext uri="{FF2B5EF4-FFF2-40B4-BE49-F238E27FC236}">
                <a16:creationId xmlns:a16="http://schemas.microsoft.com/office/drawing/2014/main" id="{0DB38951-2DA7-A906-AD41-062606C65278}"/>
              </a:ext>
            </a:extLst>
          </p:cNvPr>
          <p:cNvSpPr txBox="1"/>
          <p:nvPr/>
        </p:nvSpPr>
        <p:spPr>
          <a:xfrm>
            <a:off x="4331470" y="19123"/>
            <a:ext cx="9507256" cy="2061975"/>
          </a:xfrm>
          <a:prstGeom prst="rect">
            <a:avLst/>
          </a:prstGeom>
        </p:spPr>
        <p:txBody>
          <a:bodyPr wrap="square" lIns="0" tIns="0" rIns="0" bIns="0" rtlCol="0" anchor="t">
            <a:spAutoFit/>
          </a:bodyPr>
          <a:lstStyle/>
          <a:p>
            <a:pPr lvl="0" algn="ctr">
              <a:lnSpc>
                <a:spcPts val="8400"/>
              </a:lnSpc>
              <a:spcBef>
                <a:spcPct val="0"/>
              </a:spcBef>
            </a:pPr>
            <a:r>
              <a:rPr lang="fr-FR" sz="6000" noProof="0" dirty="0">
                <a:solidFill>
                  <a:srgbClr val="000000"/>
                </a:solidFill>
                <a:latin typeface="IreneFlorentina"/>
              </a:rPr>
              <a:t>Fonctions de la gestion de classe</a:t>
            </a:r>
            <a:endParaRPr lang="fr-FR" sz="6000" noProof="0" dirty="0">
              <a:solidFill>
                <a:srgbClr val="000000"/>
              </a:solidFill>
              <a:latin typeface="IreneFlorentina"/>
              <a:sym typeface="IreneFlorentina"/>
            </a:endParaRPr>
          </a:p>
        </p:txBody>
      </p:sp>
      <p:sp>
        <p:nvSpPr>
          <p:cNvPr id="3" name="TextBox 3">
            <a:extLst>
              <a:ext uri="{FF2B5EF4-FFF2-40B4-BE49-F238E27FC236}">
                <a16:creationId xmlns:a16="http://schemas.microsoft.com/office/drawing/2014/main" id="{28153D0C-B4D6-971C-3321-7F40936B89E7}"/>
              </a:ext>
            </a:extLst>
          </p:cNvPr>
          <p:cNvSpPr txBox="1"/>
          <p:nvPr/>
        </p:nvSpPr>
        <p:spPr>
          <a:xfrm rot="84779">
            <a:off x="1351373" y="3040277"/>
            <a:ext cx="7221871" cy="692305"/>
          </a:xfrm>
          <a:prstGeom prst="rect">
            <a:avLst/>
          </a:prstGeom>
        </p:spPr>
        <p:txBody>
          <a:bodyPr lIns="0" tIns="0" rIns="0" bIns="0" rtlCol="0" anchor="t">
            <a:spAutoFit/>
          </a:bodyPr>
          <a:lstStyle/>
          <a:p>
            <a:pPr algn="ctr">
              <a:lnSpc>
                <a:spcPts val="6020"/>
              </a:lnSpc>
            </a:pPr>
            <a:r>
              <a:rPr lang="fr-FR" sz="4300" noProof="0" dirty="0">
                <a:solidFill>
                  <a:schemeClr val="accent1">
                    <a:lumMod val="75000"/>
                  </a:schemeClr>
                </a:solidFill>
                <a:latin typeface="IreneFlorentina"/>
              </a:rPr>
              <a:t>Fonction didactique</a:t>
            </a:r>
            <a:endParaRPr lang="fr-FR" sz="4300" noProof="0" dirty="0">
              <a:solidFill>
                <a:schemeClr val="accent1">
                  <a:lumMod val="75000"/>
                </a:schemeClr>
              </a:solidFill>
              <a:latin typeface="IreneFlorentina"/>
              <a:sym typeface="IreneFlorentina"/>
            </a:endParaRPr>
          </a:p>
        </p:txBody>
      </p:sp>
      <p:sp>
        <p:nvSpPr>
          <p:cNvPr id="4" name="TextBox 4">
            <a:extLst>
              <a:ext uri="{FF2B5EF4-FFF2-40B4-BE49-F238E27FC236}">
                <a16:creationId xmlns:a16="http://schemas.microsoft.com/office/drawing/2014/main" id="{B8C8E7F1-98D7-B17C-5852-4E39C269E05C}"/>
              </a:ext>
            </a:extLst>
          </p:cNvPr>
          <p:cNvSpPr txBox="1"/>
          <p:nvPr/>
        </p:nvSpPr>
        <p:spPr>
          <a:xfrm>
            <a:off x="1028700" y="4227156"/>
            <a:ext cx="16230600" cy="2053511"/>
          </a:xfrm>
          <a:prstGeom prst="rect">
            <a:avLst/>
          </a:prstGeom>
        </p:spPr>
        <p:txBody>
          <a:bodyPr wrap="square" lIns="0" tIns="0" rIns="0" bIns="0" rtlCol="0" anchor="t">
            <a:spAutoFit/>
          </a:bodyPr>
          <a:lstStyle/>
          <a:p>
            <a:pPr lvl="0" algn="just">
              <a:lnSpc>
                <a:spcPts val="5549"/>
              </a:lnSpc>
              <a:spcBef>
                <a:spcPct val="0"/>
              </a:spcBef>
            </a:pPr>
            <a:r>
              <a:rPr lang="fr-FR" sz="3699" noProof="0" dirty="0">
                <a:solidFill>
                  <a:srgbClr val="000000"/>
                </a:solidFill>
                <a:latin typeface="Quicksand"/>
              </a:rPr>
              <a:t>Elle consiste à planifier les séances, à choisir des situations d’apprentissage adaptées et à articuler les notions théoriques avec les activités expérimentales </a:t>
            </a:r>
            <a:endParaRPr lang="fr-FR" sz="3699" noProof="0" dirty="0">
              <a:solidFill>
                <a:srgbClr val="000000"/>
              </a:solidFill>
              <a:latin typeface="Quicksand"/>
              <a:sym typeface="Quicksand"/>
            </a:endParaRPr>
          </a:p>
        </p:txBody>
      </p:sp>
      <p:sp>
        <p:nvSpPr>
          <p:cNvPr id="5" name="TextBox 4">
            <a:extLst>
              <a:ext uri="{FF2B5EF4-FFF2-40B4-BE49-F238E27FC236}">
                <a16:creationId xmlns:a16="http://schemas.microsoft.com/office/drawing/2014/main" id="{50E333A0-0F71-8E9A-4A8C-53AC1EAB31BC}"/>
              </a:ext>
            </a:extLst>
          </p:cNvPr>
          <p:cNvSpPr txBox="1"/>
          <p:nvPr/>
        </p:nvSpPr>
        <p:spPr>
          <a:xfrm>
            <a:off x="1028700" y="6629463"/>
            <a:ext cx="16230600" cy="2758832"/>
          </a:xfrm>
          <a:prstGeom prst="rect">
            <a:avLst/>
          </a:prstGeom>
        </p:spPr>
        <p:txBody>
          <a:bodyPr wrap="square" lIns="0" tIns="0" rIns="0" bIns="0" rtlCol="0" anchor="t">
            <a:spAutoFit/>
          </a:bodyPr>
          <a:lstStyle/>
          <a:p>
            <a:pPr lvl="0" algn="just">
              <a:lnSpc>
                <a:spcPts val="5549"/>
              </a:lnSpc>
              <a:spcBef>
                <a:spcPct val="0"/>
              </a:spcBef>
            </a:pPr>
            <a:r>
              <a:rPr lang="fr-FR" sz="3699" noProof="0" dirty="0">
                <a:solidFill>
                  <a:srgbClr val="000000"/>
                </a:solidFill>
                <a:latin typeface="Quicksand"/>
              </a:rPr>
              <a:t>L’enseignant met en œuvre une démarche scientifique progressive, favorisant la démarche d’investigation. Cette fonction permet ainsi de rendre les savoirs scientifiques accessibles, cohérents et significatifs pour les apprenants.</a:t>
            </a:r>
            <a:endParaRPr lang="fr-FR" sz="3699" noProof="0" dirty="0">
              <a:solidFill>
                <a:srgbClr val="000000"/>
              </a:solidFill>
              <a:latin typeface="Quicksand"/>
              <a:sym typeface="Quicksand"/>
            </a:endParaRPr>
          </a:p>
        </p:txBody>
      </p:sp>
    </p:spTree>
    <p:extLst>
      <p:ext uri="{BB962C8B-B14F-4D97-AF65-F5344CB8AC3E}">
        <p14:creationId xmlns:p14="http://schemas.microsoft.com/office/powerpoint/2010/main" val="3564441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7B18D-A105-35B8-7088-A3696C17BF1D}"/>
            </a:ext>
          </a:extLst>
        </p:cNvPr>
        <p:cNvGrpSpPr/>
        <p:nvPr/>
      </p:nvGrpSpPr>
      <p:grpSpPr>
        <a:xfrm>
          <a:off x="0" y="0"/>
          <a:ext cx="0" cy="0"/>
          <a:chOff x="0" y="0"/>
          <a:chExt cx="0" cy="0"/>
        </a:xfrm>
      </p:grpSpPr>
      <p:pic>
        <p:nvPicPr>
          <p:cNvPr id="12" name="Image 11" descr="Une image contenant bleu vert, conception&#10;&#10;Le contenu généré par l’IA peut être incorrect.">
            <a:extLst>
              <a:ext uri="{FF2B5EF4-FFF2-40B4-BE49-F238E27FC236}">
                <a16:creationId xmlns:a16="http://schemas.microsoft.com/office/drawing/2014/main" id="{101F39AA-98DD-42BE-D119-77D1A12AFB91}"/>
              </a:ext>
            </a:extLst>
          </p:cNvPr>
          <p:cNvPicPr>
            <a:picLocks noChangeAspect="1"/>
          </p:cNvPicPr>
          <p:nvPr/>
        </p:nvPicPr>
        <p:blipFill>
          <a:blip r:embed="rId2"/>
          <a:stretch>
            <a:fillRect/>
          </a:stretch>
        </p:blipFill>
        <p:spPr>
          <a:xfrm>
            <a:off x="1028700" y="2811560"/>
            <a:ext cx="7888259" cy="1066800"/>
          </a:xfrm>
          <a:prstGeom prst="rect">
            <a:avLst/>
          </a:prstGeom>
        </p:spPr>
      </p:pic>
      <p:pic>
        <p:nvPicPr>
          <p:cNvPr id="10" name="Image 9" descr="Une image contenant Rectangle, capture d’écran, conception&#10;&#10;Le contenu généré par l’IA peut être incorrect.">
            <a:extLst>
              <a:ext uri="{FF2B5EF4-FFF2-40B4-BE49-F238E27FC236}">
                <a16:creationId xmlns:a16="http://schemas.microsoft.com/office/drawing/2014/main" id="{620B51A5-A49D-7499-C25B-733C97BEB851}"/>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2836097" y="15240"/>
            <a:ext cx="12161724" cy="2216981"/>
          </a:xfrm>
          <a:prstGeom prst="rect">
            <a:avLst/>
          </a:prstGeom>
        </p:spPr>
      </p:pic>
      <p:sp>
        <p:nvSpPr>
          <p:cNvPr id="2" name="TextBox 2">
            <a:extLst>
              <a:ext uri="{FF2B5EF4-FFF2-40B4-BE49-F238E27FC236}">
                <a16:creationId xmlns:a16="http://schemas.microsoft.com/office/drawing/2014/main" id="{F10740AB-0C7E-31F1-224E-FA8048FD7851}"/>
              </a:ext>
            </a:extLst>
          </p:cNvPr>
          <p:cNvSpPr txBox="1"/>
          <p:nvPr/>
        </p:nvSpPr>
        <p:spPr>
          <a:xfrm>
            <a:off x="4331470" y="19123"/>
            <a:ext cx="9507256" cy="2061975"/>
          </a:xfrm>
          <a:prstGeom prst="rect">
            <a:avLst/>
          </a:prstGeom>
        </p:spPr>
        <p:txBody>
          <a:bodyPr wrap="square" lIns="0" tIns="0" rIns="0" bIns="0" rtlCol="0" anchor="t">
            <a:spAutoFit/>
          </a:bodyPr>
          <a:lstStyle/>
          <a:p>
            <a:pPr lvl="0" algn="ctr">
              <a:lnSpc>
                <a:spcPts val="8400"/>
              </a:lnSpc>
              <a:spcBef>
                <a:spcPct val="0"/>
              </a:spcBef>
            </a:pPr>
            <a:r>
              <a:rPr lang="fr-FR" sz="6000" noProof="0" dirty="0">
                <a:solidFill>
                  <a:srgbClr val="000000"/>
                </a:solidFill>
                <a:latin typeface="IreneFlorentina"/>
              </a:rPr>
              <a:t>Fonctions de la gestion de classe</a:t>
            </a:r>
            <a:endParaRPr lang="fr-FR" sz="6000" noProof="0" dirty="0">
              <a:solidFill>
                <a:srgbClr val="000000"/>
              </a:solidFill>
              <a:latin typeface="IreneFlorentina"/>
              <a:sym typeface="IreneFlorentina"/>
            </a:endParaRPr>
          </a:p>
        </p:txBody>
      </p:sp>
      <p:sp>
        <p:nvSpPr>
          <p:cNvPr id="3" name="TextBox 3">
            <a:extLst>
              <a:ext uri="{FF2B5EF4-FFF2-40B4-BE49-F238E27FC236}">
                <a16:creationId xmlns:a16="http://schemas.microsoft.com/office/drawing/2014/main" id="{74BBB363-C8EC-EE5B-C3B1-7C622D250D4B}"/>
              </a:ext>
            </a:extLst>
          </p:cNvPr>
          <p:cNvSpPr txBox="1"/>
          <p:nvPr/>
        </p:nvSpPr>
        <p:spPr>
          <a:xfrm rot="84779">
            <a:off x="1351373" y="3040277"/>
            <a:ext cx="7221871" cy="692305"/>
          </a:xfrm>
          <a:prstGeom prst="rect">
            <a:avLst/>
          </a:prstGeom>
        </p:spPr>
        <p:txBody>
          <a:bodyPr lIns="0" tIns="0" rIns="0" bIns="0" rtlCol="0" anchor="t">
            <a:spAutoFit/>
          </a:bodyPr>
          <a:lstStyle/>
          <a:p>
            <a:pPr algn="ctr">
              <a:lnSpc>
                <a:spcPts val="6020"/>
              </a:lnSpc>
            </a:pPr>
            <a:r>
              <a:rPr lang="fr-FR" sz="4300" noProof="0" dirty="0">
                <a:solidFill>
                  <a:schemeClr val="accent1">
                    <a:lumMod val="75000"/>
                  </a:schemeClr>
                </a:solidFill>
                <a:latin typeface="IreneFlorentina"/>
              </a:rPr>
              <a:t>Fonction pédagogique</a:t>
            </a:r>
            <a:endParaRPr lang="fr-FR" sz="4300" noProof="0" dirty="0">
              <a:solidFill>
                <a:schemeClr val="accent1">
                  <a:lumMod val="75000"/>
                </a:schemeClr>
              </a:solidFill>
              <a:latin typeface="IreneFlorentina"/>
              <a:sym typeface="IreneFlorentina"/>
            </a:endParaRPr>
          </a:p>
        </p:txBody>
      </p:sp>
      <p:sp>
        <p:nvSpPr>
          <p:cNvPr id="4" name="TextBox 4">
            <a:extLst>
              <a:ext uri="{FF2B5EF4-FFF2-40B4-BE49-F238E27FC236}">
                <a16:creationId xmlns:a16="http://schemas.microsoft.com/office/drawing/2014/main" id="{7BA3FC03-FB83-A302-1514-191DC98D22D4}"/>
              </a:ext>
            </a:extLst>
          </p:cNvPr>
          <p:cNvSpPr txBox="1"/>
          <p:nvPr/>
        </p:nvSpPr>
        <p:spPr>
          <a:xfrm>
            <a:off x="1028700" y="4227156"/>
            <a:ext cx="16230600" cy="642868"/>
          </a:xfrm>
          <a:prstGeom prst="rect">
            <a:avLst/>
          </a:prstGeom>
        </p:spPr>
        <p:txBody>
          <a:bodyPr wrap="square" lIns="0" tIns="0" rIns="0" bIns="0" rtlCol="0" anchor="t">
            <a:spAutoFit/>
          </a:bodyPr>
          <a:lstStyle/>
          <a:p>
            <a:pPr lvl="0">
              <a:lnSpc>
                <a:spcPts val="5549"/>
              </a:lnSpc>
              <a:spcBef>
                <a:spcPct val="0"/>
              </a:spcBef>
            </a:pPr>
            <a:r>
              <a:rPr lang="fr-FR" sz="3699" noProof="0" dirty="0">
                <a:solidFill>
                  <a:srgbClr val="000000"/>
                </a:solidFill>
                <a:latin typeface="Quicksand"/>
              </a:rPr>
              <a:t>Créer un climat de classe favorable aux apprentissages.</a:t>
            </a:r>
            <a:endParaRPr lang="fr-FR" sz="3699" noProof="0" dirty="0">
              <a:solidFill>
                <a:srgbClr val="000000"/>
              </a:solidFill>
              <a:latin typeface="Quicksand"/>
              <a:sym typeface="Quicksand"/>
            </a:endParaRPr>
          </a:p>
        </p:txBody>
      </p:sp>
      <p:sp>
        <p:nvSpPr>
          <p:cNvPr id="5" name="TextBox 4">
            <a:extLst>
              <a:ext uri="{FF2B5EF4-FFF2-40B4-BE49-F238E27FC236}">
                <a16:creationId xmlns:a16="http://schemas.microsoft.com/office/drawing/2014/main" id="{DFBE00A3-4833-2E2A-B94C-02FB53E91DDD}"/>
              </a:ext>
            </a:extLst>
          </p:cNvPr>
          <p:cNvSpPr txBox="1"/>
          <p:nvPr/>
        </p:nvSpPr>
        <p:spPr>
          <a:xfrm>
            <a:off x="1028700" y="5322179"/>
            <a:ext cx="16421100" cy="1138517"/>
          </a:xfrm>
          <a:prstGeom prst="rect">
            <a:avLst/>
          </a:prstGeom>
        </p:spPr>
        <p:txBody>
          <a:bodyPr wrap="square" lIns="0" tIns="0" rIns="0" bIns="0" rtlCol="0" anchor="t">
            <a:spAutoFit/>
          </a:bodyPr>
          <a:lstStyle/>
          <a:p>
            <a:r>
              <a:rPr lang="fr-FR" sz="3699" noProof="0" dirty="0">
                <a:solidFill>
                  <a:srgbClr val="000000"/>
                </a:solidFill>
                <a:latin typeface="Quicksand"/>
              </a:rPr>
              <a:t>L’enseignant adopte des stratégies pédagogiques variées pour encourager la participation, la coopération et l’autonomie </a:t>
            </a:r>
            <a:endParaRPr lang="fr-FR" sz="3699" noProof="0" dirty="0">
              <a:solidFill>
                <a:srgbClr val="000000"/>
              </a:solidFill>
              <a:latin typeface="Quicksand"/>
              <a:sym typeface="Quicksand"/>
            </a:endParaRPr>
          </a:p>
        </p:txBody>
      </p:sp>
      <p:sp>
        <p:nvSpPr>
          <p:cNvPr id="6" name="TextBox 5">
            <a:extLst>
              <a:ext uri="{FF2B5EF4-FFF2-40B4-BE49-F238E27FC236}">
                <a16:creationId xmlns:a16="http://schemas.microsoft.com/office/drawing/2014/main" id="{00FDAEA1-1963-01B7-7A14-1F6A2126740B}"/>
              </a:ext>
            </a:extLst>
          </p:cNvPr>
          <p:cNvSpPr txBox="1"/>
          <p:nvPr/>
        </p:nvSpPr>
        <p:spPr>
          <a:xfrm>
            <a:off x="1005840" y="6935711"/>
            <a:ext cx="16230600" cy="1707775"/>
          </a:xfrm>
          <a:prstGeom prst="rect">
            <a:avLst/>
          </a:prstGeom>
        </p:spPr>
        <p:txBody>
          <a:bodyPr wrap="square" lIns="0" tIns="0" rIns="0" bIns="0" rtlCol="0" anchor="t">
            <a:spAutoFit/>
          </a:bodyPr>
          <a:lstStyle/>
          <a:p>
            <a:pPr algn="just"/>
            <a:r>
              <a:rPr lang="fr-FR" sz="3699" noProof="0" dirty="0">
                <a:solidFill>
                  <a:srgbClr val="000000"/>
                </a:solidFill>
                <a:latin typeface="Quicksand"/>
              </a:rPr>
              <a:t>Cette fonction contribue également à la gestion des comportements et au maintien d’un environnement calme et sécurisé, indispensable à l’efficacité des apprentissages scientifiques. </a:t>
            </a:r>
            <a:endParaRPr lang="fr-FR" sz="3699" noProof="0" dirty="0">
              <a:solidFill>
                <a:srgbClr val="000000"/>
              </a:solidFill>
              <a:latin typeface="Quicksand"/>
              <a:sym typeface="Quicksand"/>
            </a:endParaRPr>
          </a:p>
        </p:txBody>
      </p:sp>
    </p:spTree>
    <p:extLst>
      <p:ext uri="{BB962C8B-B14F-4D97-AF65-F5344CB8AC3E}">
        <p14:creationId xmlns:p14="http://schemas.microsoft.com/office/powerpoint/2010/main" val="22902935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D2442-193D-C74F-83D3-5686860F91A9}"/>
            </a:ext>
          </a:extLst>
        </p:cNvPr>
        <p:cNvGrpSpPr/>
        <p:nvPr/>
      </p:nvGrpSpPr>
      <p:grpSpPr>
        <a:xfrm>
          <a:off x="0" y="0"/>
          <a:ext cx="0" cy="0"/>
          <a:chOff x="0" y="0"/>
          <a:chExt cx="0" cy="0"/>
        </a:xfrm>
      </p:grpSpPr>
      <p:pic>
        <p:nvPicPr>
          <p:cNvPr id="10" name="Image 9" descr="Une image contenant Rectangle, capture d’écran, conception&#10;&#10;Le contenu généré par l’IA peut être incorrect.">
            <a:extLst>
              <a:ext uri="{FF2B5EF4-FFF2-40B4-BE49-F238E27FC236}">
                <a16:creationId xmlns:a16="http://schemas.microsoft.com/office/drawing/2014/main" id="{B3E7F15A-3501-4275-F8B3-813C29C15DA8}"/>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836097" y="15240"/>
            <a:ext cx="12161724" cy="2216981"/>
          </a:xfrm>
          <a:prstGeom prst="rect">
            <a:avLst/>
          </a:prstGeom>
        </p:spPr>
      </p:pic>
      <p:sp>
        <p:nvSpPr>
          <p:cNvPr id="2" name="TextBox 2">
            <a:extLst>
              <a:ext uri="{FF2B5EF4-FFF2-40B4-BE49-F238E27FC236}">
                <a16:creationId xmlns:a16="http://schemas.microsoft.com/office/drawing/2014/main" id="{6E0DCF94-0BE2-6318-C500-8DCA808D9B7C}"/>
              </a:ext>
            </a:extLst>
          </p:cNvPr>
          <p:cNvSpPr txBox="1"/>
          <p:nvPr/>
        </p:nvSpPr>
        <p:spPr>
          <a:xfrm>
            <a:off x="4331470" y="19123"/>
            <a:ext cx="9507256" cy="2045881"/>
          </a:xfrm>
          <a:prstGeom prst="rect">
            <a:avLst/>
          </a:prstGeom>
        </p:spPr>
        <p:txBody>
          <a:bodyPr wrap="square" lIns="0" tIns="0" rIns="0" bIns="0" rtlCol="0" anchor="t">
            <a:spAutoFit/>
          </a:bodyPr>
          <a:lstStyle/>
          <a:p>
            <a:pPr lvl="0" algn="ctr">
              <a:lnSpc>
                <a:spcPts val="8400"/>
              </a:lnSpc>
              <a:spcBef>
                <a:spcPct val="0"/>
              </a:spcBef>
            </a:pPr>
            <a:r>
              <a:rPr lang="fr-FR" sz="6000" noProof="0" dirty="0">
                <a:solidFill>
                  <a:srgbClr val="000000"/>
                </a:solidFill>
                <a:latin typeface="IreneFlorentina"/>
              </a:rPr>
              <a:t>Gestion de la matière enseigner</a:t>
            </a:r>
            <a:endParaRPr lang="fr-FR" sz="6000" noProof="0" dirty="0">
              <a:solidFill>
                <a:srgbClr val="000000"/>
              </a:solidFill>
              <a:latin typeface="IreneFlorentina"/>
              <a:sym typeface="IreneFlorentina"/>
            </a:endParaRPr>
          </a:p>
        </p:txBody>
      </p:sp>
      <p:sp>
        <p:nvSpPr>
          <p:cNvPr id="3" name="TextBox 3">
            <a:extLst>
              <a:ext uri="{FF2B5EF4-FFF2-40B4-BE49-F238E27FC236}">
                <a16:creationId xmlns:a16="http://schemas.microsoft.com/office/drawing/2014/main" id="{7CD6E254-823C-F68D-961F-05FDA64E16CA}"/>
              </a:ext>
            </a:extLst>
          </p:cNvPr>
          <p:cNvSpPr txBox="1"/>
          <p:nvPr/>
        </p:nvSpPr>
        <p:spPr>
          <a:xfrm>
            <a:off x="1028701" y="3348847"/>
            <a:ext cx="4533899" cy="692305"/>
          </a:xfrm>
          <a:prstGeom prst="rect">
            <a:avLst/>
          </a:prstGeom>
          <a:solidFill>
            <a:srgbClr val="AEE2FF"/>
          </a:solidFill>
        </p:spPr>
        <p:txBody>
          <a:bodyPr wrap="square" lIns="0" tIns="0" rIns="0" bIns="0" rtlCol="0" anchor="t">
            <a:spAutoFit/>
          </a:bodyPr>
          <a:lstStyle/>
          <a:p>
            <a:pPr algn="ctr">
              <a:lnSpc>
                <a:spcPts val="6020"/>
              </a:lnSpc>
            </a:pPr>
            <a:r>
              <a:rPr lang="fr-FR" sz="4300" noProof="0" dirty="0">
                <a:solidFill>
                  <a:schemeClr val="accent1">
                    <a:lumMod val="75000"/>
                  </a:schemeClr>
                </a:solidFill>
                <a:latin typeface="IreneFlorentina"/>
              </a:rPr>
              <a:t>Définitions</a:t>
            </a:r>
            <a:endParaRPr lang="fr-FR" sz="4300" noProof="0" dirty="0">
              <a:solidFill>
                <a:schemeClr val="accent1">
                  <a:lumMod val="75000"/>
                </a:schemeClr>
              </a:solidFill>
              <a:latin typeface="IreneFlorentina"/>
              <a:ea typeface="IreneFlorentina"/>
              <a:cs typeface="IreneFlorentina"/>
              <a:sym typeface="IreneFlorentina"/>
            </a:endParaRPr>
          </a:p>
        </p:txBody>
      </p:sp>
      <p:sp>
        <p:nvSpPr>
          <p:cNvPr id="4" name="TextBox 4">
            <a:extLst>
              <a:ext uri="{FF2B5EF4-FFF2-40B4-BE49-F238E27FC236}">
                <a16:creationId xmlns:a16="http://schemas.microsoft.com/office/drawing/2014/main" id="{93D65B78-B2CC-E49E-C9D0-91171BE78B32}"/>
              </a:ext>
            </a:extLst>
          </p:cNvPr>
          <p:cNvSpPr txBox="1"/>
          <p:nvPr/>
        </p:nvSpPr>
        <p:spPr>
          <a:xfrm>
            <a:off x="1028701" y="4495416"/>
            <a:ext cx="16230600" cy="2053511"/>
          </a:xfrm>
          <a:prstGeom prst="rect">
            <a:avLst/>
          </a:prstGeom>
        </p:spPr>
        <p:txBody>
          <a:bodyPr wrap="square" lIns="0" tIns="0" rIns="0" bIns="0" rtlCol="0" anchor="t">
            <a:spAutoFit/>
          </a:bodyPr>
          <a:lstStyle/>
          <a:p>
            <a:pPr lvl="0" algn="just">
              <a:lnSpc>
                <a:spcPts val="5549"/>
              </a:lnSpc>
              <a:spcBef>
                <a:spcPct val="0"/>
              </a:spcBef>
            </a:pPr>
            <a:r>
              <a:rPr lang="fr-FR" sz="3699" noProof="0" dirty="0">
                <a:solidFill>
                  <a:srgbClr val="000000"/>
                </a:solidFill>
                <a:latin typeface="Quicksand"/>
              </a:rPr>
              <a:t>Renvoie à l’ensemble des choix didactiques et organisationnels mis en œuvre par l’enseignant afin de structurer les contenus, d’en assurer la progression logique et de les rendre accessibles aux apprenants </a:t>
            </a:r>
            <a:endParaRPr lang="fr-FR" sz="3699" noProof="0" dirty="0">
              <a:solidFill>
                <a:srgbClr val="000000"/>
              </a:solidFill>
              <a:latin typeface="Quicksand"/>
              <a:sym typeface="Quicksand"/>
            </a:endParaRPr>
          </a:p>
        </p:txBody>
      </p:sp>
      <p:sp>
        <p:nvSpPr>
          <p:cNvPr id="5" name="TextBox 4">
            <a:extLst>
              <a:ext uri="{FF2B5EF4-FFF2-40B4-BE49-F238E27FC236}">
                <a16:creationId xmlns:a16="http://schemas.microsoft.com/office/drawing/2014/main" id="{5A9BB702-781C-CD3E-426D-5DAC6B29508C}"/>
              </a:ext>
            </a:extLst>
          </p:cNvPr>
          <p:cNvSpPr txBox="1"/>
          <p:nvPr/>
        </p:nvSpPr>
        <p:spPr>
          <a:xfrm>
            <a:off x="1028701" y="7003191"/>
            <a:ext cx="16230600" cy="2053511"/>
          </a:xfrm>
          <a:prstGeom prst="rect">
            <a:avLst/>
          </a:prstGeom>
        </p:spPr>
        <p:txBody>
          <a:bodyPr wrap="square" lIns="0" tIns="0" rIns="0" bIns="0" rtlCol="0" anchor="t">
            <a:spAutoFit/>
          </a:bodyPr>
          <a:lstStyle/>
          <a:p>
            <a:pPr lvl="0" algn="just">
              <a:lnSpc>
                <a:spcPts val="5549"/>
              </a:lnSpc>
              <a:spcBef>
                <a:spcPct val="0"/>
              </a:spcBef>
            </a:pPr>
            <a:r>
              <a:rPr lang="fr-FR" sz="3699" noProof="0" dirty="0">
                <a:solidFill>
                  <a:srgbClr val="000000"/>
                </a:solidFill>
                <a:latin typeface="Quicksand"/>
              </a:rPr>
              <a:t>Les savoirs sont ensuite organisés selon une progression logique et scientifique, tenant compte de la complexité des notions, des prérequis des apprenants et du temps imparti</a:t>
            </a:r>
            <a:endParaRPr lang="fr-FR" sz="3699" noProof="0" dirty="0">
              <a:solidFill>
                <a:srgbClr val="000000"/>
              </a:solidFill>
              <a:latin typeface="Quicksand"/>
              <a:sym typeface="Quicksand"/>
            </a:endParaRPr>
          </a:p>
        </p:txBody>
      </p:sp>
    </p:spTree>
    <p:extLst>
      <p:ext uri="{BB962C8B-B14F-4D97-AF65-F5344CB8AC3E}">
        <p14:creationId xmlns:p14="http://schemas.microsoft.com/office/powerpoint/2010/main" val="8035039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3C6DD-1E64-3E44-9C88-BE3D14A1B141}"/>
            </a:ext>
          </a:extLst>
        </p:cNvPr>
        <p:cNvGrpSpPr/>
        <p:nvPr/>
      </p:nvGrpSpPr>
      <p:grpSpPr>
        <a:xfrm>
          <a:off x="0" y="0"/>
          <a:ext cx="0" cy="0"/>
          <a:chOff x="0" y="0"/>
          <a:chExt cx="0" cy="0"/>
        </a:xfrm>
      </p:grpSpPr>
      <p:pic>
        <p:nvPicPr>
          <p:cNvPr id="10" name="Image 9" descr="Une image contenant Rectangle, capture d’écran, conception&#10;&#10;Le contenu généré par l’IA peut être incorrect.">
            <a:extLst>
              <a:ext uri="{FF2B5EF4-FFF2-40B4-BE49-F238E27FC236}">
                <a16:creationId xmlns:a16="http://schemas.microsoft.com/office/drawing/2014/main" id="{6F9FB57C-D090-90B4-3844-691239E44B74}"/>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836097" y="15240"/>
            <a:ext cx="12161724" cy="2216981"/>
          </a:xfrm>
          <a:prstGeom prst="rect">
            <a:avLst/>
          </a:prstGeom>
        </p:spPr>
      </p:pic>
      <p:sp>
        <p:nvSpPr>
          <p:cNvPr id="2" name="TextBox 2">
            <a:extLst>
              <a:ext uri="{FF2B5EF4-FFF2-40B4-BE49-F238E27FC236}">
                <a16:creationId xmlns:a16="http://schemas.microsoft.com/office/drawing/2014/main" id="{9D54759F-7EF4-030E-0C57-9DF7004FEE17}"/>
              </a:ext>
            </a:extLst>
          </p:cNvPr>
          <p:cNvSpPr txBox="1"/>
          <p:nvPr/>
        </p:nvSpPr>
        <p:spPr>
          <a:xfrm>
            <a:off x="4331470" y="19123"/>
            <a:ext cx="9507256" cy="2045881"/>
          </a:xfrm>
          <a:prstGeom prst="rect">
            <a:avLst/>
          </a:prstGeom>
        </p:spPr>
        <p:txBody>
          <a:bodyPr wrap="square" lIns="0" tIns="0" rIns="0" bIns="0" rtlCol="0" anchor="t">
            <a:spAutoFit/>
          </a:bodyPr>
          <a:lstStyle/>
          <a:p>
            <a:pPr lvl="0" algn="ctr">
              <a:lnSpc>
                <a:spcPts val="8400"/>
              </a:lnSpc>
              <a:spcBef>
                <a:spcPct val="0"/>
              </a:spcBef>
            </a:pPr>
            <a:r>
              <a:rPr lang="fr-FR" sz="6000" noProof="0" dirty="0">
                <a:solidFill>
                  <a:srgbClr val="000000"/>
                </a:solidFill>
                <a:latin typeface="IreneFlorentina"/>
              </a:rPr>
              <a:t>Gestion de la matière enseigner</a:t>
            </a:r>
            <a:endParaRPr lang="fr-FR" sz="6000" noProof="0" dirty="0">
              <a:solidFill>
                <a:srgbClr val="000000"/>
              </a:solidFill>
              <a:latin typeface="IreneFlorentina"/>
              <a:sym typeface="IreneFlorentina"/>
            </a:endParaRPr>
          </a:p>
        </p:txBody>
      </p:sp>
      <p:sp>
        <p:nvSpPr>
          <p:cNvPr id="3" name="TextBox 3">
            <a:extLst>
              <a:ext uri="{FF2B5EF4-FFF2-40B4-BE49-F238E27FC236}">
                <a16:creationId xmlns:a16="http://schemas.microsoft.com/office/drawing/2014/main" id="{5E3756B4-38FB-54F5-7041-F3F1BC0EB52A}"/>
              </a:ext>
            </a:extLst>
          </p:cNvPr>
          <p:cNvSpPr txBox="1"/>
          <p:nvPr/>
        </p:nvSpPr>
        <p:spPr>
          <a:xfrm>
            <a:off x="1445460" y="3185587"/>
            <a:ext cx="10822740" cy="1461747"/>
          </a:xfrm>
          <a:prstGeom prst="rect">
            <a:avLst/>
          </a:prstGeom>
          <a:solidFill>
            <a:schemeClr val="accent5">
              <a:lumMod val="20000"/>
              <a:lumOff val="80000"/>
            </a:schemeClr>
          </a:solidFill>
        </p:spPr>
        <p:txBody>
          <a:bodyPr wrap="square" lIns="0" tIns="0" rIns="0" bIns="0" rtlCol="0" anchor="t">
            <a:spAutoFit/>
          </a:bodyPr>
          <a:lstStyle/>
          <a:p>
            <a:pPr>
              <a:lnSpc>
                <a:spcPts val="6020"/>
              </a:lnSpc>
            </a:pPr>
            <a:r>
              <a:rPr lang="fr-FR" sz="4300" noProof="0" dirty="0">
                <a:solidFill>
                  <a:schemeClr val="accent1">
                    <a:lumMod val="75000"/>
                  </a:schemeClr>
                </a:solidFill>
                <a:latin typeface="IreneFlorentina"/>
              </a:rPr>
              <a:t>Analyse des programmes et des objectifs pédagogiques</a:t>
            </a:r>
            <a:endParaRPr lang="fr-FR" sz="4300" noProof="0" dirty="0">
              <a:solidFill>
                <a:schemeClr val="accent1">
                  <a:lumMod val="75000"/>
                </a:schemeClr>
              </a:solidFill>
              <a:latin typeface="IreneFlorentina"/>
              <a:sym typeface="IreneFlorentina"/>
            </a:endParaRPr>
          </a:p>
        </p:txBody>
      </p:sp>
      <p:sp>
        <p:nvSpPr>
          <p:cNvPr id="4" name="TextBox 4">
            <a:extLst>
              <a:ext uri="{FF2B5EF4-FFF2-40B4-BE49-F238E27FC236}">
                <a16:creationId xmlns:a16="http://schemas.microsoft.com/office/drawing/2014/main" id="{11C58065-980D-DFAF-8E44-24849141801F}"/>
              </a:ext>
            </a:extLst>
          </p:cNvPr>
          <p:cNvSpPr txBox="1"/>
          <p:nvPr/>
        </p:nvSpPr>
        <p:spPr>
          <a:xfrm>
            <a:off x="1474293" y="5158946"/>
            <a:ext cx="15213508" cy="2053511"/>
          </a:xfrm>
          <a:prstGeom prst="rect">
            <a:avLst/>
          </a:prstGeom>
        </p:spPr>
        <p:txBody>
          <a:bodyPr wrap="square" lIns="0" tIns="0" rIns="0" bIns="0" rtlCol="0" anchor="t">
            <a:spAutoFit/>
          </a:bodyPr>
          <a:lstStyle/>
          <a:p>
            <a:pPr lvl="0" algn="just">
              <a:lnSpc>
                <a:spcPts val="5549"/>
              </a:lnSpc>
              <a:spcBef>
                <a:spcPct val="0"/>
              </a:spcBef>
            </a:pPr>
            <a:r>
              <a:rPr lang="fr-FR" sz="3699" noProof="0" dirty="0">
                <a:solidFill>
                  <a:srgbClr val="000000"/>
                </a:solidFill>
                <a:latin typeface="Quicksand"/>
              </a:rPr>
              <a:t>L’enseignant commence par l’étude approfondie des programmes officiels afin d’identifier les notions à enseigner, les compétences visées et les attendus de fin de cycle</a:t>
            </a:r>
            <a:endParaRPr lang="fr-FR" sz="3699" noProof="0" dirty="0">
              <a:solidFill>
                <a:srgbClr val="000000"/>
              </a:solidFill>
              <a:latin typeface="Quicksand"/>
              <a:sym typeface="Quicksand"/>
            </a:endParaRPr>
          </a:p>
        </p:txBody>
      </p:sp>
    </p:spTree>
    <p:extLst>
      <p:ext uri="{BB962C8B-B14F-4D97-AF65-F5344CB8AC3E}">
        <p14:creationId xmlns:p14="http://schemas.microsoft.com/office/powerpoint/2010/main" val="1104837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5A3C9-23FF-0BFD-D2F6-20493E6D1040}"/>
            </a:ext>
          </a:extLst>
        </p:cNvPr>
        <p:cNvGrpSpPr/>
        <p:nvPr/>
      </p:nvGrpSpPr>
      <p:grpSpPr>
        <a:xfrm>
          <a:off x="0" y="0"/>
          <a:ext cx="0" cy="0"/>
          <a:chOff x="0" y="0"/>
          <a:chExt cx="0" cy="0"/>
        </a:xfrm>
      </p:grpSpPr>
      <p:pic>
        <p:nvPicPr>
          <p:cNvPr id="10" name="Image 9" descr="Une image contenant Rectangle, capture d’écran, conception&#10;&#10;Le contenu généré par l’IA peut être incorrect.">
            <a:extLst>
              <a:ext uri="{FF2B5EF4-FFF2-40B4-BE49-F238E27FC236}">
                <a16:creationId xmlns:a16="http://schemas.microsoft.com/office/drawing/2014/main" id="{41A94B46-0D26-E68E-7A8F-E6853E824F2F}"/>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836097" y="15240"/>
            <a:ext cx="12161724" cy="2216981"/>
          </a:xfrm>
          <a:prstGeom prst="rect">
            <a:avLst/>
          </a:prstGeom>
        </p:spPr>
      </p:pic>
      <p:sp>
        <p:nvSpPr>
          <p:cNvPr id="2" name="TextBox 2">
            <a:extLst>
              <a:ext uri="{FF2B5EF4-FFF2-40B4-BE49-F238E27FC236}">
                <a16:creationId xmlns:a16="http://schemas.microsoft.com/office/drawing/2014/main" id="{A40493B5-B07F-D913-5B4D-A46B3712638A}"/>
              </a:ext>
            </a:extLst>
          </p:cNvPr>
          <p:cNvSpPr txBox="1"/>
          <p:nvPr/>
        </p:nvSpPr>
        <p:spPr>
          <a:xfrm>
            <a:off x="4331470" y="19123"/>
            <a:ext cx="9507256" cy="2045881"/>
          </a:xfrm>
          <a:prstGeom prst="rect">
            <a:avLst/>
          </a:prstGeom>
        </p:spPr>
        <p:txBody>
          <a:bodyPr wrap="square" lIns="0" tIns="0" rIns="0" bIns="0" rtlCol="0" anchor="t">
            <a:spAutoFit/>
          </a:bodyPr>
          <a:lstStyle/>
          <a:p>
            <a:pPr lvl="0" algn="ctr">
              <a:lnSpc>
                <a:spcPts val="8400"/>
              </a:lnSpc>
              <a:spcBef>
                <a:spcPct val="0"/>
              </a:spcBef>
            </a:pPr>
            <a:r>
              <a:rPr lang="fr-FR" sz="6000" noProof="0" dirty="0">
                <a:solidFill>
                  <a:srgbClr val="000000"/>
                </a:solidFill>
                <a:latin typeface="IreneFlorentina"/>
              </a:rPr>
              <a:t>Gestion de la matière enseigner</a:t>
            </a:r>
            <a:endParaRPr lang="fr-FR" sz="6000" noProof="0" dirty="0">
              <a:solidFill>
                <a:srgbClr val="000000"/>
              </a:solidFill>
              <a:latin typeface="IreneFlorentina"/>
              <a:sym typeface="IreneFlorentina"/>
            </a:endParaRPr>
          </a:p>
        </p:txBody>
      </p:sp>
      <p:sp>
        <p:nvSpPr>
          <p:cNvPr id="3" name="TextBox 3">
            <a:extLst>
              <a:ext uri="{FF2B5EF4-FFF2-40B4-BE49-F238E27FC236}">
                <a16:creationId xmlns:a16="http://schemas.microsoft.com/office/drawing/2014/main" id="{4F2E7A83-FB08-B3BF-E9B4-D27C0C17472B}"/>
              </a:ext>
            </a:extLst>
          </p:cNvPr>
          <p:cNvSpPr txBox="1"/>
          <p:nvPr/>
        </p:nvSpPr>
        <p:spPr>
          <a:xfrm>
            <a:off x="1445460" y="3185587"/>
            <a:ext cx="9679740" cy="1461747"/>
          </a:xfrm>
          <a:prstGeom prst="rect">
            <a:avLst/>
          </a:prstGeom>
          <a:solidFill>
            <a:schemeClr val="accent5">
              <a:lumMod val="20000"/>
              <a:lumOff val="80000"/>
            </a:schemeClr>
          </a:solidFill>
        </p:spPr>
        <p:txBody>
          <a:bodyPr wrap="square" lIns="0" tIns="0" rIns="0" bIns="0" rtlCol="0" anchor="t">
            <a:spAutoFit/>
          </a:bodyPr>
          <a:lstStyle/>
          <a:p>
            <a:pPr>
              <a:lnSpc>
                <a:spcPts val="6020"/>
              </a:lnSpc>
            </a:pPr>
            <a:r>
              <a:rPr lang="fr-FR" sz="4300" noProof="0" dirty="0">
                <a:solidFill>
                  <a:schemeClr val="accent1">
                    <a:lumMod val="75000"/>
                  </a:schemeClr>
                </a:solidFill>
                <a:latin typeface="IreneFlorentina"/>
              </a:rPr>
              <a:t>Planification et organisation des contenus</a:t>
            </a:r>
            <a:endParaRPr lang="fr-FR" sz="4300" noProof="0" dirty="0">
              <a:solidFill>
                <a:schemeClr val="accent1">
                  <a:lumMod val="75000"/>
                </a:schemeClr>
              </a:solidFill>
              <a:latin typeface="IreneFlorentina"/>
              <a:sym typeface="IreneFlorentina"/>
            </a:endParaRPr>
          </a:p>
        </p:txBody>
      </p:sp>
      <p:sp>
        <p:nvSpPr>
          <p:cNvPr id="4" name="TextBox 4">
            <a:extLst>
              <a:ext uri="{FF2B5EF4-FFF2-40B4-BE49-F238E27FC236}">
                <a16:creationId xmlns:a16="http://schemas.microsoft.com/office/drawing/2014/main" id="{CE30CF3A-9578-F9C8-17D6-5DD9AEE780F3}"/>
              </a:ext>
            </a:extLst>
          </p:cNvPr>
          <p:cNvSpPr txBox="1"/>
          <p:nvPr/>
        </p:nvSpPr>
        <p:spPr>
          <a:xfrm>
            <a:off x="1474293" y="5158946"/>
            <a:ext cx="15213508" cy="2758832"/>
          </a:xfrm>
          <a:prstGeom prst="rect">
            <a:avLst/>
          </a:prstGeom>
        </p:spPr>
        <p:txBody>
          <a:bodyPr wrap="square" lIns="0" tIns="0" rIns="0" bIns="0" rtlCol="0" anchor="t">
            <a:spAutoFit/>
          </a:bodyPr>
          <a:lstStyle/>
          <a:p>
            <a:pPr lvl="0" algn="just">
              <a:lnSpc>
                <a:spcPts val="5549"/>
              </a:lnSpc>
              <a:spcBef>
                <a:spcPct val="0"/>
              </a:spcBef>
            </a:pPr>
            <a:r>
              <a:rPr lang="fr-FR" sz="3699" noProof="0" dirty="0">
                <a:solidFill>
                  <a:srgbClr val="000000"/>
                </a:solidFill>
                <a:latin typeface="Quicksand"/>
              </a:rPr>
              <a:t>Les savoirs sont ensuite organisés selon une progression logique et scientifique, tenant compte de la complexité des notions, des prérequis des apprenants et du temps imparti. Cette étape inclut la répartition annuelle, les séquences et les séances.</a:t>
            </a:r>
            <a:endParaRPr lang="fr-FR" sz="3699" noProof="0" dirty="0">
              <a:solidFill>
                <a:srgbClr val="000000"/>
              </a:solidFill>
              <a:latin typeface="Quicksand"/>
              <a:sym typeface="Quicksand"/>
            </a:endParaRPr>
          </a:p>
        </p:txBody>
      </p:sp>
    </p:spTree>
    <p:extLst>
      <p:ext uri="{BB962C8B-B14F-4D97-AF65-F5344CB8AC3E}">
        <p14:creationId xmlns:p14="http://schemas.microsoft.com/office/powerpoint/2010/main" val="42582172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7A4FF-3768-94D1-F412-550268ACC5A6}"/>
            </a:ext>
          </a:extLst>
        </p:cNvPr>
        <p:cNvGrpSpPr/>
        <p:nvPr/>
      </p:nvGrpSpPr>
      <p:grpSpPr>
        <a:xfrm>
          <a:off x="0" y="0"/>
          <a:ext cx="0" cy="0"/>
          <a:chOff x="0" y="0"/>
          <a:chExt cx="0" cy="0"/>
        </a:xfrm>
      </p:grpSpPr>
      <p:pic>
        <p:nvPicPr>
          <p:cNvPr id="10" name="Image 9" descr="Une image contenant Rectangle, capture d’écran, conception&#10;&#10;Le contenu généré par l’IA peut être incorrect.">
            <a:extLst>
              <a:ext uri="{FF2B5EF4-FFF2-40B4-BE49-F238E27FC236}">
                <a16:creationId xmlns:a16="http://schemas.microsoft.com/office/drawing/2014/main" id="{8781679A-2FEB-216A-D8A6-D266AB586D74}"/>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836097" y="15240"/>
            <a:ext cx="12161724" cy="2216981"/>
          </a:xfrm>
          <a:prstGeom prst="rect">
            <a:avLst/>
          </a:prstGeom>
        </p:spPr>
      </p:pic>
      <p:sp>
        <p:nvSpPr>
          <p:cNvPr id="2" name="TextBox 2">
            <a:extLst>
              <a:ext uri="{FF2B5EF4-FFF2-40B4-BE49-F238E27FC236}">
                <a16:creationId xmlns:a16="http://schemas.microsoft.com/office/drawing/2014/main" id="{245FBC1C-9B70-59D9-0B49-287F912A29FF}"/>
              </a:ext>
            </a:extLst>
          </p:cNvPr>
          <p:cNvSpPr txBox="1"/>
          <p:nvPr/>
        </p:nvSpPr>
        <p:spPr>
          <a:xfrm>
            <a:off x="4331470" y="19123"/>
            <a:ext cx="9507256" cy="2045881"/>
          </a:xfrm>
          <a:prstGeom prst="rect">
            <a:avLst/>
          </a:prstGeom>
        </p:spPr>
        <p:txBody>
          <a:bodyPr wrap="square" lIns="0" tIns="0" rIns="0" bIns="0" rtlCol="0" anchor="t">
            <a:spAutoFit/>
          </a:bodyPr>
          <a:lstStyle/>
          <a:p>
            <a:pPr lvl="0" algn="ctr">
              <a:lnSpc>
                <a:spcPts val="8400"/>
              </a:lnSpc>
              <a:spcBef>
                <a:spcPct val="0"/>
              </a:spcBef>
            </a:pPr>
            <a:r>
              <a:rPr lang="fr-FR" sz="6000" noProof="0" dirty="0">
                <a:solidFill>
                  <a:srgbClr val="000000"/>
                </a:solidFill>
                <a:latin typeface="IreneFlorentina"/>
              </a:rPr>
              <a:t>Gestion de la matière enseigner</a:t>
            </a:r>
            <a:endParaRPr lang="fr-FR" sz="6000" noProof="0" dirty="0">
              <a:solidFill>
                <a:srgbClr val="000000"/>
              </a:solidFill>
              <a:latin typeface="IreneFlorentina"/>
              <a:sym typeface="IreneFlorentina"/>
            </a:endParaRPr>
          </a:p>
        </p:txBody>
      </p:sp>
      <p:sp>
        <p:nvSpPr>
          <p:cNvPr id="3" name="TextBox 3">
            <a:extLst>
              <a:ext uri="{FF2B5EF4-FFF2-40B4-BE49-F238E27FC236}">
                <a16:creationId xmlns:a16="http://schemas.microsoft.com/office/drawing/2014/main" id="{0692DD45-76C2-F2BD-5195-BCB4898DE0FC}"/>
              </a:ext>
            </a:extLst>
          </p:cNvPr>
          <p:cNvSpPr txBox="1"/>
          <p:nvPr/>
        </p:nvSpPr>
        <p:spPr>
          <a:xfrm>
            <a:off x="1445460" y="3185587"/>
            <a:ext cx="8917740" cy="1461747"/>
          </a:xfrm>
          <a:prstGeom prst="rect">
            <a:avLst/>
          </a:prstGeom>
          <a:solidFill>
            <a:schemeClr val="accent5">
              <a:lumMod val="20000"/>
              <a:lumOff val="80000"/>
            </a:schemeClr>
          </a:solidFill>
        </p:spPr>
        <p:txBody>
          <a:bodyPr wrap="square" lIns="0" tIns="0" rIns="0" bIns="0" rtlCol="0" anchor="t">
            <a:spAutoFit/>
          </a:bodyPr>
          <a:lstStyle/>
          <a:p>
            <a:pPr>
              <a:lnSpc>
                <a:spcPts val="6020"/>
              </a:lnSpc>
            </a:pPr>
            <a:r>
              <a:rPr lang="fr-FR" sz="4300" noProof="0" dirty="0">
                <a:solidFill>
                  <a:schemeClr val="accent1">
                    <a:lumMod val="75000"/>
                  </a:schemeClr>
                </a:solidFill>
                <a:latin typeface="IreneFlorentina"/>
              </a:rPr>
              <a:t>Mise en œuvre et conduite de la séance</a:t>
            </a:r>
            <a:endParaRPr lang="fr-FR" sz="4300" noProof="0" dirty="0">
              <a:solidFill>
                <a:schemeClr val="accent1">
                  <a:lumMod val="75000"/>
                </a:schemeClr>
              </a:solidFill>
              <a:latin typeface="IreneFlorentina"/>
              <a:sym typeface="IreneFlorentina"/>
            </a:endParaRPr>
          </a:p>
        </p:txBody>
      </p:sp>
      <p:sp>
        <p:nvSpPr>
          <p:cNvPr id="4" name="TextBox 4">
            <a:extLst>
              <a:ext uri="{FF2B5EF4-FFF2-40B4-BE49-F238E27FC236}">
                <a16:creationId xmlns:a16="http://schemas.microsoft.com/office/drawing/2014/main" id="{BDA3B772-5CA9-61B6-8CF1-EAD2251C9311}"/>
              </a:ext>
            </a:extLst>
          </p:cNvPr>
          <p:cNvSpPr txBox="1"/>
          <p:nvPr/>
        </p:nvSpPr>
        <p:spPr>
          <a:xfrm>
            <a:off x="1474293" y="5158946"/>
            <a:ext cx="15213508" cy="2758832"/>
          </a:xfrm>
          <a:prstGeom prst="rect">
            <a:avLst/>
          </a:prstGeom>
        </p:spPr>
        <p:txBody>
          <a:bodyPr wrap="square" lIns="0" tIns="0" rIns="0" bIns="0" rtlCol="0" anchor="t">
            <a:spAutoFit/>
          </a:bodyPr>
          <a:lstStyle/>
          <a:p>
            <a:pPr lvl="0">
              <a:lnSpc>
                <a:spcPts val="5549"/>
              </a:lnSpc>
              <a:spcBef>
                <a:spcPct val="0"/>
              </a:spcBef>
            </a:pPr>
            <a:r>
              <a:rPr lang="fr-FR" sz="3699" noProof="0" dirty="0">
                <a:solidFill>
                  <a:srgbClr val="000000"/>
                </a:solidFill>
                <a:latin typeface="Quicksand"/>
              </a:rPr>
              <a:t>L’enseignant assure le déroulement de la séance en respectant la progression prévue, tout en restant flexible pour répondre aux questions, reformuler les notions ou approfondir certains points si nécessaire.</a:t>
            </a:r>
            <a:endParaRPr lang="fr-FR" sz="3699" noProof="0" dirty="0">
              <a:solidFill>
                <a:srgbClr val="000000"/>
              </a:solidFill>
              <a:latin typeface="Quicksand"/>
              <a:sym typeface="Quicksand"/>
            </a:endParaRPr>
          </a:p>
        </p:txBody>
      </p:sp>
    </p:spTree>
    <p:extLst>
      <p:ext uri="{BB962C8B-B14F-4D97-AF65-F5344CB8AC3E}">
        <p14:creationId xmlns:p14="http://schemas.microsoft.com/office/powerpoint/2010/main" val="16097780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D7566-2DEC-3BD8-5AF7-F86925C34EE2}"/>
            </a:ext>
          </a:extLst>
        </p:cNvPr>
        <p:cNvGrpSpPr/>
        <p:nvPr/>
      </p:nvGrpSpPr>
      <p:grpSpPr>
        <a:xfrm>
          <a:off x="0" y="0"/>
          <a:ext cx="0" cy="0"/>
          <a:chOff x="0" y="0"/>
          <a:chExt cx="0" cy="0"/>
        </a:xfrm>
      </p:grpSpPr>
      <p:pic>
        <p:nvPicPr>
          <p:cNvPr id="10" name="Image 9" descr="Une image contenant Rectangle, capture d’écran, conception&#10;&#10;Le contenu généré par l’IA peut être incorrect.">
            <a:extLst>
              <a:ext uri="{FF2B5EF4-FFF2-40B4-BE49-F238E27FC236}">
                <a16:creationId xmlns:a16="http://schemas.microsoft.com/office/drawing/2014/main" id="{02590130-630A-94C9-A46E-E2A9AC0FEFEB}"/>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836097" y="15240"/>
            <a:ext cx="12161724" cy="2216981"/>
          </a:xfrm>
          <a:prstGeom prst="rect">
            <a:avLst/>
          </a:prstGeom>
        </p:spPr>
      </p:pic>
      <p:sp>
        <p:nvSpPr>
          <p:cNvPr id="2" name="TextBox 2">
            <a:extLst>
              <a:ext uri="{FF2B5EF4-FFF2-40B4-BE49-F238E27FC236}">
                <a16:creationId xmlns:a16="http://schemas.microsoft.com/office/drawing/2014/main" id="{48E81992-90DA-4F63-AF2D-B9233B853CE2}"/>
              </a:ext>
            </a:extLst>
          </p:cNvPr>
          <p:cNvSpPr txBox="1"/>
          <p:nvPr/>
        </p:nvSpPr>
        <p:spPr>
          <a:xfrm>
            <a:off x="4331470" y="19123"/>
            <a:ext cx="9507256" cy="2045881"/>
          </a:xfrm>
          <a:prstGeom prst="rect">
            <a:avLst/>
          </a:prstGeom>
        </p:spPr>
        <p:txBody>
          <a:bodyPr wrap="square" lIns="0" tIns="0" rIns="0" bIns="0" rtlCol="0" anchor="t">
            <a:spAutoFit/>
          </a:bodyPr>
          <a:lstStyle/>
          <a:p>
            <a:pPr lvl="0" algn="ctr">
              <a:lnSpc>
                <a:spcPts val="8400"/>
              </a:lnSpc>
              <a:spcBef>
                <a:spcPct val="0"/>
              </a:spcBef>
            </a:pPr>
            <a:r>
              <a:rPr lang="fr-FR" sz="6000" noProof="0" dirty="0">
                <a:solidFill>
                  <a:srgbClr val="000000"/>
                </a:solidFill>
                <a:latin typeface="IreneFlorentina"/>
              </a:rPr>
              <a:t>Gestion de la matière enseigner</a:t>
            </a:r>
            <a:endParaRPr lang="fr-FR" sz="6000" noProof="0" dirty="0">
              <a:solidFill>
                <a:srgbClr val="000000"/>
              </a:solidFill>
              <a:latin typeface="IreneFlorentina"/>
              <a:sym typeface="IreneFlorentina"/>
            </a:endParaRPr>
          </a:p>
        </p:txBody>
      </p:sp>
      <p:sp>
        <p:nvSpPr>
          <p:cNvPr id="3" name="TextBox 3">
            <a:extLst>
              <a:ext uri="{FF2B5EF4-FFF2-40B4-BE49-F238E27FC236}">
                <a16:creationId xmlns:a16="http://schemas.microsoft.com/office/drawing/2014/main" id="{D40308EA-96CC-1936-1F83-6432E52FC7D5}"/>
              </a:ext>
            </a:extLst>
          </p:cNvPr>
          <p:cNvSpPr txBox="1"/>
          <p:nvPr/>
        </p:nvSpPr>
        <p:spPr>
          <a:xfrm>
            <a:off x="1445460" y="3185587"/>
            <a:ext cx="10594140" cy="692305"/>
          </a:xfrm>
          <a:prstGeom prst="rect">
            <a:avLst/>
          </a:prstGeom>
          <a:solidFill>
            <a:schemeClr val="accent5">
              <a:lumMod val="20000"/>
              <a:lumOff val="80000"/>
            </a:schemeClr>
          </a:solidFill>
        </p:spPr>
        <p:txBody>
          <a:bodyPr wrap="square" lIns="0" tIns="0" rIns="0" bIns="0" rtlCol="0" anchor="t">
            <a:spAutoFit/>
          </a:bodyPr>
          <a:lstStyle/>
          <a:p>
            <a:pPr>
              <a:lnSpc>
                <a:spcPts val="6020"/>
              </a:lnSpc>
            </a:pPr>
            <a:r>
              <a:rPr lang="fr-FR" sz="4300" noProof="0" dirty="0">
                <a:solidFill>
                  <a:schemeClr val="accent1">
                    <a:lumMod val="75000"/>
                  </a:schemeClr>
                </a:solidFill>
                <a:latin typeface="IreneFlorentina"/>
              </a:rPr>
              <a:t>Évaluation des apprentissages </a:t>
            </a:r>
            <a:endParaRPr lang="fr-FR" sz="4300" noProof="0" dirty="0">
              <a:solidFill>
                <a:schemeClr val="accent1">
                  <a:lumMod val="75000"/>
                </a:schemeClr>
              </a:solidFill>
              <a:latin typeface="IreneFlorentina"/>
              <a:sym typeface="IreneFlorentina"/>
            </a:endParaRPr>
          </a:p>
        </p:txBody>
      </p:sp>
      <p:sp>
        <p:nvSpPr>
          <p:cNvPr id="4" name="TextBox 4">
            <a:extLst>
              <a:ext uri="{FF2B5EF4-FFF2-40B4-BE49-F238E27FC236}">
                <a16:creationId xmlns:a16="http://schemas.microsoft.com/office/drawing/2014/main" id="{60B94B7E-177A-1666-AEBE-52CE6EBF6169}"/>
              </a:ext>
            </a:extLst>
          </p:cNvPr>
          <p:cNvSpPr txBox="1"/>
          <p:nvPr/>
        </p:nvSpPr>
        <p:spPr>
          <a:xfrm>
            <a:off x="1478344" y="4355598"/>
            <a:ext cx="15213508" cy="2053511"/>
          </a:xfrm>
          <a:prstGeom prst="rect">
            <a:avLst/>
          </a:prstGeom>
        </p:spPr>
        <p:txBody>
          <a:bodyPr wrap="square" lIns="0" tIns="0" rIns="0" bIns="0" rtlCol="0" anchor="t">
            <a:spAutoFit/>
          </a:bodyPr>
          <a:lstStyle/>
          <a:p>
            <a:pPr lvl="0">
              <a:lnSpc>
                <a:spcPts val="5549"/>
              </a:lnSpc>
              <a:spcBef>
                <a:spcPct val="0"/>
              </a:spcBef>
            </a:pPr>
            <a:r>
              <a:rPr lang="fr-FR" sz="3699" noProof="0" dirty="0">
                <a:solidFill>
                  <a:srgbClr val="000000"/>
                </a:solidFill>
                <a:latin typeface="Quicksand"/>
              </a:rPr>
              <a:t>L’évaluation permet de vérifier l’atteinte des objectifs fixés. Elle peut être diagnostique, formative ou sommative, et sert à ajuster la gestion des contenus et les démarches pédagogiques.</a:t>
            </a:r>
            <a:endParaRPr lang="fr-FR" sz="3699" noProof="0" dirty="0">
              <a:solidFill>
                <a:srgbClr val="000000"/>
              </a:solidFill>
              <a:latin typeface="Quicksand"/>
              <a:sym typeface="Quicksand"/>
            </a:endParaRPr>
          </a:p>
        </p:txBody>
      </p:sp>
    </p:spTree>
    <p:extLst>
      <p:ext uri="{BB962C8B-B14F-4D97-AF65-F5344CB8AC3E}">
        <p14:creationId xmlns:p14="http://schemas.microsoft.com/office/powerpoint/2010/main" val="12028171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238</TotalTime>
  <Words>671</Words>
  <Application>Microsoft Office PowerPoint</Application>
  <PresentationFormat>Custom</PresentationFormat>
  <Paragraphs>61</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IreneFlorentina</vt:lpstr>
      <vt:lpstr>Open Sans Bold</vt:lpstr>
      <vt:lpstr>Calibri</vt:lpstr>
      <vt:lpstr>Quicksand</vt:lpstr>
      <vt:lpstr>Quicksand Medium</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Pythagorean Theorem Presentation</dc:title>
  <dc:creator>zeeko</dc:creator>
  <cp:lastModifiedBy>Said Abenna</cp:lastModifiedBy>
  <cp:revision>16</cp:revision>
  <dcterms:created xsi:type="dcterms:W3CDTF">2006-08-16T00:00:00Z</dcterms:created>
  <dcterms:modified xsi:type="dcterms:W3CDTF">2026-01-25T15:21:26Z</dcterms:modified>
  <dc:identifier>DAG_KDKR_2M</dc:identifier>
</cp:coreProperties>
</file>
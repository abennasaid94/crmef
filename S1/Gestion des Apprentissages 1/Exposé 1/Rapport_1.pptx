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69" r:id="rId2"/>
    <p:sldId id="270" r:id="rId3"/>
    <p:sldId id="271" r:id="rId4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06B"/>
    <a:srgbClr val="F2F5E6"/>
    <a:srgbClr val="FDFDFB"/>
    <a:srgbClr val="E9F0D7"/>
    <a:srgbClr val="EBF1DB"/>
    <a:srgbClr val="1BB0B7"/>
    <a:srgbClr val="000066"/>
    <a:srgbClr val="003366"/>
    <a:srgbClr val="4E6272"/>
    <a:srgbClr val="4F6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94660"/>
  </p:normalViewPr>
  <p:slideViewPr>
    <p:cSldViewPr snapToGrid="0" snapToObjects="1">
      <p:cViewPr>
        <p:scale>
          <a:sx n="106" d="100"/>
          <a:sy n="106" d="100"/>
        </p:scale>
        <p:origin x="1680" y="78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2" d="100"/>
        <a:sy n="18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40" y="3919170"/>
            <a:ext cx="5459123" cy="3526691"/>
          </a:xfrm>
        </p:spPr>
        <p:txBody>
          <a:bodyPr anchor="b">
            <a:normAutofit/>
          </a:bodyPr>
          <a:lstStyle>
            <a:lvl1pPr>
              <a:defRPr sz="446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6540" y="7445858"/>
            <a:ext cx="5459123" cy="175538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6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44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2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90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8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7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5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8"/>
          <p:cNvSpPr/>
          <p:nvPr/>
        </p:nvSpPr>
        <p:spPr bwMode="auto">
          <a:xfrm>
            <a:off x="-26234" y="6734806"/>
            <a:ext cx="1154172" cy="1218456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132" y="7059584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20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844" y="972716"/>
            <a:ext cx="5449817" cy="1996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539" y="3325354"/>
            <a:ext cx="5452121" cy="588766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05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3233340"/>
            <a:ext cx="5452121" cy="2289220"/>
          </a:xfrm>
        </p:spPr>
        <p:txBody>
          <a:bodyPr anchor="b"/>
          <a:lstStyle>
            <a:lvl1pPr algn="l">
              <a:defRPr sz="3308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5581844"/>
            <a:ext cx="5452121" cy="1340989"/>
          </a:xfrm>
        </p:spPr>
        <p:txBody>
          <a:bodyPr anchor="t"/>
          <a:lstStyle>
            <a:lvl1pPr marL="0" indent="0" algn="l">
              <a:buNone/>
              <a:defRPr sz="165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8" y="4935238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5056203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6540" y="3330196"/>
            <a:ext cx="2644625" cy="5871733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4398" y="3330196"/>
            <a:ext cx="2644262" cy="5871733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1227812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81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3635" y="3470341"/>
            <a:ext cx="2377530" cy="898142"/>
          </a:xfrm>
        </p:spPr>
        <p:txBody>
          <a:bodyPr anchor="b">
            <a:noAutofit/>
          </a:bodyPr>
          <a:lstStyle>
            <a:lvl1pPr marL="0" indent="0">
              <a:buNone/>
              <a:defRPr sz="1985" b="0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6539" y="4368483"/>
            <a:ext cx="2644625" cy="484044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8111" y="3465310"/>
            <a:ext cx="2376408" cy="898142"/>
          </a:xfrm>
        </p:spPr>
        <p:txBody>
          <a:bodyPr anchor="b">
            <a:noAutofit/>
          </a:bodyPr>
          <a:lstStyle>
            <a:lvl1pPr marL="0" indent="0">
              <a:buNone/>
              <a:defRPr sz="1985" b="0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1427" y="4363452"/>
            <a:ext cx="2643094" cy="484044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1227812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07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842" y="972716"/>
            <a:ext cx="5449818" cy="1996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5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4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695257"/>
            <a:ext cx="2174885" cy="1521646"/>
          </a:xfrm>
        </p:spPr>
        <p:txBody>
          <a:bodyPr anchor="b"/>
          <a:lstStyle>
            <a:lvl1pPr algn="l">
              <a:defRPr sz="1654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265" y="695260"/>
            <a:ext cx="3135395" cy="8439571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2491542"/>
            <a:ext cx="2174885" cy="6643283"/>
          </a:xfrm>
        </p:spPr>
        <p:txBody>
          <a:bodyPr/>
          <a:lstStyle>
            <a:lvl1pPr marL="0" indent="0">
              <a:buNone/>
              <a:defRPr sz="1158"/>
            </a:lvl1pPr>
            <a:lvl2pPr marL="378150" indent="0">
              <a:buNone/>
              <a:defRPr sz="993"/>
            </a:lvl2pPr>
            <a:lvl3pPr marL="756300" indent="0">
              <a:buNone/>
              <a:defRPr sz="827"/>
            </a:lvl3pPr>
            <a:lvl4pPr marL="1134450" indent="0">
              <a:buNone/>
              <a:defRPr sz="744"/>
            </a:lvl4pPr>
            <a:lvl5pPr marL="1512600" indent="0">
              <a:buNone/>
              <a:defRPr sz="744"/>
            </a:lvl5pPr>
            <a:lvl6pPr marL="1890751" indent="0">
              <a:buNone/>
              <a:defRPr sz="744"/>
            </a:lvl6pPr>
            <a:lvl7pPr marL="2268901" indent="0">
              <a:buNone/>
              <a:defRPr sz="744"/>
            </a:lvl7pPr>
            <a:lvl8pPr marL="2647051" indent="0">
              <a:buNone/>
              <a:defRPr sz="744"/>
            </a:lvl8pPr>
            <a:lvl9pPr marL="3025201" indent="0">
              <a:buNone/>
              <a:defRPr sz="74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49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7482047"/>
            <a:ext cx="5452121" cy="883298"/>
          </a:xfrm>
        </p:spPr>
        <p:txBody>
          <a:bodyPr anchor="b">
            <a:normAutofit/>
          </a:bodyPr>
          <a:lstStyle>
            <a:lvl1pPr algn="l">
              <a:defRPr sz="1985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06539" y="989634"/>
            <a:ext cx="5452121" cy="6008221"/>
          </a:xfrm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8150" indent="0">
              <a:buNone/>
              <a:defRPr sz="1323"/>
            </a:lvl2pPr>
            <a:lvl3pPr marL="756300" indent="0">
              <a:buNone/>
              <a:defRPr sz="1323"/>
            </a:lvl3pPr>
            <a:lvl4pPr marL="1134450" indent="0">
              <a:buNone/>
              <a:defRPr sz="1323"/>
            </a:lvl4pPr>
            <a:lvl5pPr marL="1512600" indent="0">
              <a:buNone/>
              <a:defRPr sz="1323"/>
            </a:lvl5pPr>
            <a:lvl6pPr marL="1890751" indent="0">
              <a:buNone/>
              <a:defRPr sz="1323"/>
            </a:lvl6pPr>
            <a:lvl7pPr marL="2268901" indent="0">
              <a:buNone/>
              <a:defRPr sz="1323"/>
            </a:lvl7pPr>
            <a:lvl8pPr marL="2647051" indent="0">
              <a:buNone/>
              <a:defRPr sz="1323"/>
            </a:lvl8pPr>
            <a:lvl9pPr marL="3025201" indent="0">
              <a:buNone/>
              <a:defRPr sz="132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365345"/>
            <a:ext cx="5452121" cy="769482"/>
          </a:xfrm>
        </p:spPr>
        <p:txBody>
          <a:bodyPr>
            <a:normAutofit/>
          </a:bodyPr>
          <a:lstStyle>
            <a:lvl1pPr marL="0" indent="0">
              <a:buNone/>
              <a:defRPr sz="993"/>
            </a:lvl1pPr>
            <a:lvl2pPr marL="378150" indent="0">
              <a:buNone/>
              <a:defRPr sz="993"/>
            </a:lvl2pPr>
            <a:lvl3pPr marL="756300" indent="0">
              <a:buNone/>
              <a:defRPr sz="827"/>
            </a:lvl3pPr>
            <a:lvl4pPr marL="1134450" indent="0">
              <a:buNone/>
              <a:defRPr sz="744"/>
            </a:lvl4pPr>
            <a:lvl5pPr marL="1512600" indent="0">
              <a:buNone/>
              <a:defRPr sz="744"/>
            </a:lvl5pPr>
            <a:lvl6pPr marL="1890751" indent="0">
              <a:buNone/>
              <a:defRPr sz="744"/>
            </a:lvl6pPr>
            <a:lvl7pPr marL="2268901" indent="0">
              <a:buNone/>
              <a:defRPr sz="744"/>
            </a:lvl7pPr>
            <a:lvl8pPr marL="2647051" indent="0">
              <a:buNone/>
              <a:defRPr sz="744"/>
            </a:lvl8pPr>
            <a:lvl9pPr marL="3025201" indent="0">
              <a:buNone/>
              <a:defRPr sz="744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86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950101"/>
            <a:ext cx="5452121" cy="4858109"/>
          </a:xfrm>
        </p:spPr>
        <p:txBody>
          <a:bodyPr anchor="ctr">
            <a:normAutofit/>
          </a:bodyPr>
          <a:lstStyle>
            <a:lvl1pPr algn="l">
              <a:defRPr sz="397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6786063"/>
            <a:ext cx="5452121" cy="2424915"/>
          </a:xfrm>
        </p:spPr>
        <p:txBody>
          <a:bodyPr anchor="ctr">
            <a:normAutofit/>
          </a:bodyPr>
          <a:lstStyle>
            <a:lvl1pPr marL="0" indent="0" algn="l">
              <a:buNone/>
              <a:defRPr sz="148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4935238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5056203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45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60" y="950101"/>
            <a:ext cx="5053138" cy="4512980"/>
          </a:xfrm>
        </p:spPr>
        <p:txBody>
          <a:bodyPr anchor="ctr">
            <a:normAutofit/>
          </a:bodyPr>
          <a:lstStyle>
            <a:lvl1pPr algn="l">
              <a:defRPr sz="397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98210" y="5463082"/>
            <a:ext cx="4676237" cy="59381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2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150" indent="0">
              <a:buFontTx/>
              <a:buNone/>
              <a:defRPr/>
            </a:lvl2pPr>
            <a:lvl3pPr marL="756300" indent="0">
              <a:buFontTx/>
              <a:buNone/>
              <a:defRPr/>
            </a:lvl3pPr>
            <a:lvl4pPr marL="1134450" indent="0">
              <a:buFontTx/>
              <a:buNone/>
              <a:defRPr/>
            </a:lvl4pPr>
            <a:lvl5pPr marL="15126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6786063"/>
            <a:ext cx="5452121" cy="2424915"/>
          </a:xfrm>
        </p:spPr>
        <p:txBody>
          <a:bodyPr anchor="ctr">
            <a:normAutofit/>
          </a:bodyPr>
          <a:lstStyle>
            <a:lvl1pPr marL="0" indent="0" algn="l">
              <a:buNone/>
              <a:defRPr sz="148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815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48" y="4935238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828" y="5056203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1495628" y="100995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885" y="452810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5436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39" y="3800407"/>
            <a:ext cx="5452121" cy="4246848"/>
          </a:xfrm>
        </p:spPr>
        <p:txBody>
          <a:bodyPr anchor="b">
            <a:normAutofit/>
          </a:bodyPr>
          <a:lstStyle>
            <a:lvl1pPr algn="l">
              <a:defRPr sz="397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075860"/>
            <a:ext cx="5452121" cy="11371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909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09760" y="950101"/>
            <a:ext cx="5053138" cy="4512980"/>
          </a:xfrm>
        </p:spPr>
        <p:txBody>
          <a:bodyPr anchor="ctr">
            <a:normAutofit/>
          </a:bodyPr>
          <a:lstStyle>
            <a:lvl1pPr algn="l">
              <a:defRPr sz="397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6539" y="6769471"/>
            <a:ext cx="5531775" cy="1306389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5">
                <a:solidFill>
                  <a:schemeClr val="accent1"/>
                </a:solidFill>
              </a:defRPr>
            </a:lvl1pPr>
            <a:lvl2pPr marL="378150" indent="0">
              <a:buFontTx/>
              <a:buNone/>
              <a:defRPr/>
            </a:lvl2pPr>
            <a:lvl3pPr marL="756300" indent="0">
              <a:buFontTx/>
              <a:buNone/>
              <a:defRPr/>
            </a:lvl3pPr>
            <a:lvl4pPr marL="1134450" indent="0">
              <a:buFontTx/>
              <a:buNone/>
              <a:defRPr/>
            </a:lvl4pPr>
            <a:lvl5pPr marL="15126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075860"/>
            <a:ext cx="5531775" cy="11371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1495628" y="100995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6885" y="4528108"/>
            <a:ext cx="378241" cy="911411"/>
          </a:xfrm>
          <a:prstGeom prst="rect">
            <a:avLst/>
          </a:prstGeom>
        </p:spPr>
        <p:txBody>
          <a:bodyPr vert="horz" lIns="75629" tIns="37814" rIns="75629" bIns="37814" rtlCol="0" anchor="ctr">
            <a:noAutofit/>
          </a:bodyPr>
          <a:lstStyle/>
          <a:p>
            <a:pPr lvl="0"/>
            <a:r>
              <a:rPr lang="en-US" sz="6617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186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540" y="977855"/>
            <a:ext cx="5452120" cy="4488698"/>
          </a:xfrm>
        </p:spPr>
        <p:txBody>
          <a:bodyPr anchor="ctr">
            <a:normAutofit/>
          </a:bodyPr>
          <a:lstStyle>
            <a:lvl1pPr algn="l">
              <a:defRPr sz="397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6539" y="6769471"/>
            <a:ext cx="5452121" cy="1306389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5">
                <a:solidFill>
                  <a:schemeClr val="accent1"/>
                </a:solidFill>
              </a:defRPr>
            </a:lvl1pPr>
            <a:lvl2pPr marL="378150" indent="0">
              <a:buFontTx/>
              <a:buNone/>
              <a:defRPr/>
            </a:lvl2pPr>
            <a:lvl3pPr marL="756300" indent="0">
              <a:buFontTx/>
              <a:buNone/>
              <a:defRPr/>
            </a:lvl3pPr>
            <a:lvl4pPr marL="1134450" indent="0">
              <a:buFontTx/>
              <a:buNone/>
              <a:defRPr/>
            </a:lvl4pPr>
            <a:lvl5pPr marL="15126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6539" y="8075860"/>
            <a:ext cx="5452121" cy="11371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765358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828" y="7766467"/>
            <a:ext cx="483826" cy="569071"/>
          </a:xfrm>
        </p:spPr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139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690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89122" y="977854"/>
            <a:ext cx="1369759" cy="8235172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540" y="977854"/>
            <a:ext cx="3900813" cy="8235172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8" y="1108443"/>
            <a:ext cx="1123474" cy="791759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26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56288"/>
            <a:ext cx="1638618" cy="10346733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16890" y="444"/>
            <a:ext cx="1614692" cy="10680795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51257" cy="106886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842" y="972716"/>
            <a:ext cx="5449818" cy="19963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539" y="3325354"/>
            <a:ext cx="5452121" cy="6056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8423" y="9561935"/>
            <a:ext cx="633860" cy="576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pPr/>
              <a:t>15/09/2025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6539" y="9563057"/>
            <a:ext cx="4728012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22828" y="1227812"/>
            <a:ext cx="483826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rgbClr val="FEFFFF"/>
                </a:solidFill>
              </a:defRPr>
            </a:lvl1pPr>
          </a:lstStyle>
          <a:p>
            <a:fld id="{8CC829F0-9E9D-5843-8AC4-BFFFF05F267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47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378150" rtl="0" eaLnBrk="1" latinLnBrk="0" hangingPunct="1">
        <a:spcBef>
          <a:spcPct val="0"/>
        </a:spcBef>
        <a:buNone/>
        <a:defRPr sz="2978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613" indent="-283613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148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4494" indent="-236344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5375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115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3525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0167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982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797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3612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14276" indent="-189075" algn="l" defTabSz="378150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Font typeface="Wingdings 3" charset="2"/>
        <a:buChar char=""/>
        <a:defRPr sz="99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37815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scopus.com/authid/detail.uri?authorId=55611920000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orcid.org/0000-0003-4691-6690" TargetMode="External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hyperlink" Target="https://orcid.org/0000-0003-4268-5290" TargetMode="External"/><Relationship Id="rId21" Type="http://schemas.openxmlformats.org/officeDocument/2006/relationships/image" Target="../media/image28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17" Type="http://schemas.openxmlformats.org/officeDocument/2006/relationships/hyperlink" Target="https://www.scopus.com/authid/detail.uri?authorId=57103086200" TargetMode="External"/><Relationship Id="rId2" Type="http://schemas.openxmlformats.org/officeDocument/2006/relationships/hyperlink" Target="https://orcid.org/0000-0002-4172-7439" TargetMode="External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hyperlink" Target="https://www.scopus.com/authid/detail.uri?authorId=57391942700" TargetMode="External"/><Relationship Id="rId15" Type="http://schemas.openxmlformats.org/officeDocument/2006/relationships/image" Target="../media/image23.png"/><Relationship Id="rId23" Type="http://schemas.openxmlformats.org/officeDocument/2006/relationships/image" Target="../media/image17.jpeg"/><Relationship Id="rId10" Type="http://schemas.openxmlformats.org/officeDocument/2006/relationships/image" Target="../media/image18.png"/><Relationship Id="rId19" Type="http://schemas.openxmlformats.org/officeDocument/2006/relationships/image" Target="../media/image26.png"/><Relationship Id="rId4" Type="http://schemas.openxmlformats.org/officeDocument/2006/relationships/hyperlink" Target="https://orcid.org/0000-0003-3442-4496" TargetMode="External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BC829973-9AE8-F976-9DEF-B68B1AFD6514}"/>
              </a:ext>
            </a:extLst>
          </p:cNvPr>
          <p:cNvSpPr/>
          <p:nvPr/>
        </p:nvSpPr>
        <p:spPr>
          <a:xfrm>
            <a:off x="10825" y="122120"/>
            <a:ext cx="7608067" cy="10767212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2D71D4-0252-47FA-81A3-7E9B877DE770}"/>
              </a:ext>
            </a:extLst>
          </p:cNvPr>
          <p:cNvSpPr/>
          <p:nvPr/>
        </p:nvSpPr>
        <p:spPr>
          <a:xfrm>
            <a:off x="5477" y="0"/>
            <a:ext cx="2856776" cy="10912344"/>
          </a:xfrm>
          <a:prstGeom prst="rect">
            <a:avLst/>
          </a:prstGeom>
          <a:solidFill>
            <a:srgbClr val="4960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02D71D4-0252-47FA-81A3-7E9B877DE770}"/>
              </a:ext>
            </a:extLst>
          </p:cNvPr>
          <p:cNvSpPr/>
          <p:nvPr/>
        </p:nvSpPr>
        <p:spPr>
          <a:xfrm>
            <a:off x="3009899" y="99943"/>
            <a:ext cx="4334797" cy="1113074"/>
          </a:xfrm>
          <a:prstGeom prst="rect">
            <a:avLst/>
          </a:prstGeom>
          <a:solidFill>
            <a:srgbClr val="4960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BD8EAA-91B9-4F06-A842-98C0A5CE5549}"/>
              </a:ext>
            </a:extLst>
          </p:cNvPr>
          <p:cNvSpPr/>
          <p:nvPr/>
        </p:nvSpPr>
        <p:spPr>
          <a:xfrm>
            <a:off x="3387005" y="641140"/>
            <a:ext cx="3716874" cy="441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FR" sz="1100">
                <a:latin typeface="Times New Roman" panose="02020603050405020304" pitchFamily="18" charset="0"/>
                <a:cs typeface="Times New Roman" panose="02020603050405020304" pitchFamily="18" charset="0"/>
              </a:rPr>
              <a:t>PhD in </a:t>
            </a:r>
            <a:r>
              <a:rPr lang="fr-F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Engineering at Hassan II University</a:t>
            </a:r>
          </a:p>
          <a:p>
            <a:pPr>
              <a:spcAft>
                <a:spcPts val="0"/>
              </a:spcAft>
            </a:pP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89487" y="181939"/>
            <a:ext cx="28465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SAID ABENNA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91" y="2257651"/>
            <a:ext cx="12736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sz="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+212 680402812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183" y="1933650"/>
            <a:ext cx="9410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265" y="4791128"/>
            <a:ext cx="9176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429" y="5073409"/>
            <a:ext cx="1866786" cy="1364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Office</a:t>
            </a:r>
          </a:p>
          <a:p>
            <a:pPr marL="171450" indent="-1714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</a:p>
          <a:p>
            <a:pPr marL="171450" indent="-1714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Photoshop</a:t>
            </a:r>
          </a:p>
          <a:p>
            <a:pPr marL="171450" indent="-1714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9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endParaRPr lang="fr-FR" sz="9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2591" y="2518474"/>
            <a:ext cx="205918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LinkedIn/Said-Abenna</a:t>
            </a:r>
            <a:endParaRPr lang="fr-FR" sz="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2261" y="3682082"/>
            <a:ext cx="10727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394" y="3398830"/>
            <a:ext cx="207238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fr-FR" sz="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Foum-Zaouia, Taghzirt, 23652, Beni-Mellal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3189" y="3909992"/>
            <a:ext cx="2143768" cy="879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Arabic</a:t>
            </a:r>
            <a:r>
              <a:rPr lang="fr-FR" sz="9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	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Fluent</a:t>
            </a:r>
            <a:endParaRPr lang="fr-FR" sz="9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English   </a:t>
            </a:r>
            <a:r>
              <a:rPr lang="fr-FR" sz="9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	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endParaRPr lang="fr-FR" sz="9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French</a:t>
            </a:r>
            <a:r>
              <a:rPr lang="fr-FR" sz="9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	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endParaRPr lang="fr-FR" sz="9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96" y="2318597"/>
            <a:ext cx="106236" cy="106236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96" y="2576094"/>
            <a:ext cx="124832" cy="124832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47" y="3440508"/>
            <a:ext cx="135754" cy="135754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8" y="1862976"/>
            <a:ext cx="320046" cy="320046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66" y="3644958"/>
            <a:ext cx="282726" cy="282726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06" y="4757493"/>
            <a:ext cx="265309" cy="265309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35ACC778-E27A-4AE1-A564-6FA670498052}"/>
              </a:ext>
            </a:extLst>
          </p:cNvPr>
          <p:cNvSpPr/>
          <p:nvPr/>
        </p:nvSpPr>
        <p:spPr>
          <a:xfrm>
            <a:off x="734771" y="2835537"/>
            <a:ext cx="20770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ResearchGate/Said-Abenna</a:t>
            </a:r>
            <a:endParaRPr lang="fr-FR" sz="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8DFAF8C-E72F-4844-A58D-7E970B756C8D}"/>
              </a:ext>
            </a:extLst>
          </p:cNvPr>
          <p:cNvSpPr/>
          <p:nvPr/>
        </p:nvSpPr>
        <p:spPr>
          <a:xfrm>
            <a:off x="760855" y="3125463"/>
            <a:ext cx="18576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dr.said.abenna@gmail.com</a:t>
            </a:r>
            <a:endParaRPr lang="fr-FR" sz="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9D763-8ED8-4C46-807A-7577F7344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947" y="2895910"/>
            <a:ext cx="124833" cy="124833"/>
          </a:xfrm>
          <a:prstGeom prst="rect">
            <a:avLst/>
          </a:prstGeom>
        </p:spPr>
      </p:pic>
      <p:pic>
        <p:nvPicPr>
          <p:cNvPr id="85" name="Image 16">
            <a:extLst>
              <a:ext uri="{FF2B5EF4-FFF2-40B4-BE49-F238E27FC236}">
                <a16:creationId xmlns:a16="http://schemas.microsoft.com/office/drawing/2014/main" id="{96EE4BED-4C14-4340-A7A1-105073C9BB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96" y="3182013"/>
            <a:ext cx="144704" cy="12276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55BD215-DC3E-EE1E-045F-AF8FCD2199C5}"/>
              </a:ext>
            </a:extLst>
          </p:cNvPr>
          <p:cNvSpPr/>
          <p:nvPr/>
        </p:nvSpPr>
        <p:spPr>
          <a:xfrm>
            <a:off x="6056694" y="4623929"/>
            <a:ext cx="13749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2018 – May 2018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6A57A1-DD17-1AB0-3D00-BB553BEDC6F2}"/>
              </a:ext>
            </a:extLst>
          </p:cNvPr>
          <p:cNvSpPr/>
          <p:nvPr/>
        </p:nvSpPr>
        <p:spPr>
          <a:xfrm>
            <a:off x="3297664" y="1398794"/>
            <a:ext cx="12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endParaRPr lang="fr-FR" sz="1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Connecteur droit 77">
            <a:extLst>
              <a:ext uri="{FF2B5EF4-FFF2-40B4-BE49-F238E27FC236}">
                <a16:creationId xmlns:a16="http://schemas.microsoft.com/office/drawing/2014/main" id="{8D1447D1-9249-3C62-00D1-4C5FB80B010A}"/>
              </a:ext>
            </a:extLst>
          </p:cNvPr>
          <p:cNvCxnSpPr/>
          <p:nvPr/>
        </p:nvCxnSpPr>
        <p:spPr>
          <a:xfrm>
            <a:off x="2998178" y="1723289"/>
            <a:ext cx="4339479" cy="1014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D4450F1-BDA2-D937-DDDF-78638E84C54A}"/>
              </a:ext>
            </a:extLst>
          </p:cNvPr>
          <p:cNvSpPr/>
          <p:nvPr/>
        </p:nvSpPr>
        <p:spPr>
          <a:xfrm>
            <a:off x="3074345" y="2776201"/>
            <a:ext cx="20315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endParaRPr lang="fr-FR" sz="1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27020D-C6C5-8B87-B2C0-0E737C7CA65B}"/>
              </a:ext>
            </a:extLst>
          </p:cNvPr>
          <p:cNvSpPr/>
          <p:nvPr/>
        </p:nvSpPr>
        <p:spPr>
          <a:xfrm>
            <a:off x="3048570" y="2132928"/>
            <a:ext cx="3413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MSc in Intelligent and Communicating Systems</a:t>
            </a:r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Mohammed Ben Abdellah University, Fez.</a:t>
            </a:r>
            <a:endParaRPr lang="fr-FR" sz="9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85119B-F310-37A5-5C4D-C6AF46CC8F65}"/>
              </a:ext>
            </a:extLst>
          </p:cNvPr>
          <p:cNvSpPr/>
          <p:nvPr/>
        </p:nvSpPr>
        <p:spPr>
          <a:xfrm>
            <a:off x="3035617" y="2476827"/>
            <a:ext cx="338994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BSc in Electronic, Sultan Moulay Slimane University, Beni-Mellal.</a:t>
            </a:r>
            <a:endParaRPr lang="fr-FR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BDAAD2-17C7-6092-FD75-925F2BF817A7}"/>
              </a:ext>
            </a:extLst>
          </p:cNvPr>
          <p:cNvSpPr/>
          <p:nvPr/>
        </p:nvSpPr>
        <p:spPr>
          <a:xfrm>
            <a:off x="2984391" y="4066407"/>
            <a:ext cx="24804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Teaching at FST-</a:t>
            </a:r>
            <a:r>
              <a:rPr lang="en-US" sz="1100" b="1" dirty="0" err="1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Mohamedia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00" b="1" dirty="0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1100" b="1" dirty="0">
              <a:solidFill>
                <a:srgbClr val="1BB0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2">
            <a:extLst>
              <a:ext uri="{FF2B5EF4-FFF2-40B4-BE49-F238E27FC236}">
                <a16:creationId xmlns:a16="http://schemas.microsoft.com/office/drawing/2014/main" id="{F7541CC9-90E3-57BC-24C5-43FDAB6CD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2" y="1313988"/>
            <a:ext cx="295992" cy="387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Image 3">
            <a:extLst>
              <a:ext uri="{FF2B5EF4-FFF2-40B4-BE49-F238E27FC236}">
                <a16:creationId xmlns:a16="http://schemas.microsoft.com/office/drawing/2014/main" id="{270FCEBF-37D3-4C60-89BE-E52893EC3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7" y="6509595"/>
            <a:ext cx="438266" cy="332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Image 118">
            <a:extLst>
              <a:ext uri="{FF2B5EF4-FFF2-40B4-BE49-F238E27FC236}">
                <a16:creationId xmlns:a16="http://schemas.microsoft.com/office/drawing/2014/main" id="{7CD17A09-C6E9-2EA1-27BB-44B01E9AC2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561" y="2231086"/>
            <a:ext cx="47896" cy="47896"/>
          </a:xfrm>
          <a:prstGeom prst="rect">
            <a:avLst/>
          </a:prstGeom>
        </p:spPr>
      </p:pic>
      <p:pic>
        <p:nvPicPr>
          <p:cNvPr id="40" name="Image 119">
            <a:extLst>
              <a:ext uri="{FF2B5EF4-FFF2-40B4-BE49-F238E27FC236}">
                <a16:creationId xmlns:a16="http://schemas.microsoft.com/office/drawing/2014/main" id="{9F4FB8C5-B635-9310-8A84-0AB21360C8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844" y="2579627"/>
            <a:ext cx="47896" cy="47896"/>
          </a:xfrm>
          <a:prstGeom prst="rect">
            <a:avLst/>
          </a:prstGeom>
        </p:spPr>
      </p:pic>
      <p:pic>
        <p:nvPicPr>
          <p:cNvPr id="41" name="Image 121">
            <a:extLst>
              <a:ext uri="{FF2B5EF4-FFF2-40B4-BE49-F238E27FC236}">
                <a16:creationId xmlns:a16="http://schemas.microsoft.com/office/drawing/2014/main" id="{A71910E0-0C91-F676-92B3-B5667D6E12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063" y="4179933"/>
            <a:ext cx="47896" cy="4789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08AD237-64AC-ED37-F5F6-0EC01A3A89AB}"/>
              </a:ext>
            </a:extLst>
          </p:cNvPr>
          <p:cNvSpPr/>
          <p:nvPr/>
        </p:nvSpPr>
        <p:spPr>
          <a:xfrm>
            <a:off x="3021365" y="1798217"/>
            <a:ext cx="3385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PhD in Dept of Electrical Engineering, Hassan II University, Casablanca.</a:t>
            </a:r>
            <a:endParaRPr lang="fr-FR" sz="9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Image 130">
            <a:extLst>
              <a:ext uri="{FF2B5EF4-FFF2-40B4-BE49-F238E27FC236}">
                <a16:creationId xmlns:a16="http://schemas.microsoft.com/office/drawing/2014/main" id="{FED3D19D-B8A2-8ACA-ABB4-23948AB782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199" y="1901016"/>
            <a:ext cx="47896" cy="47896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1EA06EA4-7611-BA5B-F7E5-B305767A7AFC}"/>
              </a:ext>
            </a:extLst>
          </p:cNvPr>
          <p:cNvSpPr/>
          <p:nvPr/>
        </p:nvSpPr>
        <p:spPr>
          <a:xfrm>
            <a:off x="2989672" y="4227829"/>
            <a:ext cx="44528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Tutoring Project at for: MIP-S2 in 2020, BCG-S1 in 2021, and MIP-S1 in 2022.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EB863BB-4E82-B94B-13F7-107BDBCD3274}"/>
              </a:ext>
            </a:extLst>
          </p:cNvPr>
          <p:cNvSpPr/>
          <p:nvPr/>
        </p:nvSpPr>
        <p:spPr>
          <a:xfrm>
            <a:off x="6234151" y="1811257"/>
            <a:ext cx="122264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9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fr-FR" sz="9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2018 – Mar 2023</a:t>
            </a:r>
            <a:endParaRPr lang="fr-FR" sz="9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2EB57D-F679-777E-1128-3E20DFF9EB18}"/>
              </a:ext>
            </a:extLst>
          </p:cNvPr>
          <p:cNvSpPr/>
          <p:nvPr/>
        </p:nvSpPr>
        <p:spPr>
          <a:xfrm>
            <a:off x="6309860" y="2139618"/>
            <a:ext cx="115231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9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 2016 – </a:t>
            </a:r>
            <a:r>
              <a:rPr lang="fr-FR" sz="9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Jul</a:t>
            </a:r>
            <a:r>
              <a:rPr lang="fr-FR" sz="9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2018</a:t>
            </a:r>
            <a:endParaRPr lang="fr-FR" sz="900" b="1" dirty="0">
              <a:solidFill>
                <a:srgbClr val="1BB0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43FDA1D-1D4A-ABCA-3B10-8956A31E9AE3}"/>
              </a:ext>
            </a:extLst>
          </p:cNvPr>
          <p:cNvSpPr/>
          <p:nvPr/>
        </p:nvSpPr>
        <p:spPr>
          <a:xfrm>
            <a:off x="6279892" y="2477451"/>
            <a:ext cx="114643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900" b="1" dirty="0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 2012 – </a:t>
            </a:r>
            <a:r>
              <a:rPr lang="fr-FR" sz="900" b="1" dirty="0" err="1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</a:t>
            </a:r>
            <a:r>
              <a:rPr lang="fr-FR" sz="900" b="1" dirty="0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502793-1B64-6054-BAE8-2B220BD07C97}"/>
              </a:ext>
            </a:extLst>
          </p:cNvPr>
          <p:cNvSpPr/>
          <p:nvPr/>
        </p:nvSpPr>
        <p:spPr>
          <a:xfrm>
            <a:off x="6088771" y="4089734"/>
            <a:ext cx="137260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 2020 – Jun 2022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626481-6135-4EAE-D44F-F5E57A51CE6E}"/>
              </a:ext>
            </a:extLst>
          </p:cNvPr>
          <p:cNvSpPr/>
          <p:nvPr/>
        </p:nvSpPr>
        <p:spPr>
          <a:xfrm>
            <a:off x="2977892" y="4641648"/>
            <a:ext cx="20361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JWAY-Morocco </a:t>
            </a:r>
          </a:p>
        </p:txBody>
      </p:sp>
      <p:pic>
        <p:nvPicPr>
          <p:cNvPr id="84" name="Image 122">
            <a:extLst>
              <a:ext uri="{FF2B5EF4-FFF2-40B4-BE49-F238E27FC236}">
                <a16:creationId xmlns:a16="http://schemas.microsoft.com/office/drawing/2014/main" id="{1BC2B5E8-CCC3-1382-C947-1D4C81CD6D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564" y="4754023"/>
            <a:ext cx="47896" cy="47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44BFF60-925A-1630-CC14-E0DF9682A08E}"/>
                  </a:ext>
                </a:extLst>
              </p:cNvPr>
              <p:cNvSpPr/>
              <p:nvPr/>
            </p:nvSpPr>
            <p:spPr>
              <a:xfrm>
                <a:off x="3004732" y="4836632"/>
                <a:ext cx="4400086" cy="865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Project: </a:t>
                </a:r>
                <a:r>
                  <a:rPr lang="fr-F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« </a:t>
                </a:r>
                <a:r>
                  <a:rPr lang="fr-FR" sz="1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Built</a:t>
                </a: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 online payment, subscription, and management system</a:t>
                </a:r>
                <a:r>
                  <a:rPr lang="fr-F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»</a:t>
                </a:r>
              </a:p>
              <a:p>
                <a:pPr marL="171450" indent="-171450" algn="just">
                  <a:buFontTx/>
                  <a:buChar char="-"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Supervisor: Professor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0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fr-FR" sz="10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sz="10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0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Mansouri</m:t>
                        </m:r>
                        <m:r>
                          <a:rPr lang="fr-FR" sz="10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hlinkClick r:id="rId13">
                              <a:extLst>
                                <a:ext uri="{A12FA001-AC4F-418D-AE19-62706E023703}">
                                  <ahyp:hlinkClr xmlns:ahyp="http://schemas.microsoft.com/office/drawing/2018/hyperlinkcolor" val="tx"/>
                                </a:ext>
                              </a:extLst>
                            </a:hlinkClick>
                          </a:rPr>
                          <m:t>SC</m:t>
                        </m:r>
                      </m:sup>
                    </m:sSup>
                  </m:oMath>
                </a14:m>
                <a:endParaRPr lang="fr-F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 algn="just">
                  <a:buFontTx/>
                  <a:buChar char="-"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Creation of a web application in Python that allows to create and manage customer accounts</a:t>
                </a:r>
                <a:r>
                  <a:rPr lang="fr-F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buFontTx/>
                  <a:buChar char="-"/>
                </a:pPr>
                <a:r>
                  <a:rPr lang="en-US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Customer identification using some technologies like RFID and OpenCV</a:t>
                </a:r>
                <a:r>
                  <a:rPr lang="fr-FR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44BFF60-925A-1630-CC14-E0DF9682A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32" y="4836632"/>
                <a:ext cx="4400086" cy="865365"/>
              </a:xfrm>
              <a:prstGeom prst="rect">
                <a:avLst/>
              </a:prstGeom>
              <a:blipFill>
                <a:blip r:embed="rId14"/>
                <a:stretch>
                  <a:fillRect b="-3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necteur droit 68">
            <a:extLst>
              <a:ext uri="{FF2B5EF4-FFF2-40B4-BE49-F238E27FC236}">
                <a16:creationId xmlns:a16="http://schemas.microsoft.com/office/drawing/2014/main" id="{803BAE3C-D3FA-101B-1D43-11871F33A335}"/>
              </a:ext>
            </a:extLst>
          </p:cNvPr>
          <p:cNvCxnSpPr>
            <a:cxnSpLocks/>
          </p:cNvCxnSpPr>
          <p:nvPr/>
        </p:nvCxnSpPr>
        <p:spPr>
          <a:xfrm flipV="1">
            <a:off x="2969593" y="3112496"/>
            <a:ext cx="4359075" cy="11839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8">
            <a:extLst>
              <a:ext uri="{FF2B5EF4-FFF2-40B4-BE49-F238E27FC236}">
                <a16:creationId xmlns:a16="http://schemas.microsoft.com/office/drawing/2014/main" id="{1F8713FF-A4E1-F128-6231-96F59CC53345}"/>
              </a:ext>
            </a:extLst>
          </p:cNvPr>
          <p:cNvCxnSpPr>
            <a:cxnSpLocks/>
          </p:cNvCxnSpPr>
          <p:nvPr/>
        </p:nvCxnSpPr>
        <p:spPr>
          <a:xfrm flipV="1">
            <a:off x="2978582" y="1721597"/>
            <a:ext cx="4359075" cy="11839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58F3224-CBC4-2BC4-9B3B-678B0B03FC6B}"/>
              </a:ext>
            </a:extLst>
          </p:cNvPr>
          <p:cNvSpPr/>
          <p:nvPr/>
        </p:nvSpPr>
        <p:spPr>
          <a:xfrm>
            <a:off x="6715660" y="3166689"/>
            <a:ext cx="7433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2024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B0F178F-33E2-78EA-627E-3D3C197DA094}"/>
              </a:ext>
            </a:extLst>
          </p:cNvPr>
          <p:cNvSpPr/>
          <p:nvPr/>
        </p:nvSpPr>
        <p:spPr>
          <a:xfrm>
            <a:off x="3005266" y="3184408"/>
            <a:ext cx="62228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1BB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fr-FR" sz="1100" b="1" dirty="0">
              <a:solidFill>
                <a:srgbClr val="1BB0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5" name="Image 122">
            <a:extLst>
              <a:ext uri="{FF2B5EF4-FFF2-40B4-BE49-F238E27FC236}">
                <a16:creationId xmlns:a16="http://schemas.microsoft.com/office/drawing/2014/main" id="{E4E5B96B-6200-9A01-34B9-06E3799B06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938" y="3296783"/>
            <a:ext cx="47896" cy="47896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EFB48500-9AE0-85A9-2F85-A6ADBD698513}"/>
              </a:ext>
            </a:extLst>
          </p:cNvPr>
          <p:cNvSpPr/>
          <p:nvPr/>
        </p:nvSpPr>
        <p:spPr>
          <a:xfrm>
            <a:off x="3032106" y="3379392"/>
            <a:ext cx="4400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fr-F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Sujet</a:t>
            </a:r>
            <a:r>
              <a:rPr lang="fr-F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YanSOQ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Real-Time Earth Simulator Based on New Technologies</a:t>
            </a:r>
            <a:r>
              <a:rPr lang="fr-F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marL="171450" indent="-171450" algn="justLow">
              <a:buFontTx/>
              <a:buChar char="-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Websites: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https://yansoq.ct.ws https://yansoq.kesug.com, https://sinsoq.kesug.com;</a:t>
            </a:r>
          </a:p>
          <a:p>
            <a:pPr marL="171450" indent="-171450" algn="justLow">
              <a:buFontTx/>
              <a:buChar char="-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Android, Windows, Linux ;</a:t>
            </a:r>
          </a:p>
          <a:p>
            <a:pPr marL="171450" indent="-171450" algn="justLow">
              <a:buFontTx/>
              <a:buChar char="-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Publishers: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Uptodown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Apkpure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Amazon.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70186AF-76B1-00FA-1446-F8192D42BEDB}"/>
              </a:ext>
            </a:extLst>
          </p:cNvPr>
          <p:cNvSpPr/>
          <p:nvPr/>
        </p:nvSpPr>
        <p:spPr>
          <a:xfrm>
            <a:off x="593383" y="6524273"/>
            <a:ext cx="7393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</p:txBody>
      </p:sp>
      <p:pic>
        <p:nvPicPr>
          <p:cNvPr id="80" name="Picture 4">
            <a:extLst>
              <a:ext uri="{FF2B5EF4-FFF2-40B4-BE49-F238E27FC236}">
                <a16:creationId xmlns:a16="http://schemas.microsoft.com/office/drawing/2014/main" id="{C4839D4A-AAAF-A90E-03F4-D12A675E5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387" y="2746306"/>
            <a:ext cx="335908" cy="33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D8245DA2-A24F-E851-3681-D4F6A49FB346}"/>
              </a:ext>
            </a:extLst>
          </p:cNvPr>
          <p:cNvSpPr/>
          <p:nvPr/>
        </p:nvSpPr>
        <p:spPr>
          <a:xfrm>
            <a:off x="3093359" y="5843719"/>
            <a:ext cx="12881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endParaRPr lang="fr-FR" sz="1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Connecteur droit 68">
            <a:extLst>
              <a:ext uri="{FF2B5EF4-FFF2-40B4-BE49-F238E27FC236}">
                <a16:creationId xmlns:a16="http://schemas.microsoft.com/office/drawing/2014/main" id="{04B4C5F6-4524-27B8-D006-336DF160EA4D}"/>
              </a:ext>
            </a:extLst>
          </p:cNvPr>
          <p:cNvCxnSpPr>
            <a:cxnSpLocks/>
          </p:cNvCxnSpPr>
          <p:nvPr/>
        </p:nvCxnSpPr>
        <p:spPr>
          <a:xfrm flipV="1">
            <a:off x="2988606" y="6180014"/>
            <a:ext cx="4359075" cy="11839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53E21FB-DB05-AB44-77F0-5324571CB26A}"/>
              </a:ext>
            </a:extLst>
          </p:cNvPr>
          <p:cNvSpPr/>
          <p:nvPr/>
        </p:nvSpPr>
        <p:spPr>
          <a:xfrm>
            <a:off x="2909176" y="6247985"/>
            <a:ext cx="5757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599356C-701A-8306-8317-24B9F9500B7D}"/>
              </a:ext>
            </a:extLst>
          </p:cNvPr>
          <p:cNvSpPr/>
          <p:nvPr/>
        </p:nvSpPr>
        <p:spPr>
          <a:xfrm>
            <a:off x="3362308" y="6246774"/>
            <a:ext cx="40640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Electroencephalography-based Brain-Computer Interface: Embedding a Command-Control for Intelligent Systems by Detection and Modeling of Brain Activities</a:t>
            </a:r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id="{9C0B8F04-4F42-3985-F0E8-DAE57B337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6509755"/>
            <a:ext cx="75628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36A52F1-E00A-983A-4D11-22BE88EB5108}"/>
              </a:ext>
            </a:extLst>
          </p:cNvPr>
          <p:cNvSpPr/>
          <p:nvPr/>
        </p:nvSpPr>
        <p:spPr>
          <a:xfrm>
            <a:off x="2909176" y="6718803"/>
            <a:ext cx="7088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264C79B-C35A-C95A-FB5F-15C3545EA801}"/>
              </a:ext>
            </a:extLst>
          </p:cNvPr>
          <p:cNvSpPr/>
          <p:nvPr/>
        </p:nvSpPr>
        <p:spPr>
          <a:xfrm>
            <a:off x="3518531" y="6733358"/>
            <a:ext cx="40640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February 25, 2023.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CE3AA9-838B-320D-D65C-E5FF49E31875}"/>
              </a:ext>
            </a:extLst>
          </p:cNvPr>
          <p:cNvSpPr/>
          <p:nvPr/>
        </p:nvSpPr>
        <p:spPr>
          <a:xfrm>
            <a:off x="2904868" y="6947965"/>
            <a:ext cx="94844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D5A3ADB-CB15-A224-7704-4C5DACBADF3F}"/>
              </a:ext>
            </a:extLst>
          </p:cNvPr>
          <p:cNvSpPr/>
          <p:nvPr/>
        </p:nvSpPr>
        <p:spPr>
          <a:xfrm>
            <a:off x="3635303" y="6951269"/>
            <a:ext cx="40640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Mohammed NAHID, Professor (PH) at FSTM, UH2, Casablanca.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D438E95-8288-3867-4C76-361CE8E929D4}"/>
              </a:ext>
            </a:extLst>
          </p:cNvPr>
          <p:cNvSpPr/>
          <p:nvPr/>
        </p:nvSpPr>
        <p:spPr>
          <a:xfrm>
            <a:off x="2909175" y="7216115"/>
            <a:ext cx="114847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Co-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571BC67-4AAB-7BD1-7AFE-CB1B6C7F2209}"/>
              </a:ext>
            </a:extLst>
          </p:cNvPr>
          <p:cNvSpPr/>
          <p:nvPr/>
        </p:nvSpPr>
        <p:spPr>
          <a:xfrm>
            <a:off x="3857625" y="7219419"/>
            <a:ext cx="35471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Hamid BOUYGHF, Professor (PA) at FSTM, UH2, Casablanca.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8F15B95-675B-5E90-B5FB-A5B33B39D201}"/>
              </a:ext>
            </a:extLst>
          </p:cNvPr>
          <p:cNvSpPr/>
          <p:nvPr/>
        </p:nvSpPr>
        <p:spPr>
          <a:xfrm>
            <a:off x="2909176" y="7548147"/>
            <a:ext cx="79604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President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7CC8D49-214D-2E09-68BC-429C2D03E838}"/>
              </a:ext>
            </a:extLst>
          </p:cNvPr>
          <p:cNvSpPr/>
          <p:nvPr/>
        </p:nvSpPr>
        <p:spPr>
          <a:xfrm>
            <a:off x="3618024" y="7551451"/>
            <a:ext cx="37296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Abdelhadi RAIHANI,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Professeur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(PES) at ENSETM, UH2, Casablanca.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DEECF78-9537-6DA5-4E07-F3B4C8736663}"/>
              </a:ext>
            </a:extLst>
          </p:cNvPr>
          <p:cNvSpPr/>
          <p:nvPr/>
        </p:nvSpPr>
        <p:spPr>
          <a:xfrm>
            <a:off x="2930268" y="7875991"/>
            <a:ext cx="85115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Reporters: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5B261E0-A6C2-900A-1977-4B4708E3CDEB}"/>
              </a:ext>
            </a:extLst>
          </p:cNvPr>
          <p:cNvSpPr/>
          <p:nvPr/>
        </p:nvSpPr>
        <p:spPr>
          <a:xfrm>
            <a:off x="3618024" y="7879295"/>
            <a:ext cx="3807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Abdennaceur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BAGHDAD, Professor (PES) at FSTM, UH2,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Casablanca;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Ahmed ABBOU, Professor (PES) at EMI, UM5, Rabat;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Youssef FAKHRI, Professor (PES) at FS, UIT, Kenitra.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4C4FECA-399F-84F5-E727-2A88D3FECFB5}"/>
              </a:ext>
            </a:extLst>
          </p:cNvPr>
          <p:cNvSpPr/>
          <p:nvPr/>
        </p:nvSpPr>
        <p:spPr>
          <a:xfrm>
            <a:off x="2904868" y="8537019"/>
            <a:ext cx="107227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Examiner: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BF8925-4964-D648-00D7-42C3BCC6612D}"/>
              </a:ext>
            </a:extLst>
          </p:cNvPr>
          <p:cNvSpPr/>
          <p:nvPr/>
        </p:nvSpPr>
        <p:spPr>
          <a:xfrm>
            <a:off x="3592624" y="8540323"/>
            <a:ext cx="35471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Abderrahim BAJIT, Professor (PH) at ENSA, UIT, Kenitra.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249F2B1-042E-6A7D-26E1-CCD435EBE01D}"/>
              </a:ext>
            </a:extLst>
          </p:cNvPr>
          <p:cNvSpPr/>
          <p:nvPr/>
        </p:nvSpPr>
        <p:spPr>
          <a:xfrm>
            <a:off x="2920639" y="8795683"/>
            <a:ext cx="107227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Highlights: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F0BC00D-BEC5-DD09-86BC-904CCD41E5ED}"/>
              </a:ext>
            </a:extLst>
          </p:cNvPr>
          <p:cNvSpPr/>
          <p:nvPr/>
        </p:nvSpPr>
        <p:spPr>
          <a:xfrm>
            <a:off x="3617923" y="8798987"/>
            <a:ext cx="37983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of an EEG Signals Acquisition System;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of EEG Signals Frequency and Spatial Processing System;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of a Self-Optimized Classification System using ML/DL/MH Algos;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of a Real-Time Mental Tasks Prediction System;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 3D City for Virtual Control using C#/Blender/Unity3D/Python;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of a Human Body Motions Detection System using Python.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AA15389-AD9E-D4DC-0DE4-B85D5C276F10}"/>
              </a:ext>
            </a:extLst>
          </p:cNvPr>
          <p:cNvSpPr/>
          <p:nvPr/>
        </p:nvSpPr>
        <p:spPr>
          <a:xfrm>
            <a:off x="188439" y="6898291"/>
            <a:ext cx="2564030" cy="757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00" dirty="0" err="1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Python (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SQLite, NLTK,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PyQt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Kivy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Flask), C/C++,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Java, C#, HTML/ JavaScript.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A14EA8F-1398-9921-FEA1-8C5A67E41C0B}"/>
              </a:ext>
            </a:extLst>
          </p:cNvPr>
          <p:cNvSpPr/>
          <p:nvPr/>
        </p:nvSpPr>
        <p:spPr>
          <a:xfrm>
            <a:off x="188439" y="7721269"/>
            <a:ext cx="2564030" cy="121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Softwares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Matlab, Arduino,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VisualStudio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Linux, Prolog,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MikroC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Modelsim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MicroWind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Proteus, Blender, Unity3D,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QuartusII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Labview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ADS, Atoll, HFSS, GNS3, </a:t>
            </a:r>
            <a:r>
              <a:rPr lang="fr-FR" sz="10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ZBrush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D6AAB9A-2661-6288-554D-BD7C60F2B166}"/>
              </a:ext>
            </a:extLst>
          </p:cNvPr>
          <p:cNvSpPr/>
          <p:nvPr/>
        </p:nvSpPr>
        <p:spPr>
          <a:xfrm>
            <a:off x="188439" y="8991667"/>
            <a:ext cx="2523449" cy="295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Chips: 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ATMEGA328PU, FPGA.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3FAA946-490B-4975-DB19-5EA684B8A538}"/>
              </a:ext>
            </a:extLst>
          </p:cNvPr>
          <p:cNvSpPr/>
          <p:nvPr/>
        </p:nvSpPr>
        <p:spPr>
          <a:xfrm>
            <a:off x="181738" y="9338735"/>
            <a:ext cx="2564030" cy="526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fr-FR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Independent, Versatile, Adaptive, In-Team, Organized, Leadership.</a:t>
            </a:r>
            <a:endParaRPr lang="fr-FR" sz="1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Thesis - Free education icons">
            <a:extLst>
              <a:ext uri="{FF2B5EF4-FFF2-40B4-BE49-F238E27FC236}">
                <a16:creationId xmlns:a16="http://schemas.microsoft.com/office/drawing/2014/main" id="{4B7E6C94-772F-8FF3-8DE2-5BA832353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095" y="5841051"/>
            <a:ext cx="335908" cy="33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D638C946-E556-F53D-9D78-F8072F2DB63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5770" t="3742" r="15281" b="24192"/>
          <a:stretch>
            <a:fillRect/>
          </a:stretch>
        </p:blipFill>
        <p:spPr>
          <a:xfrm>
            <a:off x="466577" y="118279"/>
            <a:ext cx="1773901" cy="173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9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C0AADD0-BB2B-46FE-6B50-C2D93786B664}"/>
              </a:ext>
            </a:extLst>
          </p:cNvPr>
          <p:cNvSpPr/>
          <p:nvPr/>
        </p:nvSpPr>
        <p:spPr>
          <a:xfrm>
            <a:off x="-30480" y="-28739"/>
            <a:ext cx="7623810" cy="10746116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35DC8A-D433-1380-55C1-A0C8FF50AE8B}"/>
              </a:ext>
            </a:extLst>
          </p:cNvPr>
          <p:cNvSpPr/>
          <p:nvPr/>
        </p:nvSpPr>
        <p:spPr>
          <a:xfrm>
            <a:off x="360745" y="254497"/>
            <a:ext cx="17126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fr-FR" sz="1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Connecteur droit 68">
            <a:extLst>
              <a:ext uri="{FF2B5EF4-FFF2-40B4-BE49-F238E27FC236}">
                <a16:creationId xmlns:a16="http://schemas.microsoft.com/office/drawing/2014/main" id="{0B4EAE9B-DE6F-A865-454E-6062C9D64EC5}"/>
              </a:ext>
            </a:extLst>
          </p:cNvPr>
          <p:cNvCxnSpPr>
            <a:cxnSpLocks/>
          </p:cNvCxnSpPr>
          <p:nvPr/>
        </p:nvCxnSpPr>
        <p:spPr>
          <a:xfrm flipV="1">
            <a:off x="138299" y="583498"/>
            <a:ext cx="7304852" cy="3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1E15D3E-ACAD-1F01-51D0-9919CD4C46B3}"/>
                  </a:ext>
                </a:extLst>
              </p:cNvPr>
              <p:cNvSpPr/>
              <p:nvPr/>
            </p:nvSpPr>
            <p:spPr>
              <a:xfrm>
                <a:off x="330625" y="2413181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Ouacha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5"/>
                          </a:rPr>
                          <m:t>SC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EEG-based BCI : a novel improvement for EEG signals classification based on real-time preprocessing. Computers in Biology and Medicine, 148(2022), August 2022.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10.1016/j.compbiomed.2022.105931.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1E15D3E-ACAD-1F01-51D0-9919CD4C4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" y="2413181"/>
                <a:ext cx="7135320" cy="577081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Image 116">
            <a:extLst>
              <a:ext uri="{FF2B5EF4-FFF2-40B4-BE49-F238E27FC236}">
                <a16:creationId xmlns:a16="http://schemas.microsoft.com/office/drawing/2014/main" id="{8A1B4AF1-B938-547B-EB6C-81D4111DBC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7" y="2523350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C0B2A94-162C-3193-FC2F-6D2C3692A4D0}"/>
                  </a:ext>
                </a:extLst>
              </p:cNvPr>
              <p:cNvSpPr/>
              <p:nvPr/>
            </p:nvSpPr>
            <p:spPr>
              <a:xfrm>
                <a:off x="357410" y="3549479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Bajit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8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novel EEG classification for baseline motor cortex using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adaboost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Proceedings of the 2nd International Conference on Big Data, Modelling and Machine Learning – BML, pages 125-129. INSTICC, SciTePress, 2022. ISBN 978-989-758-559-3.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10.5220/0010729600003101.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C0B2A94-162C-3193-FC2F-6D2C3692A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10" y="3549479"/>
                <a:ext cx="7135320" cy="577081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Image 116">
            <a:extLst>
              <a:ext uri="{FF2B5EF4-FFF2-40B4-BE49-F238E27FC236}">
                <a16:creationId xmlns:a16="http://schemas.microsoft.com/office/drawing/2014/main" id="{CA978833-9EE1-C010-18EE-6E233E9E82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28" y="3652603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1A7605B-977B-3BC6-BF9F-126820CB5778}"/>
                  </a:ext>
                </a:extLst>
              </p:cNvPr>
              <p:cNvSpPr/>
              <p:nvPr/>
            </p:nvSpPr>
            <p:spPr>
              <a:xfrm>
                <a:off x="348599" y="2986735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Ouacha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5"/>
                          </a:rPr>
                          <m:t>SC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DEA-based on optimization of inductive coupling for powering implantable biomedical devices. International Journal of Power Electronics and Drive System, 13(3) :1558-1567, September 2022. ISSN 2088-8694.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10.11591/ijpeds.v13.i3.pp1558-1567.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1A7605B-977B-3BC6-BF9F-126820CB5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9" y="2986735"/>
                <a:ext cx="7135320" cy="577081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Image 116">
            <a:extLst>
              <a:ext uri="{FF2B5EF4-FFF2-40B4-BE49-F238E27FC236}">
                <a16:creationId xmlns:a16="http://schemas.microsoft.com/office/drawing/2014/main" id="{DFECA46D-4562-2321-999C-F8FAA8C283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7" y="3089859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B41A937-0FD2-6655-20AA-9E1CF3A84DB1}"/>
                  </a:ext>
                </a:extLst>
              </p:cNvPr>
              <p:cNvSpPr/>
              <p:nvPr/>
            </p:nvSpPr>
            <p:spPr>
              <a:xfrm>
                <a:off x="346569" y="5706952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Bajit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8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Motor imagery based brain-computer interface : improving the EEG classification using delta rhythm and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lightgbm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algorithm. Biomedical Signal Processing and Control, 71(11), January 2022.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10.1016/j.bspc.2021.103102.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B41A937-0FD2-6655-20AA-9E1CF3A84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69" y="5706952"/>
                <a:ext cx="7135320" cy="577081"/>
              </a:xfrm>
              <a:prstGeom prst="rect">
                <a:avLst/>
              </a:prstGeom>
              <a:blipFill>
                <a:blip r:embed="rId1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Image 116">
            <a:extLst>
              <a:ext uri="{FF2B5EF4-FFF2-40B4-BE49-F238E27FC236}">
                <a16:creationId xmlns:a16="http://schemas.microsoft.com/office/drawing/2014/main" id="{7BDCCF89-6989-E3ED-6F4A-35A160E6DC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5810076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EC01D3C-E2E9-7B6D-34D6-3697A8DA14DC}"/>
                  </a:ext>
                </a:extLst>
              </p:cNvPr>
              <p:cNvSpPr/>
              <p:nvPr/>
            </p:nvSpPr>
            <p:spPr>
              <a:xfrm>
                <a:off x="346569" y="4126560"/>
                <a:ext cx="7135320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An enhanced EEG prediction system for motor cortex-imagery tasks using SVM. E3S Web of Conferences, 351 :01026, 2022.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10.1051/e3sconf/202235101026.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EC01D3C-E2E9-7B6D-34D6-3697A8DA14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69" y="4126560"/>
                <a:ext cx="7135320" cy="430887"/>
              </a:xfrm>
              <a:prstGeom prst="rect">
                <a:avLst/>
              </a:prstGeom>
              <a:blipFill>
                <a:blip r:embed="rId12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Image 116">
            <a:extLst>
              <a:ext uri="{FF2B5EF4-FFF2-40B4-BE49-F238E27FC236}">
                <a16:creationId xmlns:a16="http://schemas.microsoft.com/office/drawing/2014/main" id="{5492E449-194C-FD91-254B-A2662D6FBE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4229684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F2EED76-BBEA-8822-8F7B-622086CCEC5D}"/>
                  </a:ext>
                </a:extLst>
              </p:cNvPr>
              <p:cNvSpPr/>
              <p:nvPr/>
            </p:nvSpPr>
            <p:spPr>
              <a:xfrm>
                <a:off x="346569" y="4559065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Alcohol use disorders automatic detection based BCI systems : A novel EEG classification based on machine learning and optimization algorithms. International Journal of Information Science and Technology, 6(1) :14-25, February 2022. ISSN 2550-5114.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10.57675/IMIST.PRSM/ijist-v6i1.178.</a:t>
                </a: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F2EED76-BBEA-8822-8F7B-622086CCEC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69" y="4559065"/>
                <a:ext cx="7135320" cy="577081"/>
              </a:xfrm>
              <a:prstGeom prst="rect">
                <a:avLst/>
              </a:prstGeom>
              <a:blipFill>
                <a:blip r:embed="rId1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Image 116">
            <a:extLst>
              <a:ext uri="{FF2B5EF4-FFF2-40B4-BE49-F238E27FC236}">
                <a16:creationId xmlns:a16="http://schemas.microsoft.com/office/drawing/2014/main" id="{9256B94D-FCAE-C50D-7D09-EEE9D2AAD3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4662189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CA87842-6E24-41AB-3368-1B658BD9BB3C}"/>
                  </a:ext>
                </a:extLst>
              </p:cNvPr>
              <p:cNvSpPr/>
              <p:nvPr/>
            </p:nvSpPr>
            <p:spPr>
              <a:xfrm>
                <a:off x="346569" y="5137313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Sleep Stages Detection Based BCI : A Novel Single-Channel EEG Classification Based on Optimized Bandpass Filter, volume 110, chapter 10, pages 96-105. Springer, Cham, 2022. ISBN 978-3-030-94187-1 ; 978-3-030-94188-8.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10.1007/978-3-030-94188-8_10.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CA87842-6E24-41AB-3368-1B658BD9BB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69" y="5137313"/>
                <a:ext cx="7135320" cy="577081"/>
              </a:xfrm>
              <a:prstGeom prst="rect">
                <a:avLst/>
              </a:prstGeom>
              <a:blipFill>
                <a:blip r:embed="rId1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Image 116">
            <a:extLst>
              <a:ext uri="{FF2B5EF4-FFF2-40B4-BE49-F238E27FC236}">
                <a16:creationId xmlns:a16="http://schemas.microsoft.com/office/drawing/2014/main" id="{27FAA22F-E724-D24D-46E0-BF43AFE84A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5240437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CB4C473-4EC1-6373-EC04-4A34978CE395}"/>
                  </a:ext>
                </a:extLst>
              </p:cNvPr>
              <p:cNvSpPr/>
              <p:nvPr/>
            </p:nvSpPr>
            <p:spPr>
              <a:xfrm>
                <a:off x="360745" y="6266995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Bajit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8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Brain-computer interface : A novel EEG classification for baseline eye states using LGBM algorithm, volume 211, chapter 18, pages 189-198. Springer Science and Business Media LLC, 2021. ISBN 978-3-030-73882-2.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10.1007/978-3-030-73882-2_18.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CB4C473-4EC1-6373-EC04-4A34978CE3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45" y="6266995"/>
                <a:ext cx="7135320" cy="577081"/>
              </a:xfrm>
              <a:prstGeom prst="rect">
                <a:avLst/>
              </a:prstGeom>
              <a:blipFill>
                <a:blip r:embed="rId1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" name="Image 116">
            <a:extLst>
              <a:ext uri="{FF2B5EF4-FFF2-40B4-BE49-F238E27FC236}">
                <a16:creationId xmlns:a16="http://schemas.microsoft.com/office/drawing/2014/main" id="{30DE22CC-8229-F3D4-7402-E55A05A6F0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63" y="6370119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0020D90-ADF7-EA3E-3C24-9344B0019B70}"/>
                  </a:ext>
                </a:extLst>
              </p:cNvPr>
              <p:cNvSpPr/>
              <p:nvPr/>
            </p:nvSpPr>
            <p:spPr>
              <a:xfrm>
                <a:off x="357956" y="6873322"/>
                <a:ext cx="7135320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Bajit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8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BCI : Classifiers Optimization for EEG Signals Acquiring in Real-Time. In The 6th IEEE Congress on Information Science and Technology (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CiSt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IEEE, 2021.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10.1109/CiSt4939 9.2021.9357209.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90020D90-ADF7-EA3E-3C24-9344B0019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56" y="6873322"/>
                <a:ext cx="7135320" cy="430887"/>
              </a:xfrm>
              <a:prstGeom prst="rect">
                <a:avLst/>
              </a:prstGeom>
              <a:blipFill>
                <a:blip r:embed="rId1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" name="Image 116">
            <a:extLst>
              <a:ext uri="{FF2B5EF4-FFF2-40B4-BE49-F238E27FC236}">
                <a16:creationId xmlns:a16="http://schemas.microsoft.com/office/drawing/2014/main" id="{F3D685AB-E537-9CF2-046A-C53BB945C5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74" y="6976446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52CAEA9-2959-107B-15A7-403103130285}"/>
                  </a:ext>
                </a:extLst>
              </p:cNvPr>
              <p:cNvSpPr/>
              <p:nvPr/>
            </p:nvSpPr>
            <p:spPr>
              <a:xfrm>
                <a:off x="348599" y="7306831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Belbachir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5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17"/>
                          </a:rPr>
                          <m:t>SC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Brain-computer interface : Rhythm alpha analysis for eyes signals. In The Fourth International Conference On Intelligent Computing in Data Sciences, IEEE, 2020.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10.1109/ICDS50568.2020.9268719.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52CAEA9-2959-107B-15A7-403103130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9" y="7306831"/>
                <a:ext cx="7135320" cy="577081"/>
              </a:xfrm>
              <a:prstGeom prst="rect">
                <a:avLst/>
              </a:prstGeom>
              <a:blipFill>
                <a:blip r:embed="rId18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Image 116">
            <a:extLst>
              <a:ext uri="{FF2B5EF4-FFF2-40B4-BE49-F238E27FC236}">
                <a16:creationId xmlns:a16="http://schemas.microsoft.com/office/drawing/2014/main" id="{DEAC0CCE-CEF5-99AC-E11E-3A9A59E862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7" y="7409955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6A4B49B-A0BE-CAD8-6B4D-E54B78C6A16B}"/>
                  </a:ext>
                </a:extLst>
              </p:cNvPr>
              <p:cNvSpPr/>
              <p:nvPr/>
            </p:nvSpPr>
            <p:spPr>
              <a:xfrm>
                <a:off x="348599" y="1250802"/>
                <a:ext cx="7135320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Ouacha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5"/>
                          </a:rPr>
                          <m:t>SC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enhanced motor imagery EEG signals prediction system in real-time based on delta rhythm. Biomedical Signal 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 and Control, 79, January 2023.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10.1016/j.bspc.2022.104210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6A4B49B-A0BE-CAD8-6B4D-E54B78C6A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9" y="1250802"/>
                <a:ext cx="7135320" cy="430887"/>
              </a:xfrm>
              <a:prstGeom prst="rect">
                <a:avLst/>
              </a:prstGeom>
              <a:blipFill>
                <a:blip r:embed="rId19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116">
            <a:extLst>
              <a:ext uri="{FF2B5EF4-FFF2-40B4-BE49-F238E27FC236}">
                <a16:creationId xmlns:a16="http://schemas.microsoft.com/office/drawing/2014/main" id="{582CEAE8-D401-259D-5B62-27F9505776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7" y="1353926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D5664B-F295-F3B5-3C20-5AD1A0E22EDB}"/>
                  </a:ext>
                </a:extLst>
              </p:cNvPr>
              <p:cNvSpPr/>
              <p:nvPr/>
            </p:nvSpPr>
            <p:spPr>
              <a:xfrm>
                <a:off x="330625" y="710447"/>
                <a:ext cx="7135320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Ouacha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50" i="1" smtClean="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5"/>
                          </a:rPr>
                          <m:t>SC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Design and miniaturization of a microsystem to power biomedical implants using Grey Wolf Optimizer-Based Cuckoo Search Algorithm”. International Journal of Power Electronics and Drive System, 13(2) :1329-1337, April 2023. ISSN 2088-8694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10.11591/ijece.v13i2.pp1329-1337.</a:t>
                </a:r>
                <a:endParaRPr lang="fr-FR" altLang="fr-FR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D5664B-F295-F3B5-3C20-5AD1A0E22E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" y="710447"/>
                <a:ext cx="7135320" cy="577081"/>
              </a:xfrm>
              <a:prstGeom prst="rect">
                <a:avLst/>
              </a:prstGeom>
              <a:blipFill>
                <a:blip r:embed="rId20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116">
            <a:extLst>
              <a:ext uri="{FF2B5EF4-FFF2-40B4-BE49-F238E27FC236}">
                <a16:creationId xmlns:a16="http://schemas.microsoft.com/office/drawing/2014/main" id="{E4DD2553-941C-DE58-6FA6-45EA880116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7" y="820616"/>
            <a:ext cx="47896" cy="47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04D6C6-559E-3448-41E3-749748086418}"/>
                  </a:ext>
                </a:extLst>
              </p:cNvPr>
              <p:cNvSpPr/>
              <p:nvPr/>
            </p:nvSpPr>
            <p:spPr>
              <a:xfrm>
                <a:off x="307831" y="1691722"/>
                <a:ext cx="713532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Ouacha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5"/>
                          </a:rPr>
                          <m:t>SC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Bouyghf</m:t>
                        </m:r>
                        <m:r>
                          <a:rPr lang="fr-FR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4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Nahid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3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sz="105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Abenna</m:t>
                        </m:r>
                        <m:r>
                          <a:rPr lang="fr-FR" sz="105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fr-FR" sz="1050" i="1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Times New Roman" panose="02020603050405020304" pitchFamily="18" charset="0"/>
                            <a:hlinkClick r:id="rId2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L. </a:t>
                </a:r>
                <a:r>
                  <a:rPr lang="en-US" sz="105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Zougagh</a:t>
                </a:r>
                <a:r>
                  <a:rPr lang="en-US" sz="105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comparative analysis of metaheuristic techniques for improving PTE and PDL of a wireless power transfer system. In Proceedings of The 3rd International Conference on Electronics, Control</a:t>
                </a:r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Optimization and Computer Science (ICECOCS’22), IEEE, December 2022. </a:t>
                </a:r>
                <a:r>
                  <a:rPr lang="en-US" sz="105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10.1109/ICECOCS55148 .2022.9983105.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04D6C6-559E-3448-41E3-749748086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31" y="1691722"/>
                <a:ext cx="7135320" cy="738664"/>
              </a:xfrm>
              <a:prstGeom prst="rect">
                <a:avLst/>
              </a:prstGeom>
              <a:blipFill>
                <a:blip r:embed="rId21"/>
                <a:stretch>
                  <a:fillRect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116">
            <a:extLst>
              <a:ext uri="{FF2B5EF4-FFF2-40B4-BE49-F238E27FC236}">
                <a16:creationId xmlns:a16="http://schemas.microsoft.com/office/drawing/2014/main" id="{8A41D6E6-3DDD-755F-75A2-0CFDEB1750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7" y="1793778"/>
            <a:ext cx="47896" cy="47896"/>
          </a:xfrm>
          <a:prstGeom prst="rect">
            <a:avLst/>
          </a:prstGeom>
        </p:spPr>
      </p:pic>
      <p:cxnSp>
        <p:nvCxnSpPr>
          <p:cNvPr id="23" name="Connecteur droit 68">
            <a:extLst>
              <a:ext uri="{FF2B5EF4-FFF2-40B4-BE49-F238E27FC236}">
                <a16:creationId xmlns:a16="http://schemas.microsoft.com/office/drawing/2014/main" id="{03987831-0354-51B3-78D8-33B0B9CFC2ED}"/>
              </a:ext>
            </a:extLst>
          </p:cNvPr>
          <p:cNvCxnSpPr>
            <a:cxnSpLocks/>
          </p:cNvCxnSpPr>
          <p:nvPr/>
        </p:nvCxnSpPr>
        <p:spPr>
          <a:xfrm flipV="1">
            <a:off x="161092" y="8249861"/>
            <a:ext cx="7304852" cy="3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5F55ED4-C62C-57AA-391A-FD17ED009A4F}"/>
              </a:ext>
            </a:extLst>
          </p:cNvPr>
          <p:cNvSpPr/>
          <p:nvPr/>
        </p:nvSpPr>
        <p:spPr>
          <a:xfrm>
            <a:off x="346569" y="8312565"/>
            <a:ext cx="713532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7th International Conference on Wireless Technologies, Embedded and Intelligent Systems, </a:t>
            </a:r>
            <a:r>
              <a:rPr lang="en-US" sz="10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Fez, Morocco: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enhanced EEG prediction system for motor cortex-imagery tasks using SVM. S. Abenna, M. Nahid, and H. 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Bouyghf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., March 2022.</a:t>
            </a:r>
            <a:endParaRPr lang="fr-FR" altLang="fr-FR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116">
            <a:extLst>
              <a:ext uri="{FF2B5EF4-FFF2-40B4-BE49-F238E27FC236}">
                <a16:creationId xmlns:a16="http://schemas.microsoft.com/office/drawing/2014/main" id="{6809082B-FCBF-6BE5-2B00-FF89A99B69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8415689"/>
            <a:ext cx="47896" cy="4789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A982860-6CC3-8ED7-9B93-9696EBBFBAE3}"/>
              </a:ext>
            </a:extLst>
          </p:cNvPr>
          <p:cNvSpPr/>
          <p:nvPr/>
        </p:nvSpPr>
        <p:spPr>
          <a:xfrm>
            <a:off x="468107" y="7909086"/>
            <a:ext cx="19417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lang="fr-F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3D841C-3685-52DC-22DB-B9DE984853EB}"/>
              </a:ext>
            </a:extLst>
          </p:cNvPr>
          <p:cNvSpPr/>
          <p:nvPr/>
        </p:nvSpPr>
        <p:spPr>
          <a:xfrm>
            <a:off x="346569" y="9322292"/>
            <a:ext cx="71353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2nd International Conference on Big Data, Modelling and Machine Learning, </a:t>
            </a:r>
            <a:r>
              <a:rPr lang="en-US" sz="105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Kenitra</a:t>
            </a:r>
            <a:r>
              <a:rPr lang="en-US" sz="10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Morocco: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novel EEG classification for baseline motor cortex using 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Abenna, M. Nahid, and A. 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Bajit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., July 2021.</a:t>
            </a:r>
            <a:endParaRPr lang="fr-FR" altLang="fr-FR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16">
            <a:extLst>
              <a:ext uri="{FF2B5EF4-FFF2-40B4-BE49-F238E27FC236}">
                <a16:creationId xmlns:a16="http://schemas.microsoft.com/office/drawing/2014/main" id="{ED1F180A-8F1F-AA21-4FF6-97B8AB5EAA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9425416"/>
            <a:ext cx="47896" cy="4789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962D7E9-A22C-1717-BE2E-53592D788F87}"/>
              </a:ext>
            </a:extLst>
          </p:cNvPr>
          <p:cNvSpPr/>
          <p:nvPr/>
        </p:nvSpPr>
        <p:spPr>
          <a:xfrm>
            <a:off x="342395" y="8735751"/>
            <a:ext cx="713532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3th International Conference on Advanced Technologies for Humanity, Rabat, Morocco</a:t>
            </a:r>
            <a:r>
              <a:rPr lang="en-US" sz="10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 Stages Detection Based BCI : A Novel Single-Channel EEG Classification Based on Optimized Bandpass Filter. S. Abenna, M. Nahid, and H. 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Bouyghf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., November 2021.</a:t>
            </a:r>
            <a:endParaRPr lang="fr-FR" altLang="fr-FR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116">
            <a:extLst>
              <a:ext uri="{FF2B5EF4-FFF2-40B4-BE49-F238E27FC236}">
                <a16:creationId xmlns:a16="http://schemas.microsoft.com/office/drawing/2014/main" id="{83945CDF-FE15-B3CD-E3F0-1A8DCC0F7B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3" y="8838875"/>
            <a:ext cx="47896" cy="4789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6E93D4B-4F01-2A83-B6CD-217A9AB28C08}"/>
              </a:ext>
            </a:extLst>
          </p:cNvPr>
          <p:cNvSpPr/>
          <p:nvPr/>
        </p:nvSpPr>
        <p:spPr>
          <a:xfrm>
            <a:off x="342395" y="9743156"/>
            <a:ext cx="71353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International Conference on Digital Technologies and Applications</a:t>
            </a:r>
            <a:r>
              <a:rPr lang="en-US" sz="10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Fez, Morocco: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Brain-computer interface : A novel EEG classification for baseline eye states using LGBM algorithm</a:t>
            </a: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S. Abenna, M. Nahid, and A. 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Bajit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January 2021.</a:t>
            </a:r>
            <a:endParaRPr lang="fr-FR" altLang="fr-FR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116">
            <a:extLst>
              <a:ext uri="{FF2B5EF4-FFF2-40B4-BE49-F238E27FC236}">
                <a16:creationId xmlns:a16="http://schemas.microsoft.com/office/drawing/2014/main" id="{C6F169FC-AF10-8395-4597-A147FEEF72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3" y="9846280"/>
            <a:ext cx="47896" cy="4789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9E1253E-4FA8-FADA-3C9A-CD00FF2E4E7D}"/>
              </a:ext>
            </a:extLst>
          </p:cNvPr>
          <p:cNvSpPr/>
          <p:nvPr/>
        </p:nvSpPr>
        <p:spPr>
          <a:xfrm>
            <a:off x="346569" y="10157835"/>
            <a:ext cx="71353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4th International Conference On Intelligent Computing in Data Sciences,</a:t>
            </a:r>
            <a:r>
              <a:rPr lang="en-US" sz="10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Fez, Morocco </a:t>
            </a:r>
            <a:r>
              <a:rPr lang="en-US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Brain-computer interface : Rhythm alpha analysis for eyes signals. S. Abenna, M. Nahid, and A. K. 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Belbachir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October 2020.</a:t>
            </a:r>
            <a:endParaRPr lang="fr-FR" altLang="fr-FR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116">
            <a:extLst>
              <a:ext uri="{FF2B5EF4-FFF2-40B4-BE49-F238E27FC236}">
                <a16:creationId xmlns:a16="http://schemas.microsoft.com/office/drawing/2014/main" id="{9618193F-AD41-5769-AA10-1ABF39052D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87" y="10260959"/>
            <a:ext cx="47896" cy="47896"/>
          </a:xfrm>
          <a:prstGeom prst="rect">
            <a:avLst/>
          </a:prstGeom>
        </p:spPr>
      </p:pic>
      <p:pic>
        <p:nvPicPr>
          <p:cNvPr id="1028" name="Picture 4" descr="Oral Presentations">
            <a:extLst>
              <a:ext uri="{FF2B5EF4-FFF2-40B4-BE49-F238E27FC236}">
                <a16:creationId xmlns:a16="http://schemas.microsoft.com/office/drawing/2014/main" id="{CA625C4F-E522-5B97-8EB7-BD61C5842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2" y="7874871"/>
            <a:ext cx="351240" cy="34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Newspaper Icon Clipart PNG Images, Newspaper Icon, Newspaper Icons,  Newspaper Clipart, Icon PNG Image For Free Download | Paper logo, Graphic  design logo, Instagram logo">
            <a:extLst>
              <a:ext uri="{FF2B5EF4-FFF2-40B4-BE49-F238E27FC236}">
                <a16:creationId xmlns:a16="http://schemas.microsoft.com/office/drawing/2014/main" id="{D9EE4D20-2A0C-93E8-F839-FA5C804A6C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2"/>
          <a:stretch/>
        </p:blipFill>
        <p:spPr bwMode="auto">
          <a:xfrm>
            <a:off x="85640" y="154098"/>
            <a:ext cx="450422" cy="41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droit 68">
            <a:extLst>
              <a:ext uri="{FF2B5EF4-FFF2-40B4-BE49-F238E27FC236}">
                <a16:creationId xmlns:a16="http://schemas.microsoft.com/office/drawing/2014/main" id="{7588D003-81D0-E80D-D731-2ED58BF22AB2}"/>
              </a:ext>
            </a:extLst>
          </p:cNvPr>
          <p:cNvCxnSpPr>
            <a:cxnSpLocks/>
          </p:cNvCxnSpPr>
          <p:nvPr/>
        </p:nvCxnSpPr>
        <p:spPr>
          <a:xfrm flipV="1">
            <a:off x="186174" y="8249598"/>
            <a:ext cx="7215584" cy="6616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68">
            <a:extLst>
              <a:ext uri="{FF2B5EF4-FFF2-40B4-BE49-F238E27FC236}">
                <a16:creationId xmlns:a16="http://schemas.microsoft.com/office/drawing/2014/main" id="{4D8B6FE9-6F1B-5933-1A80-832026D6DBC7}"/>
              </a:ext>
            </a:extLst>
          </p:cNvPr>
          <p:cNvCxnSpPr>
            <a:cxnSpLocks/>
          </p:cNvCxnSpPr>
          <p:nvPr/>
        </p:nvCxnSpPr>
        <p:spPr>
          <a:xfrm flipV="1">
            <a:off x="161092" y="612683"/>
            <a:ext cx="7215584" cy="6616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36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27DD3-ECB1-844C-6A8C-BB735761D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8CEAEE-3B8C-FD78-CB65-06458ADD69CF}"/>
              </a:ext>
            </a:extLst>
          </p:cNvPr>
          <p:cNvSpPr/>
          <p:nvPr/>
        </p:nvSpPr>
        <p:spPr>
          <a:xfrm>
            <a:off x="-99060" y="-35401"/>
            <a:ext cx="7661910" cy="10759440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Connecteur droit 68">
            <a:extLst>
              <a:ext uri="{FF2B5EF4-FFF2-40B4-BE49-F238E27FC236}">
                <a16:creationId xmlns:a16="http://schemas.microsoft.com/office/drawing/2014/main" id="{E102ADAD-A176-132D-9BFB-3CDD6102DC91}"/>
              </a:ext>
            </a:extLst>
          </p:cNvPr>
          <p:cNvCxnSpPr>
            <a:cxnSpLocks/>
          </p:cNvCxnSpPr>
          <p:nvPr/>
        </p:nvCxnSpPr>
        <p:spPr>
          <a:xfrm flipV="1">
            <a:off x="95147" y="671030"/>
            <a:ext cx="7304852" cy="3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306DFC0-284A-EE90-F13A-6CEF250A90F1}"/>
              </a:ext>
            </a:extLst>
          </p:cNvPr>
          <p:cNvSpPr/>
          <p:nvPr/>
        </p:nvSpPr>
        <p:spPr>
          <a:xfrm>
            <a:off x="759981" y="988551"/>
            <a:ext cx="371676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of Cybernetic Systems and Cryptography Algorithms</a:t>
            </a:r>
            <a:endParaRPr lang="fr-FR" altLang="fr-FR" sz="10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6F73EC-D6B1-DEAE-5423-85955C173DB8}"/>
              </a:ext>
            </a:extLst>
          </p:cNvPr>
          <p:cNvSpPr/>
          <p:nvPr/>
        </p:nvSpPr>
        <p:spPr>
          <a:xfrm>
            <a:off x="264681" y="330255"/>
            <a:ext cx="35167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ACADEMIC PROJECTS</a:t>
            </a:r>
            <a:endParaRPr lang="fr-FR" sz="1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" descr="CV - Free people icons">
            <a:extLst>
              <a:ext uri="{FF2B5EF4-FFF2-40B4-BE49-F238E27FC236}">
                <a16:creationId xmlns:a16="http://schemas.microsoft.com/office/drawing/2014/main" id="{E9B97A56-70BB-6777-982D-C6CBAA487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8" y="310357"/>
            <a:ext cx="288020" cy="28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Connecteur droit 68">
            <a:extLst>
              <a:ext uri="{FF2B5EF4-FFF2-40B4-BE49-F238E27FC236}">
                <a16:creationId xmlns:a16="http://schemas.microsoft.com/office/drawing/2014/main" id="{8A98E015-EA31-C635-8C54-74514F683240}"/>
              </a:ext>
            </a:extLst>
          </p:cNvPr>
          <p:cNvCxnSpPr>
            <a:cxnSpLocks/>
          </p:cNvCxnSpPr>
          <p:nvPr/>
        </p:nvCxnSpPr>
        <p:spPr>
          <a:xfrm flipV="1">
            <a:off x="93128" y="677332"/>
            <a:ext cx="7215584" cy="6616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1F3AA70-DA48-6224-2984-CE5E4EF1B460}"/>
              </a:ext>
            </a:extLst>
          </p:cNvPr>
          <p:cNvSpPr/>
          <p:nvPr/>
        </p:nvSpPr>
        <p:spPr>
          <a:xfrm>
            <a:off x="0" y="758819"/>
            <a:ext cx="3352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Initiative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Project,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ENSAF: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D204E-0010-A224-1C5D-4C7972C6683C}"/>
              </a:ext>
            </a:extLst>
          </p:cNvPr>
          <p:cNvSpPr/>
          <p:nvPr/>
        </p:nvSpPr>
        <p:spPr>
          <a:xfrm>
            <a:off x="6865080" y="719495"/>
            <a:ext cx="4983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DB226-0228-D2D4-F2F0-FE2B4654B5A0}"/>
              </a:ext>
            </a:extLst>
          </p:cNvPr>
          <p:cNvSpPr/>
          <p:nvPr/>
        </p:nvSpPr>
        <p:spPr>
          <a:xfrm>
            <a:off x="264682" y="988551"/>
            <a:ext cx="6148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5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endParaRPr lang="fr-FR" sz="105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4DA4FA-9F76-287C-98F2-C16BC5979E72}"/>
              </a:ext>
            </a:extLst>
          </p:cNvPr>
          <p:cNvSpPr/>
          <p:nvPr/>
        </p:nvSpPr>
        <p:spPr>
          <a:xfrm>
            <a:off x="759981" y="1511534"/>
            <a:ext cx="371676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of a Microwave Band-Pass Filter</a:t>
            </a:r>
            <a:endParaRPr lang="fr-FR" altLang="fr-FR" sz="10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68744-441C-95D9-CE89-A7AAE1ACBE3C}"/>
              </a:ext>
            </a:extLst>
          </p:cNvPr>
          <p:cNvSpPr/>
          <p:nvPr/>
        </p:nvSpPr>
        <p:spPr>
          <a:xfrm>
            <a:off x="0" y="1281802"/>
            <a:ext cx="3352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Project,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ENSAF: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45282-5D64-28FA-1764-46B29798A29C}"/>
              </a:ext>
            </a:extLst>
          </p:cNvPr>
          <p:cNvSpPr/>
          <p:nvPr/>
        </p:nvSpPr>
        <p:spPr>
          <a:xfrm>
            <a:off x="6865080" y="1242478"/>
            <a:ext cx="4983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786CE8-9B34-4200-E46B-F59CF4F34066}"/>
              </a:ext>
            </a:extLst>
          </p:cNvPr>
          <p:cNvSpPr/>
          <p:nvPr/>
        </p:nvSpPr>
        <p:spPr>
          <a:xfrm>
            <a:off x="264682" y="1511534"/>
            <a:ext cx="6148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5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endParaRPr lang="fr-FR" sz="105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33D269-6B34-9153-2D15-21DF2572EFD2}"/>
              </a:ext>
            </a:extLst>
          </p:cNvPr>
          <p:cNvSpPr/>
          <p:nvPr/>
        </p:nvSpPr>
        <p:spPr>
          <a:xfrm>
            <a:off x="759982" y="2061637"/>
            <a:ext cx="371676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Processing of Electrocardiogram Signals</a:t>
            </a:r>
            <a:endParaRPr lang="fr-FR" altLang="fr-FR" sz="10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345592-F08E-DB42-D075-81BC07352827}"/>
              </a:ext>
            </a:extLst>
          </p:cNvPr>
          <p:cNvSpPr/>
          <p:nvPr/>
        </p:nvSpPr>
        <p:spPr>
          <a:xfrm>
            <a:off x="1" y="1831905"/>
            <a:ext cx="3352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Bachelor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-Final Project,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b="1" dirty="0" err="1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r>
              <a:rPr lang="fr-FR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FPBM: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76B6B-02F4-308C-54CE-8E34D87097F0}"/>
              </a:ext>
            </a:extLst>
          </p:cNvPr>
          <p:cNvSpPr/>
          <p:nvPr/>
        </p:nvSpPr>
        <p:spPr>
          <a:xfrm>
            <a:off x="6865081" y="1792581"/>
            <a:ext cx="4983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A2872F-FFF5-9684-CD1B-7A7C40B9BC0E}"/>
              </a:ext>
            </a:extLst>
          </p:cNvPr>
          <p:cNvSpPr/>
          <p:nvPr/>
        </p:nvSpPr>
        <p:spPr>
          <a:xfrm>
            <a:off x="264683" y="2061637"/>
            <a:ext cx="6148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5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endParaRPr lang="fr-FR" sz="105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Connecteur droit 68">
            <a:extLst>
              <a:ext uri="{FF2B5EF4-FFF2-40B4-BE49-F238E27FC236}">
                <a16:creationId xmlns:a16="http://schemas.microsoft.com/office/drawing/2014/main" id="{6BDC06AA-B043-3651-DAAF-4C56FA25B90E}"/>
              </a:ext>
            </a:extLst>
          </p:cNvPr>
          <p:cNvCxnSpPr>
            <a:cxnSpLocks/>
          </p:cNvCxnSpPr>
          <p:nvPr/>
        </p:nvCxnSpPr>
        <p:spPr>
          <a:xfrm flipV="1">
            <a:off x="95147" y="2785795"/>
            <a:ext cx="7304852" cy="3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A9B8705-24CB-92F7-1703-C4A4F5D9519F}"/>
              </a:ext>
            </a:extLst>
          </p:cNvPr>
          <p:cNvSpPr/>
          <p:nvPr/>
        </p:nvSpPr>
        <p:spPr>
          <a:xfrm>
            <a:off x="264681" y="2445020"/>
            <a:ext cx="22784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FORMATIONS</a:t>
            </a:r>
            <a:endParaRPr lang="fr-FR" sz="1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Connecteur droit 68">
            <a:extLst>
              <a:ext uri="{FF2B5EF4-FFF2-40B4-BE49-F238E27FC236}">
                <a16:creationId xmlns:a16="http://schemas.microsoft.com/office/drawing/2014/main" id="{06A71ED4-549E-1C83-FC8D-FB8FD25816BE}"/>
              </a:ext>
            </a:extLst>
          </p:cNvPr>
          <p:cNvCxnSpPr>
            <a:cxnSpLocks/>
          </p:cNvCxnSpPr>
          <p:nvPr/>
        </p:nvCxnSpPr>
        <p:spPr>
          <a:xfrm flipV="1">
            <a:off x="93128" y="2792097"/>
            <a:ext cx="7215584" cy="6616"/>
          </a:xfrm>
          <a:prstGeom prst="line">
            <a:avLst/>
          </a:prstGeom>
          <a:ln w="28575">
            <a:solidFill>
              <a:srgbClr val="4960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EEC4E01-CF23-23A1-CCA3-BE8D2EC14D7A}"/>
              </a:ext>
            </a:extLst>
          </p:cNvPr>
          <p:cNvSpPr/>
          <p:nvPr/>
        </p:nvSpPr>
        <p:spPr>
          <a:xfrm>
            <a:off x="-1" y="2873584"/>
            <a:ext cx="54521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Coursera : IoT, AI, Management, and Law; (Certificates in LinkedIn)</a:t>
            </a:r>
            <a:endParaRPr lang="fr-FR" sz="1100" b="1" dirty="0">
              <a:solidFill>
                <a:srgbClr val="1BB0B7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9B11FD-E6B4-589F-E186-3FAD7FDAC946}"/>
              </a:ext>
            </a:extLst>
          </p:cNvPr>
          <p:cNvSpPr/>
          <p:nvPr/>
        </p:nvSpPr>
        <p:spPr>
          <a:xfrm>
            <a:off x="6562726" y="2847943"/>
            <a:ext cx="74598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2021-2022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32FB8E-505B-DDEC-7EC4-08867D4A4898}"/>
              </a:ext>
            </a:extLst>
          </p:cNvPr>
          <p:cNvSpPr/>
          <p:nvPr/>
        </p:nvSpPr>
        <p:spPr>
          <a:xfrm>
            <a:off x="-1" y="3265762"/>
            <a:ext cx="54521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Clarivate Analytics: Web of Science Seminar</a:t>
            </a:r>
            <a:endParaRPr lang="fr-FR" sz="1100" b="1" dirty="0">
              <a:solidFill>
                <a:srgbClr val="1BB0B7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B1F6B3-8E8F-DD7D-32C8-2C32FDCCDE94}"/>
              </a:ext>
            </a:extLst>
          </p:cNvPr>
          <p:cNvSpPr/>
          <p:nvPr/>
        </p:nvSpPr>
        <p:spPr>
          <a:xfrm>
            <a:off x="6865081" y="3232217"/>
            <a:ext cx="4983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82600"/>
            <a:r>
              <a:rPr lang="fr-FR" sz="1000" b="1" dirty="0">
                <a:solidFill>
                  <a:srgbClr val="1BB0B7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ine icon for formation 14485812 Vector ...">
            <a:extLst>
              <a:ext uri="{FF2B5EF4-FFF2-40B4-BE49-F238E27FC236}">
                <a16:creationId xmlns:a16="http://schemas.microsoft.com/office/drawing/2014/main" id="{40F422CF-127F-B406-5F9D-C9FBE15FC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7" y="2445020"/>
            <a:ext cx="299875" cy="29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333303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979797"/>
      </a:dk1>
      <a:lt1>
        <a:sysClr val="window" lastClr="1E1E1E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6478</TotalTime>
  <Words>1504</Words>
  <Application>Microsoft Office PowerPoint</Application>
  <PresentationFormat>Custom</PresentationFormat>
  <Paragraphs>112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Cambria Math</vt:lpstr>
      <vt:lpstr>Century Gothic</vt:lpstr>
      <vt:lpstr>Times New Roman</vt:lpstr>
      <vt:lpstr>Wingdings 3</vt:lpstr>
      <vt:lpstr>Brin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</dc:title>
  <dc:creator>S. Abenna</dc:creator>
  <cp:lastModifiedBy>Said Abenna</cp:lastModifiedBy>
  <cp:revision>1732</cp:revision>
  <dcterms:created xsi:type="dcterms:W3CDTF">2015-07-03T12:55:42Z</dcterms:created>
  <dcterms:modified xsi:type="dcterms:W3CDTF">2025-09-15T17:02:03Z</dcterms:modified>
</cp:coreProperties>
</file>